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6766"/>
    <a:srgbClr val="E37222"/>
    <a:srgbClr val="DBE9E9"/>
    <a:srgbClr val="C0305E"/>
    <a:srgbClr val="F1C7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BD3971-B060-469B-A709-AAB023A02254}" v="8" dt="2026-09-18T11:13:50.3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82" autoAdjust="0"/>
  </p:normalViewPr>
  <p:slideViewPr>
    <p:cSldViewPr snapToGrid="0" snapToObjects="1">
      <p:cViewPr>
        <p:scale>
          <a:sx n="100" d="100"/>
          <a:sy n="100" d="100"/>
        </p:scale>
        <p:origin x="1116" y="-27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 Oliveira" userId="a9bf37bc-18ed-465a-bd79-1dce7a106793" providerId="ADAL" clId="{5D656F9F-1ADB-4BB7-BB89-674D98B22D7A}"/>
    <pc:docChg chg="undo custSel modSld">
      <pc:chgData name="Sara Oliveira" userId="a9bf37bc-18ed-465a-bd79-1dce7a106793" providerId="ADAL" clId="{5D656F9F-1ADB-4BB7-BB89-674D98B22D7A}" dt="2026-09-18T11:30:53.908" v="292" actId="1038"/>
      <pc:docMkLst>
        <pc:docMk/>
      </pc:docMkLst>
      <pc:sldChg chg="addSp delSp modSp mod">
        <pc:chgData name="Sara Oliveira" userId="a9bf37bc-18ed-465a-bd79-1dce7a106793" providerId="ADAL" clId="{5D656F9F-1ADB-4BB7-BB89-674D98B22D7A}" dt="2026-09-18T11:11:56.925" v="109" actId="1036"/>
        <pc:sldMkLst>
          <pc:docMk/>
          <pc:sldMk cId="0" sldId="268"/>
        </pc:sldMkLst>
        <pc:spChg chg="mod">
          <ac:chgData name="Sara Oliveira" userId="a9bf37bc-18ed-465a-bd79-1dce7a106793" providerId="ADAL" clId="{5D656F9F-1ADB-4BB7-BB89-674D98B22D7A}" dt="2026-09-18T11:07:46.098" v="24" actId="1037"/>
          <ac:spMkLst>
            <pc:docMk/>
            <pc:sldMk cId="0" sldId="268"/>
            <ac:spMk id="14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08:21.740" v="26" actId="164"/>
          <ac:spMkLst>
            <pc:docMk/>
            <pc:sldMk cId="0" sldId="268"/>
            <ac:spMk id="15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08:21.740" v="26" actId="164"/>
          <ac:spMkLst>
            <pc:docMk/>
            <pc:sldMk cId="0" sldId="268"/>
            <ac:spMk id="16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08:21.740" v="26" actId="164"/>
          <ac:spMkLst>
            <pc:docMk/>
            <pc:sldMk cId="0" sldId="268"/>
            <ac:spMk id="17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08:28.189" v="27" actId="164"/>
          <ac:spMkLst>
            <pc:docMk/>
            <pc:sldMk cId="0" sldId="268"/>
            <ac:spMk id="18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08:28.189" v="27" actId="164"/>
          <ac:spMkLst>
            <pc:docMk/>
            <pc:sldMk cId="0" sldId="268"/>
            <ac:spMk id="19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08:28.189" v="27" actId="164"/>
          <ac:spMkLst>
            <pc:docMk/>
            <pc:sldMk cId="0" sldId="268"/>
            <ac:spMk id="20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10:24.456" v="79" actId="1035"/>
          <ac:spMkLst>
            <pc:docMk/>
            <pc:sldMk cId="0" sldId="268"/>
            <ac:spMk id="21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10:24.456" v="79" actId="1035"/>
          <ac:spMkLst>
            <pc:docMk/>
            <pc:sldMk cId="0" sldId="268"/>
            <ac:spMk id="22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08:34.280" v="28" actId="164"/>
          <ac:spMkLst>
            <pc:docMk/>
            <pc:sldMk cId="0" sldId="268"/>
            <ac:spMk id="23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08:34.280" v="28" actId="164"/>
          <ac:spMkLst>
            <pc:docMk/>
            <pc:sldMk cId="0" sldId="268"/>
            <ac:spMk id="24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08:34.280" v="28" actId="164"/>
          <ac:spMkLst>
            <pc:docMk/>
            <pc:sldMk cId="0" sldId="268"/>
            <ac:spMk id="25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08:40.823" v="29" actId="164"/>
          <ac:spMkLst>
            <pc:docMk/>
            <pc:sldMk cId="0" sldId="268"/>
            <ac:spMk id="26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08:40.823" v="29" actId="164"/>
          <ac:spMkLst>
            <pc:docMk/>
            <pc:sldMk cId="0" sldId="268"/>
            <ac:spMk id="27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08:40.823" v="29" actId="164"/>
          <ac:spMkLst>
            <pc:docMk/>
            <pc:sldMk cId="0" sldId="268"/>
            <ac:spMk id="28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11:56.925" v="109" actId="1036"/>
          <ac:spMkLst>
            <pc:docMk/>
            <pc:sldMk cId="0" sldId="268"/>
            <ac:spMk id="29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11:56.925" v="109" actId="1036"/>
          <ac:spMkLst>
            <pc:docMk/>
            <pc:sldMk cId="0" sldId="268"/>
            <ac:spMk id="30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08:46.914" v="30" actId="164"/>
          <ac:spMkLst>
            <pc:docMk/>
            <pc:sldMk cId="0" sldId="268"/>
            <ac:spMk id="31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08:46.914" v="30" actId="164"/>
          <ac:spMkLst>
            <pc:docMk/>
            <pc:sldMk cId="0" sldId="268"/>
            <ac:spMk id="32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08:46.914" v="30" actId="164"/>
          <ac:spMkLst>
            <pc:docMk/>
            <pc:sldMk cId="0" sldId="268"/>
            <ac:spMk id="33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08:54.552" v="31" actId="164"/>
          <ac:spMkLst>
            <pc:docMk/>
            <pc:sldMk cId="0" sldId="268"/>
            <ac:spMk id="34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08:54.552" v="31" actId="164"/>
          <ac:spMkLst>
            <pc:docMk/>
            <pc:sldMk cId="0" sldId="268"/>
            <ac:spMk id="35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08:54.552" v="31" actId="164"/>
          <ac:spMkLst>
            <pc:docMk/>
            <pc:sldMk cId="0" sldId="268"/>
            <ac:spMk id="36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11:51.441" v="101" actId="1036"/>
          <ac:spMkLst>
            <pc:docMk/>
            <pc:sldMk cId="0" sldId="268"/>
            <ac:spMk id="37" creationId="{00000000-0000-0000-0000-000000000000}"/>
          </ac:spMkLst>
        </pc:spChg>
        <pc:spChg chg="del">
          <ac:chgData name="Sara Oliveira" userId="a9bf37bc-18ed-465a-bd79-1dce7a106793" providerId="ADAL" clId="{5D656F9F-1ADB-4BB7-BB89-674D98B22D7A}" dt="2026-09-18T11:07:06.185" v="6" actId="478"/>
          <ac:spMkLst>
            <pc:docMk/>
            <pc:sldMk cId="0" sldId="268"/>
            <ac:spMk id="38" creationId="{00000000-0000-0000-0000-000000000000}"/>
          </ac:spMkLst>
        </pc:spChg>
        <pc:spChg chg="del">
          <ac:chgData name="Sara Oliveira" userId="a9bf37bc-18ed-465a-bd79-1dce7a106793" providerId="ADAL" clId="{5D656F9F-1ADB-4BB7-BB89-674D98B22D7A}" dt="2026-09-18T11:07:07.582" v="7" actId="478"/>
          <ac:spMkLst>
            <pc:docMk/>
            <pc:sldMk cId="0" sldId="268"/>
            <ac:spMk id="39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11:51.441" v="101" actId="1036"/>
          <ac:spMkLst>
            <pc:docMk/>
            <pc:sldMk cId="0" sldId="268"/>
            <ac:spMk id="40" creationId="{00000000-0000-0000-0000-000000000000}"/>
          </ac:spMkLst>
        </pc:spChg>
        <pc:spChg chg="del">
          <ac:chgData name="Sara Oliveira" userId="a9bf37bc-18ed-465a-bd79-1dce7a106793" providerId="ADAL" clId="{5D656F9F-1ADB-4BB7-BB89-674D98B22D7A}" dt="2026-09-18T11:11:00.250" v="82" actId="478"/>
          <ac:spMkLst>
            <pc:docMk/>
            <pc:sldMk cId="0" sldId="268"/>
            <ac:spMk id="41" creationId="{00000000-0000-0000-0000-000000000000}"/>
          </ac:spMkLst>
        </pc:spChg>
        <pc:spChg chg="del">
          <ac:chgData name="Sara Oliveira" userId="a9bf37bc-18ed-465a-bd79-1dce7a106793" providerId="ADAL" clId="{5D656F9F-1ADB-4BB7-BB89-674D98B22D7A}" dt="2026-09-18T11:11:00.250" v="82" actId="478"/>
          <ac:spMkLst>
            <pc:docMk/>
            <pc:sldMk cId="0" sldId="268"/>
            <ac:spMk id="42" creationId="{00000000-0000-0000-0000-000000000000}"/>
          </ac:spMkLst>
        </pc:spChg>
        <pc:spChg chg="del mod">
          <ac:chgData name="Sara Oliveira" userId="a9bf37bc-18ed-465a-bd79-1dce7a106793" providerId="ADAL" clId="{5D656F9F-1ADB-4BB7-BB89-674D98B22D7A}" dt="2026-09-18T11:11:00.250" v="82" actId="478"/>
          <ac:spMkLst>
            <pc:docMk/>
            <pc:sldMk cId="0" sldId="268"/>
            <ac:spMk id="43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11:39.659" v="92" actId="207"/>
          <ac:spMkLst>
            <pc:docMk/>
            <pc:sldMk cId="0" sldId="268"/>
            <ac:spMk id="44" creationId="{00000000-0000-0000-0000-000000000000}"/>
          </ac:spMkLst>
        </pc:spChg>
        <pc:grpChg chg="add mod">
          <ac:chgData name="Sara Oliveira" userId="a9bf37bc-18ed-465a-bd79-1dce7a106793" providerId="ADAL" clId="{5D656F9F-1ADB-4BB7-BB89-674D98B22D7A}" dt="2026-09-18T11:10:24.456" v="79" actId="1035"/>
          <ac:grpSpMkLst>
            <pc:docMk/>
            <pc:sldMk cId="0" sldId="268"/>
            <ac:grpSpMk id="46" creationId="{A2139735-9C01-D37D-A8BC-0D917A924886}"/>
          </ac:grpSpMkLst>
        </pc:grpChg>
        <pc:grpChg chg="add mod">
          <ac:chgData name="Sara Oliveira" userId="a9bf37bc-18ed-465a-bd79-1dce7a106793" providerId="ADAL" clId="{5D656F9F-1ADB-4BB7-BB89-674D98B22D7A}" dt="2026-09-18T11:10:24.456" v="79" actId="1035"/>
          <ac:grpSpMkLst>
            <pc:docMk/>
            <pc:sldMk cId="0" sldId="268"/>
            <ac:grpSpMk id="47" creationId="{D2273C6E-C26A-AC40-BA69-E2A71111BABA}"/>
          </ac:grpSpMkLst>
        </pc:grpChg>
        <pc:grpChg chg="add mod">
          <ac:chgData name="Sara Oliveira" userId="a9bf37bc-18ed-465a-bd79-1dce7a106793" providerId="ADAL" clId="{5D656F9F-1ADB-4BB7-BB89-674D98B22D7A}" dt="2026-09-18T11:11:56.925" v="109" actId="1036"/>
          <ac:grpSpMkLst>
            <pc:docMk/>
            <pc:sldMk cId="0" sldId="268"/>
            <ac:grpSpMk id="49" creationId="{EC6FF47B-4026-4786-86EF-D2FE0DB9F9AE}"/>
          </ac:grpSpMkLst>
        </pc:grpChg>
        <pc:grpChg chg="add mod">
          <ac:chgData name="Sara Oliveira" userId="a9bf37bc-18ed-465a-bd79-1dce7a106793" providerId="ADAL" clId="{5D656F9F-1ADB-4BB7-BB89-674D98B22D7A}" dt="2026-09-18T11:11:56.925" v="109" actId="1036"/>
          <ac:grpSpMkLst>
            <pc:docMk/>
            <pc:sldMk cId="0" sldId="268"/>
            <ac:grpSpMk id="51" creationId="{83F33BA2-2D07-38AF-6C59-DCB3F7D8F0BA}"/>
          </ac:grpSpMkLst>
        </pc:grpChg>
        <pc:grpChg chg="add mod">
          <ac:chgData name="Sara Oliveira" userId="a9bf37bc-18ed-465a-bd79-1dce7a106793" providerId="ADAL" clId="{5D656F9F-1ADB-4BB7-BB89-674D98B22D7A}" dt="2026-09-18T11:11:51.441" v="101" actId="1036"/>
          <ac:grpSpMkLst>
            <pc:docMk/>
            <pc:sldMk cId="0" sldId="268"/>
            <ac:grpSpMk id="52" creationId="{5C57DA0F-21D1-D956-FE0C-9581A70C3A34}"/>
          </ac:grpSpMkLst>
        </pc:grpChg>
        <pc:grpChg chg="add mod">
          <ac:chgData name="Sara Oliveira" userId="a9bf37bc-18ed-465a-bd79-1dce7a106793" providerId="ADAL" clId="{5D656F9F-1ADB-4BB7-BB89-674D98B22D7A}" dt="2026-09-18T11:11:51.441" v="101" actId="1036"/>
          <ac:grpSpMkLst>
            <pc:docMk/>
            <pc:sldMk cId="0" sldId="268"/>
            <ac:grpSpMk id="53" creationId="{591FEE31-AC98-07E0-520C-09029E4749C4}"/>
          </ac:grpSpMkLst>
        </pc:grpChg>
      </pc:sldChg>
      <pc:sldChg chg="addSp delSp modSp mod">
        <pc:chgData name="Sara Oliveira" userId="a9bf37bc-18ed-465a-bd79-1dce7a106793" providerId="ADAL" clId="{5D656F9F-1ADB-4BB7-BB89-674D98B22D7A}" dt="2026-09-18T11:30:53.908" v="292" actId="1038"/>
        <pc:sldMkLst>
          <pc:docMk/>
          <pc:sldMk cId="0" sldId="269"/>
        </pc:sldMkLst>
        <pc:spChg chg="mod">
          <ac:chgData name="Sara Oliveira" userId="a9bf37bc-18ed-465a-bd79-1dce7a106793" providerId="ADAL" clId="{5D656F9F-1ADB-4BB7-BB89-674D98B22D7A}" dt="2026-09-18T11:26:37.473" v="184" actId="1076"/>
          <ac:spMkLst>
            <pc:docMk/>
            <pc:sldMk cId="0" sldId="269"/>
            <ac:spMk id="11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19:20.793" v="137" actId="113"/>
          <ac:spMkLst>
            <pc:docMk/>
            <pc:sldMk cId="0" sldId="269"/>
            <ac:spMk id="14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19:33.462" v="139" actId="14100"/>
          <ac:spMkLst>
            <pc:docMk/>
            <pc:sldMk cId="0" sldId="269"/>
            <ac:spMk id="15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25:52.889" v="160" actId="1036"/>
          <ac:spMkLst>
            <pc:docMk/>
            <pc:sldMk cId="0" sldId="269"/>
            <ac:spMk id="16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25:52.889" v="160" actId="1036"/>
          <ac:spMkLst>
            <pc:docMk/>
            <pc:sldMk cId="0" sldId="269"/>
            <ac:spMk id="17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26:04.825" v="172" actId="20577"/>
          <ac:spMkLst>
            <pc:docMk/>
            <pc:sldMk cId="0" sldId="269"/>
            <ac:spMk id="18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24:26.074" v="147" actId="207"/>
          <ac:spMkLst>
            <pc:docMk/>
            <pc:sldMk cId="0" sldId="269"/>
            <ac:spMk id="19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26:12.033" v="173" actId="6549"/>
          <ac:spMkLst>
            <pc:docMk/>
            <pc:sldMk cId="0" sldId="269"/>
            <ac:spMk id="20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26:25.345" v="180" actId="6549"/>
          <ac:spMkLst>
            <pc:docMk/>
            <pc:sldMk cId="0" sldId="269"/>
            <ac:spMk id="21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26:50.281" v="187" actId="1035"/>
          <ac:spMkLst>
            <pc:docMk/>
            <pc:sldMk cId="0" sldId="269"/>
            <ac:spMk id="22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26:50.281" v="187" actId="1035"/>
          <ac:spMkLst>
            <pc:docMk/>
            <pc:sldMk cId="0" sldId="269"/>
            <ac:spMk id="23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25:36.978" v="157" actId="1036"/>
          <ac:spMkLst>
            <pc:docMk/>
            <pc:sldMk cId="0" sldId="269"/>
            <ac:spMk id="24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26:54.855" v="188" actId="14100"/>
          <ac:spMkLst>
            <pc:docMk/>
            <pc:sldMk cId="0" sldId="269"/>
            <ac:spMk id="25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27:06.334" v="191" actId="207"/>
          <ac:spMkLst>
            <pc:docMk/>
            <pc:sldMk cId="0" sldId="269"/>
            <ac:spMk id="26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27:06.334" v="191" actId="207"/>
          <ac:spMkLst>
            <pc:docMk/>
            <pc:sldMk cId="0" sldId="269"/>
            <ac:spMk id="27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27:27.536" v="196" actId="1036"/>
          <ac:spMkLst>
            <pc:docMk/>
            <pc:sldMk cId="0" sldId="269"/>
            <ac:spMk id="28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27:27.536" v="196" actId="1036"/>
          <ac:spMkLst>
            <pc:docMk/>
            <pc:sldMk cId="0" sldId="269"/>
            <ac:spMk id="29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13:42.695" v="120" actId="164"/>
          <ac:spMkLst>
            <pc:docMk/>
            <pc:sldMk cId="0" sldId="269"/>
            <ac:spMk id="30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13:42.695" v="120" actId="164"/>
          <ac:spMkLst>
            <pc:docMk/>
            <pc:sldMk cId="0" sldId="269"/>
            <ac:spMk id="31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13:42.695" v="120" actId="164"/>
          <ac:spMkLst>
            <pc:docMk/>
            <pc:sldMk cId="0" sldId="269"/>
            <ac:spMk id="32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13:50.380" v="121" actId="164"/>
          <ac:spMkLst>
            <pc:docMk/>
            <pc:sldMk cId="0" sldId="269"/>
            <ac:spMk id="33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13:50.380" v="121" actId="164"/>
          <ac:spMkLst>
            <pc:docMk/>
            <pc:sldMk cId="0" sldId="269"/>
            <ac:spMk id="34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13:50.380" v="121" actId="164"/>
          <ac:spMkLst>
            <pc:docMk/>
            <pc:sldMk cId="0" sldId="269"/>
            <ac:spMk id="35" creationId="{00000000-0000-0000-0000-000000000000}"/>
          </ac:spMkLst>
        </pc:spChg>
        <pc:spChg chg="del">
          <ac:chgData name="Sara Oliveira" userId="a9bf37bc-18ed-465a-bd79-1dce7a106793" providerId="ADAL" clId="{5D656F9F-1ADB-4BB7-BB89-674D98B22D7A}" dt="2026-09-18T11:12:44.385" v="112" actId="478"/>
          <ac:spMkLst>
            <pc:docMk/>
            <pc:sldMk cId="0" sldId="269"/>
            <ac:spMk id="36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30:53.908" v="292" actId="1038"/>
          <ac:spMkLst>
            <pc:docMk/>
            <pc:sldMk cId="0" sldId="269"/>
            <ac:spMk id="37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30:53.908" v="292" actId="1038"/>
          <ac:spMkLst>
            <pc:docMk/>
            <pc:sldMk cId="0" sldId="269"/>
            <ac:spMk id="38" creationId="{00000000-0000-0000-0000-000000000000}"/>
          </ac:spMkLst>
        </pc:spChg>
        <pc:spChg chg="mod">
          <ac:chgData name="Sara Oliveira" userId="a9bf37bc-18ed-465a-bd79-1dce7a106793" providerId="ADAL" clId="{5D656F9F-1ADB-4BB7-BB89-674D98B22D7A}" dt="2026-09-18T11:29:24.456" v="262" actId="1036"/>
          <ac:spMkLst>
            <pc:docMk/>
            <pc:sldMk cId="0" sldId="269"/>
            <ac:spMk id="39" creationId="{00000000-0000-0000-0000-000000000000}"/>
          </ac:spMkLst>
        </pc:spChg>
        <pc:spChg chg="del">
          <ac:chgData name="Sara Oliveira" userId="a9bf37bc-18ed-465a-bd79-1dce7a106793" providerId="ADAL" clId="{5D656F9F-1ADB-4BB7-BB89-674D98B22D7A}" dt="2026-09-18T11:12:18.984" v="110" actId="478"/>
          <ac:spMkLst>
            <pc:docMk/>
            <pc:sldMk cId="0" sldId="269"/>
            <ac:spMk id="40" creationId="{00000000-0000-0000-0000-000000000000}"/>
          </ac:spMkLst>
        </pc:spChg>
        <pc:spChg chg="del">
          <ac:chgData name="Sara Oliveira" userId="a9bf37bc-18ed-465a-bd79-1dce7a106793" providerId="ADAL" clId="{5D656F9F-1ADB-4BB7-BB89-674D98B22D7A}" dt="2026-09-18T11:12:18.984" v="110" actId="478"/>
          <ac:spMkLst>
            <pc:docMk/>
            <pc:sldMk cId="0" sldId="269"/>
            <ac:spMk id="41" creationId="{00000000-0000-0000-0000-000000000000}"/>
          </ac:spMkLst>
        </pc:spChg>
        <pc:spChg chg="del">
          <ac:chgData name="Sara Oliveira" userId="a9bf37bc-18ed-465a-bd79-1dce7a106793" providerId="ADAL" clId="{5D656F9F-1ADB-4BB7-BB89-674D98B22D7A}" dt="2026-09-18T11:12:18.984" v="110" actId="478"/>
          <ac:spMkLst>
            <pc:docMk/>
            <pc:sldMk cId="0" sldId="269"/>
            <ac:spMk id="42" creationId="{00000000-0000-0000-0000-000000000000}"/>
          </ac:spMkLst>
        </pc:spChg>
        <pc:grpChg chg="add mod">
          <ac:chgData name="Sara Oliveira" userId="a9bf37bc-18ed-465a-bd79-1dce7a106793" providerId="ADAL" clId="{5D656F9F-1ADB-4BB7-BB89-674D98B22D7A}" dt="2026-09-18T11:13:42.695" v="120" actId="164"/>
          <ac:grpSpMkLst>
            <pc:docMk/>
            <pc:sldMk cId="0" sldId="269"/>
            <ac:grpSpMk id="44" creationId="{52C78D06-5034-0D82-6BEA-351FB8B0441C}"/>
          </ac:grpSpMkLst>
        </pc:grpChg>
        <pc:grpChg chg="add mod">
          <ac:chgData name="Sara Oliveira" userId="a9bf37bc-18ed-465a-bd79-1dce7a106793" providerId="ADAL" clId="{5D656F9F-1ADB-4BB7-BB89-674D98B22D7A}" dt="2026-09-18T11:30:53.908" v="292" actId="1038"/>
          <ac:grpSpMkLst>
            <pc:docMk/>
            <pc:sldMk cId="0" sldId="269"/>
            <ac:grpSpMk id="45" creationId="{CF23BEAD-9642-1476-0F88-378D1EBCBC7D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36800" y="1143000"/>
            <a:ext cx="2184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36800" y="1143000"/>
            <a:ext cx="2184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36800" y="1143000"/>
            <a:ext cx="2184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36800" y="1143000"/>
            <a:ext cx="2184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36800" y="1143000"/>
            <a:ext cx="2184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36800" y="1143000"/>
            <a:ext cx="2184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36800" y="1143000"/>
            <a:ext cx="2184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36800" y="1143000"/>
            <a:ext cx="2184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36800" y="1143000"/>
            <a:ext cx="2184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36800" y="1143000"/>
            <a:ext cx="2184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36800" y="1143000"/>
            <a:ext cx="2184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36800" y="1143000"/>
            <a:ext cx="2184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36800" y="1143000"/>
            <a:ext cx="2184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36800" y="1143000"/>
            <a:ext cx="2184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36800" y="1143000"/>
            <a:ext cx="2184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7E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cover.jpeg"/>
          <p:cNvPicPr>
            <a:picLocks noChangeAspect="1"/>
          </p:cNvPicPr>
          <p:nvPr/>
        </p:nvPicPr>
        <p:blipFill>
          <a:blip r:embed="rId3"/>
          <a:srcRect t="2882" b="2882"/>
          <a:stretch/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003D3A">
              <a:alpha val="63000"/>
            </a:srgbClr>
          </a:solidFill>
          <a:ln w="12700">
            <a:solidFill>
              <a:srgbClr val="007E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007E7A">
              <a:alpha val="32000"/>
            </a:srgbClr>
          </a:solidFill>
          <a:ln w="12700">
            <a:solidFill>
              <a:srgbClr val="007E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2"/>
          <p:cNvSpPr/>
          <p:nvPr/>
        </p:nvSpPr>
        <p:spPr>
          <a:xfrm>
            <a:off x="393192" y="530352"/>
            <a:ext cx="6766560" cy="9491472"/>
          </a:xfrm>
          <a:prstGeom prst="roundRect">
            <a:avLst>
              <a:gd name="adj" fmla="val 946"/>
            </a:avLst>
          </a:prstGeom>
          <a:solidFill>
            <a:srgbClr val="002F2D">
              <a:alpha val="64000"/>
            </a:srgbClr>
          </a:solidFill>
          <a:ln w="1016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960120"/>
            <a:ext cx="6263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3600" b="1" noProof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GUIA OPERACIONAL DA</a:t>
            </a:r>
            <a:endParaRPr lang="pt-BR" sz="36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pt-BR" sz="3600" b="1" noProof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FISCALIZAÇÃO DE CONTRATOS</a:t>
            </a:r>
            <a:endParaRPr lang="pt-BR" sz="36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76656" y="2834640"/>
            <a:ext cx="5989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guia prático para apoiar a atuação do Fiscal de Contrato nos Serviços Operacionais</a:t>
            </a:r>
            <a:endParaRPr lang="pt-BR" sz="1400" noProof="0" dirty="0"/>
          </a:p>
        </p:txBody>
      </p:sp>
      <p:grpSp>
        <p:nvGrpSpPr>
          <p:cNvPr id="38" name="Agrupar 37">
            <a:extLst>
              <a:ext uri="{FF2B5EF4-FFF2-40B4-BE49-F238E27FC236}">
                <a16:creationId xmlns:a16="http://schemas.microsoft.com/office/drawing/2014/main" id="{AFE34A75-A8DB-E0B4-14D6-546CEE884F39}"/>
              </a:ext>
            </a:extLst>
          </p:cNvPr>
          <p:cNvGrpSpPr/>
          <p:nvPr/>
        </p:nvGrpSpPr>
        <p:grpSpPr>
          <a:xfrm>
            <a:off x="630936" y="7125844"/>
            <a:ext cx="6291072" cy="1768983"/>
            <a:chOff x="640080" y="6753224"/>
            <a:chExt cx="6291072" cy="1768983"/>
          </a:xfrm>
        </p:grpSpPr>
        <p:sp>
          <p:nvSpPr>
            <p:cNvPr id="17" name="Shape 14"/>
            <p:cNvSpPr/>
            <p:nvPr/>
          </p:nvSpPr>
          <p:spPr>
            <a:xfrm>
              <a:off x="640080" y="6753224"/>
              <a:ext cx="6291072" cy="1768983"/>
            </a:xfrm>
            <a:prstGeom prst="roundRect">
              <a:avLst>
                <a:gd name="adj" fmla="val 1543"/>
              </a:avLst>
            </a:prstGeom>
            <a:solidFill>
              <a:srgbClr val="003F3D">
                <a:alpha val="76000"/>
              </a:srgbClr>
            </a:solidFill>
            <a:ln w="8890">
              <a:solidFill>
                <a:srgbClr val="FFFFFF">
                  <a:alpha val="22000"/>
                </a:srgbClr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18" name="Text 15"/>
            <p:cNvSpPr txBox="1"/>
            <p:nvPr/>
          </p:nvSpPr>
          <p:spPr>
            <a:xfrm>
              <a:off x="845820" y="6886957"/>
              <a:ext cx="5879592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/>
            </a:bodyPr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Um material prático para apoiar a atuação diária do Fiscal de Contrato</a:t>
              </a:r>
              <a:endParaRPr lang="pt-BR" sz="160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35" name="Agrupar 34">
              <a:extLst>
                <a:ext uri="{FF2B5EF4-FFF2-40B4-BE49-F238E27FC236}">
                  <a16:creationId xmlns:a16="http://schemas.microsoft.com/office/drawing/2014/main" id="{38F9B92F-58F9-4917-4B88-FBCAB73DE21C}"/>
                </a:ext>
              </a:extLst>
            </p:cNvPr>
            <p:cNvGrpSpPr/>
            <p:nvPr/>
          </p:nvGrpSpPr>
          <p:grpSpPr>
            <a:xfrm>
              <a:off x="842772" y="7371588"/>
              <a:ext cx="5715000" cy="553212"/>
              <a:chOff x="859536" y="6446520"/>
              <a:chExt cx="5715000" cy="553212"/>
            </a:xfrm>
          </p:grpSpPr>
          <p:sp>
            <p:nvSpPr>
              <p:cNvPr id="19" name="Text 16"/>
              <p:cNvSpPr txBox="1"/>
              <p:nvPr/>
            </p:nvSpPr>
            <p:spPr>
              <a:xfrm>
                <a:off x="859536" y="6446520"/>
                <a:ext cx="246888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l">
                  <a:lnSpc>
                    <a:spcPct val="100000"/>
                  </a:lnSpc>
                  <a:buNone/>
                </a:pPr>
                <a:r>
                  <a:rPr lang="pt-BR" sz="1150" b="1" noProof="0" dirty="0">
                    <a:solidFill>
                      <a:srgbClr val="A9E2D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 que você encontra aqui</a:t>
                </a:r>
                <a:endParaRPr lang="pt-BR" sz="1150" noProof="0" dirty="0"/>
              </a:p>
            </p:txBody>
          </p:sp>
          <p:sp>
            <p:nvSpPr>
              <p:cNvPr id="20" name="Text 17"/>
              <p:cNvSpPr txBox="1"/>
              <p:nvPr/>
            </p:nvSpPr>
            <p:spPr>
              <a:xfrm>
                <a:off x="859536" y="6560820"/>
                <a:ext cx="5715000" cy="43891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l">
                  <a:lnSpc>
                    <a:spcPct val="100000"/>
                  </a:lnSpc>
                  <a:buNone/>
                </a:pPr>
                <a:r>
                  <a:rPr lang="pt-BR" sz="1030" noProof="0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Papel do Fiscal • Rotina de campo • Evidências • Medição • Tratamento de desvios • Consulta rápida</a:t>
                </a:r>
                <a:endParaRPr lang="pt-BR" sz="1030" noProof="0" dirty="0"/>
              </a:p>
            </p:txBody>
          </p:sp>
        </p:grpSp>
        <p:grpSp>
          <p:nvGrpSpPr>
            <p:cNvPr id="36" name="Agrupar 35">
              <a:extLst>
                <a:ext uri="{FF2B5EF4-FFF2-40B4-BE49-F238E27FC236}">
                  <a16:creationId xmlns:a16="http://schemas.microsoft.com/office/drawing/2014/main" id="{F47B259B-A10F-B968-2621-DF4B8D734BF5}"/>
                </a:ext>
              </a:extLst>
            </p:cNvPr>
            <p:cNvGrpSpPr/>
            <p:nvPr/>
          </p:nvGrpSpPr>
          <p:grpSpPr>
            <a:xfrm>
              <a:off x="842772" y="7885938"/>
              <a:ext cx="5715000" cy="573024"/>
              <a:chOff x="842772" y="7885938"/>
              <a:chExt cx="5715000" cy="573024"/>
            </a:xfrm>
          </p:grpSpPr>
          <p:sp>
            <p:nvSpPr>
              <p:cNvPr id="21" name="Text 18"/>
              <p:cNvSpPr txBox="1"/>
              <p:nvPr/>
            </p:nvSpPr>
            <p:spPr>
              <a:xfrm>
                <a:off x="859536" y="7885938"/>
                <a:ext cx="246888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l">
                  <a:lnSpc>
                    <a:spcPct val="100000"/>
                  </a:lnSpc>
                  <a:buNone/>
                </a:pPr>
                <a:r>
                  <a:rPr lang="pt-BR" sz="1150" b="1" noProof="0" dirty="0">
                    <a:solidFill>
                      <a:srgbClr val="A9E2D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Como usar o guia</a:t>
                </a:r>
                <a:endParaRPr lang="pt-BR" sz="1150" noProof="0" dirty="0"/>
              </a:p>
            </p:txBody>
          </p:sp>
          <p:sp>
            <p:nvSpPr>
              <p:cNvPr id="22" name="Text 19"/>
              <p:cNvSpPr txBox="1"/>
              <p:nvPr/>
            </p:nvSpPr>
            <p:spPr>
              <a:xfrm>
                <a:off x="842772" y="8020050"/>
                <a:ext cx="5715000" cy="43891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l">
                  <a:lnSpc>
                    <a:spcPct val="100000"/>
                  </a:lnSpc>
                  <a:buNone/>
                </a:pPr>
                <a:r>
                  <a:rPr lang="pt-BR" sz="1030" noProof="0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Consulte por tema, use os checklists como apoio e acesse os anexos para aprofundar a rotina.</a:t>
                </a:r>
                <a:endParaRPr lang="pt-BR" sz="1030" noProof="0" dirty="0"/>
              </a:p>
            </p:txBody>
          </p:sp>
        </p:grpSp>
      </p:grp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1AF839DD-4658-0AA5-7D9F-1B300546414C}"/>
              </a:ext>
            </a:extLst>
          </p:cNvPr>
          <p:cNvGrpSpPr/>
          <p:nvPr/>
        </p:nvGrpSpPr>
        <p:grpSpPr>
          <a:xfrm>
            <a:off x="640080" y="9044560"/>
            <a:ext cx="6291072" cy="481584"/>
            <a:chOff x="640080" y="8814816"/>
            <a:chExt cx="6291072" cy="481584"/>
          </a:xfrm>
        </p:grpSpPr>
        <p:sp>
          <p:nvSpPr>
            <p:cNvPr id="23" name="Shape 20"/>
            <p:cNvSpPr/>
            <p:nvPr/>
          </p:nvSpPr>
          <p:spPr>
            <a:xfrm>
              <a:off x="640080" y="8814816"/>
              <a:ext cx="6291072" cy="481584"/>
            </a:xfrm>
            <a:prstGeom prst="roundRect">
              <a:avLst>
                <a:gd name="adj" fmla="val 5405"/>
              </a:avLst>
            </a:prstGeom>
            <a:solidFill>
              <a:srgbClr val="E37222">
                <a:alpha val="72000"/>
              </a:srgbClr>
            </a:solidFill>
            <a:ln w="12700">
              <a:solidFill>
                <a:srgbClr val="E37222">
                  <a:alpha val="85000"/>
                </a:srgbClr>
              </a:solidFill>
              <a:prstDash val="solid"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24" name="Text 21"/>
            <p:cNvSpPr txBox="1"/>
            <p:nvPr/>
          </p:nvSpPr>
          <p:spPr>
            <a:xfrm>
              <a:off x="859536" y="8961120"/>
              <a:ext cx="11430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00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IMPORTANTE</a:t>
              </a:r>
              <a:endParaRPr lang="pt-BR" sz="1000" noProof="0" dirty="0"/>
            </a:p>
          </p:txBody>
        </p:sp>
        <p:sp>
          <p:nvSpPr>
            <p:cNvPr id="25" name="Text 22"/>
            <p:cNvSpPr txBox="1"/>
            <p:nvPr/>
          </p:nvSpPr>
          <p:spPr>
            <a:xfrm>
              <a:off x="1874520" y="8906256"/>
              <a:ext cx="49834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000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Este guia foi construído para a realidade de Serviços Operacionais, com foco exclusivo na fiscalização.</a:t>
              </a:r>
              <a:endParaRPr lang="pt-BR" sz="1000" noProof="0" dirty="0"/>
            </a:p>
          </p:txBody>
        </p:sp>
      </p:grpSp>
      <p:sp>
        <p:nvSpPr>
          <p:cNvPr id="26" name="Text 23"/>
          <p:cNvSpPr txBox="1"/>
          <p:nvPr/>
        </p:nvSpPr>
        <p:spPr>
          <a:xfrm>
            <a:off x="731520" y="9637776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1120" b="1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Fiscalizar é transformar execução em evidência, risco em ação e contrato em resultado.</a:t>
            </a:r>
            <a:endParaRPr lang="pt-BR" sz="1120" noProof="0" dirty="0"/>
          </a:p>
        </p:txBody>
      </p:sp>
      <p:sp>
        <p:nvSpPr>
          <p:cNvPr id="27" name="Shape 24"/>
          <p:cNvSpPr/>
          <p:nvPr/>
        </p:nvSpPr>
        <p:spPr>
          <a:xfrm>
            <a:off x="320040" y="10232136"/>
            <a:ext cx="6922008" cy="1"/>
          </a:xfrm>
          <a:prstGeom prst="line">
            <a:avLst/>
          </a:prstGeom>
          <a:noFill/>
          <a:ln w="10160">
            <a:solidFill>
              <a:srgbClr val="D9E5E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9" name="Text 26"/>
          <p:cNvSpPr txBox="1"/>
          <p:nvPr/>
        </p:nvSpPr>
        <p:spPr>
          <a:xfrm>
            <a:off x="1481328" y="10305288"/>
            <a:ext cx="452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800" noProof="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 de Serviços Operacionais e Segurança Empresarial| Vale S.A.</a:t>
            </a:r>
            <a:endParaRPr lang="pt-BR" sz="800" noProof="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0" name="Text 27"/>
          <p:cNvSpPr txBox="1"/>
          <p:nvPr/>
        </p:nvSpPr>
        <p:spPr>
          <a:xfrm>
            <a:off x="6355080" y="1030528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pt-BR" sz="800" b="1" noProof="0" dirty="0">
                <a:solidFill>
                  <a:srgbClr val="667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15</a:t>
            </a:r>
            <a:endParaRPr lang="pt-BR" sz="800" noProof="0" dirty="0"/>
          </a:p>
        </p:txBody>
      </p:sp>
      <p:grpSp>
        <p:nvGrpSpPr>
          <p:cNvPr id="66" name="Agrupar 65">
            <a:extLst>
              <a:ext uri="{FF2B5EF4-FFF2-40B4-BE49-F238E27FC236}">
                <a16:creationId xmlns:a16="http://schemas.microsoft.com/office/drawing/2014/main" id="{BD3288D0-2406-6D3B-65D3-2D960044BC62}"/>
              </a:ext>
            </a:extLst>
          </p:cNvPr>
          <p:cNvGrpSpPr/>
          <p:nvPr/>
        </p:nvGrpSpPr>
        <p:grpSpPr>
          <a:xfrm>
            <a:off x="640080" y="4517136"/>
            <a:ext cx="6267450" cy="1936912"/>
            <a:chOff x="640080" y="4517136"/>
            <a:chExt cx="6267450" cy="1936912"/>
          </a:xfrm>
        </p:grpSpPr>
        <p:grpSp>
          <p:nvGrpSpPr>
            <p:cNvPr id="34" name="Agrupar 33">
              <a:extLst>
                <a:ext uri="{FF2B5EF4-FFF2-40B4-BE49-F238E27FC236}">
                  <a16:creationId xmlns:a16="http://schemas.microsoft.com/office/drawing/2014/main" id="{E4FA420C-94AA-5020-C153-6DF78121F537}"/>
                </a:ext>
              </a:extLst>
            </p:cNvPr>
            <p:cNvGrpSpPr/>
            <p:nvPr/>
          </p:nvGrpSpPr>
          <p:grpSpPr>
            <a:xfrm>
              <a:off x="640080" y="4517136"/>
              <a:ext cx="1440000" cy="347472"/>
              <a:chOff x="676656" y="4590288"/>
              <a:chExt cx="1440000" cy="347472"/>
            </a:xfrm>
          </p:grpSpPr>
          <p:sp>
            <p:nvSpPr>
              <p:cNvPr id="9" name="Shape 6"/>
              <p:cNvSpPr/>
              <p:nvPr/>
            </p:nvSpPr>
            <p:spPr>
              <a:xfrm>
                <a:off x="676656" y="4590288"/>
                <a:ext cx="1440000" cy="347472"/>
              </a:xfrm>
              <a:prstGeom prst="roundRect">
                <a:avLst>
                  <a:gd name="adj" fmla="val 10526"/>
                </a:avLst>
              </a:prstGeom>
              <a:solidFill>
                <a:srgbClr val="007E7A">
                  <a:alpha val="82000"/>
                </a:srgbClr>
              </a:solidFill>
              <a:ln w="8890">
                <a:solidFill>
                  <a:srgbClr val="FFFFFF">
                    <a:alpha val="6500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pt-BR" sz="1000" noProof="0" dirty="0"/>
              </a:p>
            </p:txBody>
          </p:sp>
          <p:sp>
            <p:nvSpPr>
              <p:cNvPr id="10" name="Text 7"/>
              <p:cNvSpPr txBox="1"/>
              <p:nvPr/>
            </p:nvSpPr>
            <p:spPr>
              <a:xfrm>
                <a:off x="676656" y="4590288"/>
                <a:ext cx="1440000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pt-BR" sz="10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 papel do Fiscal na Vale</a:t>
                </a:r>
                <a:endParaRPr lang="pt-BR" sz="1000" noProof="0" dirty="0"/>
              </a:p>
            </p:txBody>
          </p:sp>
        </p:grpSp>
        <p:grpSp>
          <p:nvGrpSpPr>
            <p:cNvPr id="33" name="Agrupar 32">
              <a:extLst>
                <a:ext uri="{FF2B5EF4-FFF2-40B4-BE49-F238E27FC236}">
                  <a16:creationId xmlns:a16="http://schemas.microsoft.com/office/drawing/2014/main" id="{9961DB06-EEDA-003E-CE83-79E1835378CA}"/>
                </a:ext>
              </a:extLst>
            </p:cNvPr>
            <p:cNvGrpSpPr/>
            <p:nvPr/>
          </p:nvGrpSpPr>
          <p:grpSpPr>
            <a:xfrm>
              <a:off x="2249230" y="4517136"/>
              <a:ext cx="1440000" cy="347472"/>
              <a:chOff x="1920240" y="4590288"/>
              <a:chExt cx="1440000" cy="347472"/>
            </a:xfrm>
          </p:grpSpPr>
          <p:sp>
            <p:nvSpPr>
              <p:cNvPr id="11" name="Shape 8"/>
              <p:cNvSpPr/>
              <p:nvPr/>
            </p:nvSpPr>
            <p:spPr>
              <a:xfrm>
                <a:off x="1920240" y="4590288"/>
                <a:ext cx="1440000" cy="347472"/>
              </a:xfrm>
              <a:prstGeom prst="roundRect">
                <a:avLst>
                  <a:gd name="adj" fmla="val 10526"/>
                </a:avLst>
              </a:prstGeom>
              <a:solidFill>
                <a:srgbClr val="007E7A">
                  <a:alpha val="82000"/>
                </a:srgbClr>
              </a:solidFill>
              <a:ln w="8890">
                <a:solidFill>
                  <a:srgbClr val="FFFFFF">
                    <a:alpha val="6500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pt-BR" sz="1000" noProof="0" dirty="0"/>
              </a:p>
            </p:txBody>
          </p:sp>
          <p:sp>
            <p:nvSpPr>
              <p:cNvPr id="12" name="Text 9"/>
              <p:cNvSpPr txBox="1"/>
              <p:nvPr/>
            </p:nvSpPr>
            <p:spPr>
              <a:xfrm>
                <a:off x="1920240" y="4590288"/>
                <a:ext cx="1440000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pt-BR" sz="1000" b="1" noProof="0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Estou habilitado para fiscalizar?</a:t>
                </a:r>
                <a:endParaRPr lang="pt-BR" sz="1000" noProof="0" dirty="0"/>
              </a:p>
            </p:txBody>
          </p:sp>
        </p:grpSp>
        <p:grpSp>
          <p:nvGrpSpPr>
            <p:cNvPr id="32" name="Agrupar 31">
              <a:extLst>
                <a:ext uri="{FF2B5EF4-FFF2-40B4-BE49-F238E27FC236}">
                  <a16:creationId xmlns:a16="http://schemas.microsoft.com/office/drawing/2014/main" id="{9AAE4D08-988D-2C14-D771-8892C386AA88}"/>
                </a:ext>
              </a:extLst>
            </p:cNvPr>
            <p:cNvGrpSpPr/>
            <p:nvPr/>
          </p:nvGrpSpPr>
          <p:grpSpPr>
            <a:xfrm>
              <a:off x="3858380" y="4517136"/>
              <a:ext cx="1440000" cy="347472"/>
              <a:chOff x="2907792" y="4590288"/>
              <a:chExt cx="1440000" cy="347472"/>
            </a:xfrm>
          </p:grpSpPr>
          <p:sp>
            <p:nvSpPr>
              <p:cNvPr id="13" name="Shape 10"/>
              <p:cNvSpPr/>
              <p:nvPr/>
            </p:nvSpPr>
            <p:spPr>
              <a:xfrm>
                <a:off x="2907792" y="4590288"/>
                <a:ext cx="1440000" cy="347472"/>
              </a:xfrm>
              <a:prstGeom prst="roundRect">
                <a:avLst>
                  <a:gd name="adj" fmla="val 10526"/>
                </a:avLst>
              </a:prstGeom>
              <a:solidFill>
                <a:srgbClr val="007E7A">
                  <a:alpha val="82000"/>
                </a:srgbClr>
              </a:solidFill>
              <a:ln w="8890">
                <a:solidFill>
                  <a:srgbClr val="FFFFFF">
                    <a:alpha val="6500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pt-BR" sz="1000" noProof="0" dirty="0"/>
              </a:p>
            </p:txBody>
          </p:sp>
          <p:sp>
            <p:nvSpPr>
              <p:cNvPr id="14" name="Text 11"/>
              <p:cNvSpPr txBox="1"/>
              <p:nvPr/>
            </p:nvSpPr>
            <p:spPr>
              <a:xfrm>
                <a:off x="2907792" y="4590288"/>
                <a:ext cx="1440000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pt-BR" sz="1000" b="1" noProof="0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Conheça seu contrato</a:t>
                </a:r>
                <a:endParaRPr lang="pt-BR" sz="1000" noProof="0" dirty="0"/>
              </a:p>
            </p:txBody>
          </p:sp>
        </p:grpSp>
        <p:grpSp>
          <p:nvGrpSpPr>
            <p:cNvPr id="31" name="Agrupar 30">
              <a:extLst>
                <a:ext uri="{FF2B5EF4-FFF2-40B4-BE49-F238E27FC236}">
                  <a16:creationId xmlns:a16="http://schemas.microsoft.com/office/drawing/2014/main" id="{63008CB1-5D60-6F56-1BB3-03DA534FCAD5}"/>
                </a:ext>
              </a:extLst>
            </p:cNvPr>
            <p:cNvGrpSpPr/>
            <p:nvPr/>
          </p:nvGrpSpPr>
          <p:grpSpPr>
            <a:xfrm>
              <a:off x="5467530" y="4517136"/>
              <a:ext cx="1440000" cy="347472"/>
              <a:chOff x="4087368" y="4590288"/>
              <a:chExt cx="1440000" cy="347472"/>
            </a:xfrm>
          </p:grpSpPr>
          <p:sp>
            <p:nvSpPr>
              <p:cNvPr id="15" name="Shape 12"/>
              <p:cNvSpPr/>
              <p:nvPr/>
            </p:nvSpPr>
            <p:spPr>
              <a:xfrm>
                <a:off x="4087368" y="4590288"/>
                <a:ext cx="1440000" cy="347472"/>
              </a:xfrm>
              <a:prstGeom prst="roundRect">
                <a:avLst>
                  <a:gd name="adj" fmla="val 10526"/>
                </a:avLst>
              </a:prstGeom>
              <a:solidFill>
                <a:srgbClr val="007E7A">
                  <a:alpha val="82000"/>
                </a:srgbClr>
              </a:solidFill>
              <a:ln w="8890">
                <a:solidFill>
                  <a:srgbClr val="FFFFFF">
                    <a:alpha val="6500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pt-BR" sz="1000" noProof="0" dirty="0"/>
              </a:p>
            </p:txBody>
          </p:sp>
          <p:sp>
            <p:nvSpPr>
              <p:cNvPr id="16" name="Text 13"/>
              <p:cNvSpPr txBox="1"/>
              <p:nvPr/>
            </p:nvSpPr>
            <p:spPr>
              <a:xfrm>
                <a:off x="4087368" y="4590288"/>
                <a:ext cx="1440000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pt-BR" sz="1000" b="1" noProof="0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Etapas da fiscalização</a:t>
                </a:r>
                <a:endParaRPr lang="pt-BR" sz="1000" noProof="0" dirty="0"/>
              </a:p>
            </p:txBody>
          </p:sp>
        </p:grpSp>
        <p:grpSp>
          <p:nvGrpSpPr>
            <p:cNvPr id="39" name="Agrupar 38">
              <a:extLst>
                <a:ext uri="{FF2B5EF4-FFF2-40B4-BE49-F238E27FC236}">
                  <a16:creationId xmlns:a16="http://schemas.microsoft.com/office/drawing/2014/main" id="{DDDE77A2-199D-9A0F-ACB3-6C18EEFBAE28}"/>
                </a:ext>
              </a:extLst>
            </p:cNvPr>
            <p:cNvGrpSpPr/>
            <p:nvPr/>
          </p:nvGrpSpPr>
          <p:grpSpPr>
            <a:xfrm>
              <a:off x="640080" y="5035869"/>
              <a:ext cx="1440000" cy="347472"/>
              <a:chOff x="676656" y="4590288"/>
              <a:chExt cx="1440000" cy="347472"/>
            </a:xfrm>
          </p:grpSpPr>
          <p:sp>
            <p:nvSpPr>
              <p:cNvPr id="40" name="Shape 6">
                <a:extLst>
                  <a:ext uri="{FF2B5EF4-FFF2-40B4-BE49-F238E27FC236}">
                    <a16:creationId xmlns:a16="http://schemas.microsoft.com/office/drawing/2014/main" id="{F5A46405-DB46-1F0B-DB59-2A6297C1CED4}"/>
                  </a:ext>
                </a:extLst>
              </p:cNvPr>
              <p:cNvSpPr/>
              <p:nvPr/>
            </p:nvSpPr>
            <p:spPr>
              <a:xfrm>
                <a:off x="676656" y="4590288"/>
                <a:ext cx="1440000" cy="347472"/>
              </a:xfrm>
              <a:prstGeom prst="roundRect">
                <a:avLst>
                  <a:gd name="adj" fmla="val 10526"/>
                </a:avLst>
              </a:prstGeom>
              <a:solidFill>
                <a:srgbClr val="007E7A">
                  <a:alpha val="82000"/>
                </a:srgbClr>
              </a:solidFill>
              <a:ln w="8890">
                <a:solidFill>
                  <a:srgbClr val="FFFFFF">
                    <a:alpha val="6500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pt-BR" sz="1000" noProof="0" dirty="0"/>
              </a:p>
            </p:txBody>
          </p:sp>
          <p:sp>
            <p:nvSpPr>
              <p:cNvPr id="41" name="Text 7">
                <a:extLst>
                  <a:ext uri="{FF2B5EF4-FFF2-40B4-BE49-F238E27FC236}">
                    <a16:creationId xmlns:a16="http://schemas.microsoft.com/office/drawing/2014/main" id="{0F3CF6DD-ABCA-CD90-C321-FDD47501EB1B}"/>
                  </a:ext>
                </a:extLst>
              </p:cNvPr>
              <p:cNvSpPr txBox="1"/>
              <p:nvPr/>
            </p:nvSpPr>
            <p:spPr>
              <a:xfrm>
                <a:off x="676656" y="4590288"/>
                <a:ext cx="1440000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pt-BR" sz="1000" b="1" noProof="0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Antes de começar</a:t>
                </a:r>
                <a:endParaRPr lang="pt-BR" sz="1000" noProof="0" dirty="0"/>
              </a:p>
            </p:txBody>
          </p:sp>
        </p:grpSp>
        <p:grpSp>
          <p:nvGrpSpPr>
            <p:cNvPr id="42" name="Agrupar 41">
              <a:extLst>
                <a:ext uri="{FF2B5EF4-FFF2-40B4-BE49-F238E27FC236}">
                  <a16:creationId xmlns:a16="http://schemas.microsoft.com/office/drawing/2014/main" id="{68FEE753-3777-EBAC-EA29-C57991F8B55B}"/>
                </a:ext>
              </a:extLst>
            </p:cNvPr>
            <p:cNvGrpSpPr/>
            <p:nvPr/>
          </p:nvGrpSpPr>
          <p:grpSpPr>
            <a:xfrm>
              <a:off x="2249230" y="5035869"/>
              <a:ext cx="1440000" cy="347472"/>
              <a:chOff x="1920240" y="4590288"/>
              <a:chExt cx="1440000" cy="347472"/>
            </a:xfrm>
          </p:grpSpPr>
          <p:sp>
            <p:nvSpPr>
              <p:cNvPr id="43" name="Shape 8">
                <a:extLst>
                  <a:ext uri="{FF2B5EF4-FFF2-40B4-BE49-F238E27FC236}">
                    <a16:creationId xmlns:a16="http://schemas.microsoft.com/office/drawing/2014/main" id="{F49753D6-AAC5-4CE0-9087-D3F0215BE8F2}"/>
                  </a:ext>
                </a:extLst>
              </p:cNvPr>
              <p:cNvSpPr/>
              <p:nvPr/>
            </p:nvSpPr>
            <p:spPr>
              <a:xfrm>
                <a:off x="1920240" y="4590288"/>
                <a:ext cx="1440000" cy="347472"/>
              </a:xfrm>
              <a:prstGeom prst="roundRect">
                <a:avLst>
                  <a:gd name="adj" fmla="val 10526"/>
                </a:avLst>
              </a:prstGeom>
              <a:solidFill>
                <a:srgbClr val="007E7A">
                  <a:alpha val="82000"/>
                </a:srgbClr>
              </a:solidFill>
              <a:ln w="8890">
                <a:solidFill>
                  <a:srgbClr val="FFFFFF">
                    <a:alpha val="6500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pt-BR" sz="1000" noProof="0" dirty="0"/>
              </a:p>
            </p:txBody>
          </p:sp>
          <p:sp>
            <p:nvSpPr>
              <p:cNvPr id="44" name="Text 9">
                <a:extLst>
                  <a:ext uri="{FF2B5EF4-FFF2-40B4-BE49-F238E27FC236}">
                    <a16:creationId xmlns:a16="http://schemas.microsoft.com/office/drawing/2014/main" id="{9A3C002A-53DB-E47A-71B9-98EDCAB07CD1}"/>
                  </a:ext>
                </a:extLst>
              </p:cNvPr>
              <p:cNvSpPr txBox="1"/>
              <p:nvPr/>
            </p:nvSpPr>
            <p:spPr>
              <a:xfrm>
                <a:off x="1920240" y="4590288"/>
                <a:ext cx="1440000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pt-BR" sz="1000" b="1" noProof="0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 que observar</a:t>
                </a:r>
                <a:endParaRPr lang="pt-BR" sz="1000" noProof="0" dirty="0"/>
              </a:p>
            </p:txBody>
          </p:sp>
        </p:grpSp>
        <p:grpSp>
          <p:nvGrpSpPr>
            <p:cNvPr id="45" name="Agrupar 44">
              <a:extLst>
                <a:ext uri="{FF2B5EF4-FFF2-40B4-BE49-F238E27FC236}">
                  <a16:creationId xmlns:a16="http://schemas.microsoft.com/office/drawing/2014/main" id="{44A250A4-29D6-3ECB-8927-11050D6289FB}"/>
                </a:ext>
              </a:extLst>
            </p:cNvPr>
            <p:cNvGrpSpPr/>
            <p:nvPr/>
          </p:nvGrpSpPr>
          <p:grpSpPr>
            <a:xfrm>
              <a:off x="3858380" y="5035869"/>
              <a:ext cx="1440000" cy="347472"/>
              <a:chOff x="2907792" y="4590288"/>
              <a:chExt cx="1440000" cy="347472"/>
            </a:xfrm>
          </p:grpSpPr>
          <p:sp>
            <p:nvSpPr>
              <p:cNvPr id="46" name="Shape 10">
                <a:extLst>
                  <a:ext uri="{FF2B5EF4-FFF2-40B4-BE49-F238E27FC236}">
                    <a16:creationId xmlns:a16="http://schemas.microsoft.com/office/drawing/2014/main" id="{5E368364-1C3E-0388-24BC-951E1AFBD04E}"/>
                  </a:ext>
                </a:extLst>
              </p:cNvPr>
              <p:cNvSpPr/>
              <p:nvPr/>
            </p:nvSpPr>
            <p:spPr>
              <a:xfrm>
                <a:off x="2907792" y="4590288"/>
                <a:ext cx="1440000" cy="347472"/>
              </a:xfrm>
              <a:prstGeom prst="roundRect">
                <a:avLst>
                  <a:gd name="adj" fmla="val 10526"/>
                </a:avLst>
              </a:prstGeom>
              <a:solidFill>
                <a:srgbClr val="007E7A">
                  <a:alpha val="82000"/>
                </a:srgbClr>
              </a:solidFill>
              <a:ln w="8890">
                <a:solidFill>
                  <a:srgbClr val="FFFFFF">
                    <a:alpha val="6500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pt-BR" sz="1000" noProof="0" dirty="0"/>
              </a:p>
            </p:txBody>
          </p:sp>
          <p:sp>
            <p:nvSpPr>
              <p:cNvPr id="47" name="Text 11">
                <a:extLst>
                  <a:ext uri="{FF2B5EF4-FFF2-40B4-BE49-F238E27FC236}">
                    <a16:creationId xmlns:a16="http://schemas.microsoft.com/office/drawing/2014/main" id="{1CDAF3A7-A1E7-172D-98F5-252F6363A95A}"/>
                  </a:ext>
                </a:extLst>
              </p:cNvPr>
              <p:cNvSpPr txBox="1"/>
              <p:nvPr/>
            </p:nvSpPr>
            <p:spPr>
              <a:xfrm>
                <a:off x="2907792" y="4590288"/>
                <a:ext cx="1440000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pt-BR" sz="1000" b="1" noProof="0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 olhar do fiscal em campo</a:t>
                </a:r>
                <a:endParaRPr lang="pt-BR" sz="1000" noProof="0" dirty="0"/>
              </a:p>
            </p:txBody>
          </p:sp>
        </p:grpSp>
        <p:grpSp>
          <p:nvGrpSpPr>
            <p:cNvPr id="48" name="Agrupar 47">
              <a:extLst>
                <a:ext uri="{FF2B5EF4-FFF2-40B4-BE49-F238E27FC236}">
                  <a16:creationId xmlns:a16="http://schemas.microsoft.com/office/drawing/2014/main" id="{DCC95BA3-3958-F50F-A4A2-345495A0468C}"/>
                </a:ext>
              </a:extLst>
            </p:cNvPr>
            <p:cNvGrpSpPr/>
            <p:nvPr/>
          </p:nvGrpSpPr>
          <p:grpSpPr>
            <a:xfrm>
              <a:off x="5467530" y="5035869"/>
              <a:ext cx="1440000" cy="347472"/>
              <a:chOff x="4087368" y="4590288"/>
              <a:chExt cx="1440000" cy="347472"/>
            </a:xfrm>
          </p:grpSpPr>
          <p:sp>
            <p:nvSpPr>
              <p:cNvPr id="49" name="Shape 12">
                <a:extLst>
                  <a:ext uri="{FF2B5EF4-FFF2-40B4-BE49-F238E27FC236}">
                    <a16:creationId xmlns:a16="http://schemas.microsoft.com/office/drawing/2014/main" id="{9E31D534-4E2D-8493-C398-317DA6F1CB20}"/>
                  </a:ext>
                </a:extLst>
              </p:cNvPr>
              <p:cNvSpPr/>
              <p:nvPr/>
            </p:nvSpPr>
            <p:spPr>
              <a:xfrm>
                <a:off x="4087368" y="4590288"/>
                <a:ext cx="1440000" cy="347472"/>
              </a:xfrm>
              <a:prstGeom prst="roundRect">
                <a:avLst>
                  <a:gd name="adj" fmla="val 10526"/>
                </a:avLst>
              </a:prstGeom>
              <a:solidFill>
                <a:srgbClr val="007E7A">
                  <a:alpha val="82000"/>
                </a:srgbClr>
              </a:solidFill>
              <a:ln w="8890">
                <a:solidFill>
                  <a:srgbClr val="FFFFFF">
                    <a:alpha val="6500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pt-BR" sz="1000" noProof="0" dirty="0"/>
              </a:p>
            </p:txBody>
          </p:sp>
          <p:sp>
            <p:nvSpPr>
              <p:cNvPr id="50" name="Text 13">
                <a:extLst>
                  <a:ext uri="{FF2B5EF4-FFF2-40B4-BE49-F238E27FC236}">
                    <a16:creationId xmlns:a16="http://schemas.microsoft.com/office/drawing/2014/main" id="{25C48F68-EAFE-2A58-C944-63E01E46A8FC}"/>
                  </a:ext>
                </a:extLst>
              </p:cNvPr>
              <p:cNvSpPr txBox="1"/>
              <p:nvPr/>
            </p:nvSpPr>
            <p:spPr>
              <a:xfrm>
                <a:off x="4087368" y="4590288"/>
                <a:ext cx="1440000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pt-BR" sz="1000" b="1" noProof="0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 que comprova a execução?</a:t>
                </a:r>
                <a:endParaRPr lang="pt-BR" sz="1000" noProof="0" dirty="0"/>
              </a:p>
            </p:txBody>
          </p:sp>
        </p:grpSp>
        <p:grpSp>
          <p:nvGrpSpPr>
            <p:cNvPr id="51" name="Agrupar 50">
              <a:extLst>
                <a:ext uri="{FF2B5EF4-FFF2-40B4-BE49-F238E27FC236}">
                  <a16:creationId xmlns:a16="http://schemas.microsoft.com/office/drawing/2014/main" id="{4F4EAAAA-B6D7-2E2C-89BA-F1349F0BDAF6}"/>
                </a:ext>
              </a:extLst>
            </p:cNvPr>
            <p:cNvGrpSpPr/>
            <p:nvPr/>
          </p:nvGrpSpPr>
          <p:grpSpPr>
            <a:xfrm>
              <a:off x="640080" y="5554602"/>
              <a:ext cx="1440000" cy="347472"/>
              <a:chOff x="676656" y="4590288"/>
              <a:chExt cx="1440000" cy="347472"/>
            </a:xfrm>
          </p:grpSpPr>
          <p:sp>
            <p:nvSpPr>
              <p:cNvPr id="52" name="Shape 6">
                <a:extLst>
                  <a:ext uri="{FF2B5EF4-FFF2-40B4-BE49-F238E27FC236}">
                    <a16:creationId xmlns:a16="http://schemas.microsoft.com/office/drawing/2014/main" id="{CC7EB405-7883-79FF-CAFD-820C9E47C418}"/>
                  </a:ext>
                </a:extLst>
              </p:cNvPr>
              <p:cNvSpPr/>
              <p:nvPr/>
            </p:nvSpPr>
            <p:spPr>
              <a:xfrm>
                <a:off x="676656" y="4590288"/>
                <a:ext cx="1440000" cy="347472"/>
              </a:xfrm>
              <a:prstGeom prst="roundRect">
                <a:avLst>
                  <a:gd name="adj" fmla="val 10526"/>
                </a:avLst>
              </a:prstGeom>
              <a:solidFill>
                <a:srgbClr val="007E7A">
                  <a:alpha val="82000"/>
                </a:srgbClr>
              </a:solidFill>
              <a:ln w="8890">
                <a:solidFill>
                  <a:srgbClr val="FFFFFF">
                    <a:alpha val="6500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pt-BR" sz="1000" noProof="0" dirty="0"/>
              </a:p>
            </p:txBody>
          </p:sp>
          <p:sp>
            <p:nvSpPr>
              <p:cNvPr id="53" name="Text 7">
                <a:extLst>
                  <a:ext uri="{FF2B5EF4-FFF2-40B4-BE49-F238E27FC236}">
                    <a16:creationId xmlns:a16="http://schemas.microsoft.com/office/drawing/2014/main" id="{618E5498-9E37-6D09-A0E8-176C88CDE724}"/>
                  </a:ext>
                </a:extLst>
              </p:cNvPr>
              <p:cNvSpPr txBox="1"/>
              <p:nvPr/>
            </p:nvSpPr>
            <p:spPr>
              <a:xfrm>
                <a:off x="676656" y="4590288"/>
                <a:ext cx="1440000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pt-BR" sz="10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Contrato x Executado x Evidência</a:t>
                </a:r>
                <a:endParaRPr lang="pt-BR" sz="1000" noProof="0" dirty="0"/>
              </a:p>
            </p:txBody>
          </p:sp>
        </p:grpSp>
        <p:grpSp>
          <p:nvGrpSpPr>
            <p:cNvPr id="54" name="Agrupar 53">
              <a:extLst>
                <a:ext uri="{FF2B5EF4-FFF2-40B4-BE49-F238E27FC236}">
                  <a16:creationId xmlns:a16="http://schemas.microsoft.com/office/drawing/2014/main" id="{BBB3F5EA-F9C9-1850-6CE2-6C14EC1D8705}"/>
                </a:ext>
              </a:extLst>
            </p:cNvPr>
            <p:cNvGrpSpPr/>
            <p:nvPr/>
          </p:nvGrpSpPr>
          <p:grpSpPr>
            <a:xfrm>
              <a:off x="2249230" y="5554602"/>
              <a:ext cx="1440000" cy="347472"/>
              <a:chOff x="1920240" y="4590288"/>
              <a:chExt cx="1440000" cy="347472"/>
            </a:xfrm>
          </p:grpSpPr>
          <p:sp>
            <p:nvSpPr>
              <p:cNvPr id="55" name="Shape 8">
                <a:extLst>
                  <a:ext uri="{FF2B5EF4-FFF2-40B4-BE49-F238E27FC236}">
                    <a16:creationId xmlns:a16="http://schemas.microsoft.com/office/drawing/2014/main" id="{19319572-BC2D-5CDE-6179-E2926A2824D3}"/>
                  </a:ext>
                </a:extLst>
              </p:cNvPr>
              <p:cNvSpPr/>
              <p:nvPr/>
            </p:nvSpPr>
            <p:spPr>
              <a:xfrm>
                <a:off x="1920240" y="4590288"/>
                <a:ext cx="1440000" cy="347472"/>
              </a:xfrm>
              <a:prstGeom prst="roundRect">
                <a:avLst>
                  <a:gd name="adj" fmla="val 10526"/>
                </a:avLst>
              </a:prstGeom>
              <a:solidFill>
                <a:srgbClr val="007E7A">
                  <a:alpha val="82000"/>
                </a:srgbClr>
              </a:solidFill>
              <a:ln w="8890">
                <a:solidFill>
                  <a:srgbClr val="FFFFFF">
                    <a:alpha val="6500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pt-BR" sz="1000" noProof="0" dirty="0"/>
              </a:p>
            </p:txBody>
          </p:sp>
          <p:sp>
            <p:nvSpPr>
              <p:cNvPr id="56" name="Text 9">
                <a:extLst>
                  <a:ext uri="{FF2B5EF4-FFF2-40B4-BE49-F238E27FC236}">
                    <a16:creationId xmlns:a16="http://schemas.microsoft.com/office/drawing/2014/main" id="{7E652124-27FC-ADA2-9787-79F2D750616E}"/>
                  </a:ext>
                </a:extLst>
              </p:cNvPr>
              <p:cNvSpPr txBox="1"/>
              <p:nvPr/>
            </p:nvSpPr>
            <p:spPr>
              <a:xfrm>
                <a:off x="1920240" y="4590288"/>
                <a:ext cx="1440000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pt-BR" sz="1000" b="1" noProof="0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Identifique, registre e escala</a:t>
                </a:r>
                <a:endParaRPr lang="pt-BR" sz="1000" noProof="0" dirty="0"/>
              </a:p>
            </p:txBody>
          </p:sp>
        </p:grpSp>
        <p:grpSp>
          <p:nvGrpSpPr>
            <p:cNvPr id="57" name="Agrupar 56">
              <a:extLst>
                <a:ext uri="{FF2B5EF4-FFF2-40B4-BE49-F238E27FC236}">
                  <a16:creationId xmlns:a16="http://schemas.microsoft.com/office/drawing/2014/main" id="{C7809505-1594-525C-19AD-171D3DB463AA}"/>
                </a:ext>
              </a:extLst>
            </p:cNvPr>
            <p:cNvGrpSpPr/>
            <p:nvPr/>
          </p:nvGrpSpPr>
          <p:grpSpPr>
            <a:xfrm>
              <a:off x="3858380" y="5554602"/>
              <a:ext cx="1440000" cy="347472"/>
              <a:chOff x="2907792" y="4590288"/>
              <a:chExt cx="1440000" cy="347472"/>
            </a:xfrm>
          </p:grpSpPr>
          <p:sp>
            <p:nvSpPr>
              <p:cNvPr id="58" name="Shape 10">
                <a:extLst>
                  <a:ext uri="{FF2B5EF4-FFF2-40B4-BE49-F238E27FC236}">
                    <a16:creationId xmlns:a16="http://schemas.microsoft.com/office/drawing/2014/main" id="{1AC7886E-EEB4-50FE-6307-B281A0E9C679}"/>
                  </a:ext>
                </a:extLst>
              </p:cNvPr>
              <p:cNvSpPr/>
              <p:nvPr/>
            </p:nvSpPr>
            <p:spPr>
              <a:xfrm>
                <a:off x="2907792" y="4590288"/>
                <a:ext cx="1440000" cy="347472"/>
              </a:xfrm>
              <a:prstGeom prst="roundRect">
                <a:avLst>
                  <a:gd name="adj" fmla="val 10526"/>
                </a:avLst>
              </a:prstGeom>
              <a:solidFill>
                <a:srgbClr val="007E7A">
                  <a:alpha val="82000"/>
                </a:srgbClr>
              </a:solidFill>
              <a:ln w="8890">
                <a:solidFill>
                  <a:srgbClr val="FFFFFF">
                    <a:alpha val="6500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pt-BR" sz="1000" noProof="0" dirty="0"/>
              </a:p>
            </p:txBody>
          </p:sp>
          <p:sp>
            <p:nvSpPr>
              <p:cNvPr id="59" name="Text 11">
                <a:extLst>
                  <a:ext uri="{FF2B5EF4-FFF2-40B4-BE49-F238E27FC236}">
                    <a16:creationId xmlns:a16="http://schemas.microsoft.com/office/drawing/2014/main" id="{A91C6205-7754-9A09-3716-FDAADB34FBB2}"/>
                  </a:ext>
                </a:extLst>
              </p:cNvPr>
              <p:cNvSpPr txBox="1"/>
              <p:nvPr/>
            </p:nvSpPr>
            <p:spPr>
              <a:xfrm>
                <a:off x="2907792" y="4590288"/>
                <a:ext cx="1440000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pt-BR" sz="1000" b="1" noProof="0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Sua rotina de fiscalização</a:t>
                </a:r>
                <a:endParaRPr lang="pt-BR" sz="1000" noProof="0" dirty="0"/>
              </a:p>
            </p:txBody>
          </p:sp>
        </p:grpSp>
        <p:grpSp>
          <p:nvGrpSpPr>
            <p:cNvPr id="60" name="Agrupar 59">
              <a:extLst>
                <a:ext uri="{FF2B5EF4-FFF2-40B4-BE49-F238E27FC236}">
                  <a16:creationId xmlns:a16="http://schemas.microsoft.com/office/drawing/2014/main" id="{D5062D7D-2833-C8E3-5019-B6213089D081}"/>
                </a:ext>
              </a:extLst>
            </p:cNvPr>
            <p:cNvGrpSpPr/>
            <p:nvPr/>
          </p:nvGrpSpPr>
          <p:grpSpPr>
            <a:xfrm>
              <a:off x="5467530" y="5554602"/>
              <a:ext cx="1440000" cy="347472"/>
              <a:chOff x="4087368" y="4590288"/>
              <a:chExt cx="1440000" cy="347472"/>
            </a:xfrm>
          </p:grpSpPr>
          <p:sp>
            <p:nvSpPr>
              <p:cNvPr id="61" name="Shape 12">
                <a:extLst>
                  <a:ext uri="{FF2B5EF4-FFF2-40B4-BE49-F238E27FC236}">
                    <a16:creationId xmlns:a16="http://schemas.microsoft.com/office/drawing/2014/main" id="{91F2A364-0B48-78B4-FED5-165DC62A84DA}"/>
                  </a:ext>
                </a:extLst>
              </p:cNvPr>
              <p:cNvSpPr/>
              <p:nvPr/>
            </p:nvSpPr>
            <p:spPr>
              <a:xfrm>
                <a:off x="4087368" y="4590288"/>
                <a:ext cx="1440000" cy="347472"/>
              </a:xfrm>
              <a:prstGeom prst="roundRect">
                <a:avLst>
                  <a:gd name="adj" fmla="val 10526"/>
                </a:avLst>
              </a:prstGeom>
              <a:solidFill>
                <a:srgbClr val="007E7A">
                  <a:alpha val="82000"/>
                </a:srgbClr>
              </a:solidFill>
              <a:ln w="8890">
                <a:solidFill>
                  <a:srgbClr val="FFFFFF">
                    <a:alpha val="6500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pt-BR" sz="1000" noProof="0" dirty="0"/>
              </a:p>
            </p:txBody>
          </p:sp>
          <p:sp>
            <p:nvSpPr>
              <p:cNvPr id="62" name="Text 13">
                <a:extLst>
                  <a:ext uri="{FF2B5EF4-FFF2-40B4-BE49-F238E27FC236}">
                    <a16:creationId xmlns:a16="http://schemas.microsoft.com/office/drawing/2014/main" id="{377FBE37-9F81-3EC7-C132-E4C8C0634639}"/>
                  </a:ext>
                </a:extLst>
              </p:cNvPr>
              <p:cNvSpPr txBox="1"/>
              <p:nvPr/>
            </p:nvSpPr>
            <p:spPr>
              <a:xfrm>
                <a:off x="4087368" y="4590288"/>
                <a:ext cx="1440000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pt-BR" sz="1000" b="1" noProof="0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Fechar sem pendência</a:t>
                </a:r>
                <a:endParaRPr lang="pt-BR" sz="1000" noProof="0" dirty="0"/>
              </a:p>
            </p:txBody>
          </p:sp>
        </p:grpSp>
        <p:grpSp>
          <p:nvGrpSpPr>
            <p:cNvPr id="63" name="Agrupar 62">
              <a:extLst>
                <a:ext uri="{FF2B5EF4-FFF2-40B4-BE49-F238E27FC236}">
                  <a16:creationId xmlns:a16="http://schemas.microsoft.com/office/drawing/2014/main" id="{114C1925-8C22-6769-28C5-E2057A64E2C5}"/>
                </a:ext>
              </a:extLst>
            </p:cNvPr>
            <p:cNvGrpSpPr/>
            <p:nvPr/>
          </p:nvGrpSpPr>
          <p:grpSpPr>
            <a:xfrm>
              <a:off x="640080" y="6106576"/>
              <a:ext cx="1440000" cy="347472"/>
              <a:chOff x="4087368" y="4590288"/>
              <a:chExt cx="1440000" cy="347472"/>
            </a:xfrm>
          </p:grpSpPr>
          <p:sp>
            <p:nvSpPr>
              <p:cNvPr id="64" name="Shape 12">
                <a:extLst>
                  <a:ext uri="{FF2B5EF4-FFF2-40B4-BE49-F238E27FC236}">
                    <a16:creationId xmlns:a16="http://schemas.microsoft.com/office/drawing/2014/main" id="{365CB638-FFC4-D99B-3545-7134C5BD9ACF}"/>
                  </a:ext>
                </a:extLst>
              </p:cNvPr>
              <p:cNvSpPr/>
              <p:nvPr/>
            </p:nvSpPr>
            <p:spPr>
              <a:xfrm>
                <a:off x="4087368" y="4590288"/>
                <a:ext cx="1440000" cy="347472"/>
              </a:xfrm>
              <a:prstGeom prst="roundRect">
                <a:avLst>
                  <a:gd name="adj" fmla="val 10526"/>
                </a:avLst>
              </a:prstGeom>
              <a:solidFill>
                <a:srgbClr val="007E7A">
                  <a:alpha val="82000"/>
                </a:srgbClr>
              </a:solidFill>
              <a:ln w="8890">
                <a:solidFill>
                  <a:srgbClr val="FFFFFF">
                    <a:alpha val="6500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pt-BR" sz="1000" noProof="0" dirty="0"/>
              </a:p>
            </p:txBody>
          </p:sp>
          <p:sp>
            <p:nvSpPr>
              <p:cNvPr id="65" name="Text 13">
                <a:extLst>
                  <a:ext uri="{FF2B5EF4-FFF2-40B4-BE49-F238E27FC236}">
                    <a16:creationId xmlns:a16="http://schemas.microsoft.com/office/drawing/2014/main" id="{F4ED9239-204E-8723-88A4-77A70E08BC8C}"/>
                  </a:ext>
                </a:extLst>
              </p:cNvPr>
              <p:cNvSpPr txBox="1"/>
              <p:nvPr/>
            </p:nvSpPr>
            <p:spPr>
              <a:xfrm>
                <a:off x="4087368" y="4590288"/>
                <a:ext cx="1440000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pt-BR" sz="1000" b="1" noProof="0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 que faço quando...?</a:t>
                </a:r>
                <a:endParaRPr lang="pt-BR" sz="1000" noProof="0" dirty="0"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353312"/>
          </a:xfrm>
          <a:prstGeom prst="rect">
            <a:avLst/>
          </a:prstGeom>
          <a:solidFill>
            <a:srgbClr val="007E7A"/>
          </a:solidFill>
          <a:ln w="12700">
            <a:solidFill>
              <a:srgbClr val="007E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 rot="900000">
            <a:off x="5961888" y="0"/>
            <a:ext cx="1600200" cy="1298448"/>
          </a:xfrm>
          <a:prstGeom prst="arc">
            <a:avLst/>
          </a:prstGeom>
          <a:solidFill>
            <a:srgbClr val="007E7A">
              <a:alpha val="0"/>
            </a:srgbClr>
          </a:solidFill>
          <a:ln w="228600">
            <a:solidFill>
              <a:srgbClr val="0ABB9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 rot="1500000">
            <a:off x="6355080" y="0"/>
            <a:ext cx="1207008" cy="1207008"/>
          </a:xfrm>
          <a:prstGeom prst="arc">
            <a:avLst/>
          </a:prstGeom>
          <a:solidFill>
            <a:srgbClr val="007E7A">
              <a:alpha val="0"/>
            </a:srgbClr>
          </a:solidFill>
          <a:ln w="139700">
            <a:solidFill>
              <a:srgbClr val="3CB5E5">
                <a:alpha val="62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420624" y="22860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100" b="1" noProof="0" dirty="0">
                <a:solidFill>
                  <a:srgbClr val="BC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POR AQUI</a:t>
            </a:r>
            <a:endParaRPr lang="pt-BR" sz="1100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420624" y="502920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2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papel do Fiscal na Vale</a:t>
            </a:r>
            <a:endParaRPr lang="pt-BR" sz="2500" noProof="0" dirty="0"/>
          </a:p>
        </p:txBody>
      </p:sp>
      <p:sp>
        <p:nvSpPr>
          <p:cNvPr id="7" name="Shape 5"/>
          <p:cNvSpPr/>
          <p:nvPr/>
        </p:nvSpPr>
        <p:spPr>
          <a:xfrm>
            <a:off x="6793992" y="475488"/>
            <a:ext cx="438912" cy="438912"/>
          </a:xfrm>
          <a:prstGeom prst="ellipse">
            <a:avLst/>
          </a:prstGeom>
          <a:solidFill>
            <a:srgbClr val="FFFFFF">
              <a:alpha val="18000"/>
            </a:srgbClr>
          </a:solidFill>
          <a:ln w="15240">
            <a:solidFill>
              <a:srgbClr val="FFFF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6793992" y="4754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pt-BR" sz="1200" noProof="0" dirty="0"/>
          </a:p>
        </p:txBody>
      </p:sp>
      <p:sp>
        <p:nvSpPr>
          <p:cNvPr id="9" name="Shape 7"/>
          <p:cNvSpPr/>
          <p:nvPr/>
        </p:nvSpPr>
        <p:spPr>
          <a:xfrm>
            <a:off x="0" y="1353312"/>
            <a:ext cx="7562088" cy="8805672"/>
          </a:xfrm>
          <a:prstGeom prst="rect">
            <a:avLst/>
          </a:prstGeom>
          <a:solidFill>
            <a:srgbClr val="F7FAF9"/>
          </a:solidFill>
          <a:ln w="12700">
            <a:solidFill>
              <a:srgbClr val="F7FA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274320" y="1581912"/>
            <a:ext cx="3456432" cy="8193024"/>
          </a:xfrm>
          <a:prstGeom prst="roundRect">
            <a:avLst>
              <a:gd name="adj" fmla="val 1323"/>
            </a:avLst>
          </a:prstGeom>
          <a:solidFill>
            <a:srgbClr val="FFFFFF"/>
          </a:solidFill>
          <a:ln w="8890">
            <a:solidFill>
              <a:srgbClr val="E4EFE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9"/>
          <p:cNvSpPr/>
          <p:nvPr/>
        </p:nvSpPr>
        <p:spPr>
          <a:xfrm>
            <a:off x="3822192" y="1581912"/>
            <a:ext cx="3456432" cy="8193024"/>
          </a:xfrm>
          <a:prstGeom prst="roundRect">
            <a:avLst>
              <a:gd name="adj" fmla="val 1323"/>
            </a:avLst>
          </a:prstGeom>
          <a:solidFill>
            <a:srgbClr val="F1F8F7"/>
          </a:solidFill>
          <a:ln w="8890">
            <a:solidFill>
              <a:srgbClr val="E4EFE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Shape 10"/>
          <p:cNvSpPr/>
          <p:nvPr/>
        </p:nvSpPr>
        <p:spPr>
          <a:xfrm>
            <a:off x="6080760" y="8183880"/>
            <a:ext cx="1783080" cy="1783080"/>
          </a:xfrm>
          <a:prstGeom prst="ellipse">
            <a:avLst/>
          </a:prstGeom>
          <a:solidFill>
            <a:srgbClr val="FFFFFF">
              <a:alpha val="0"/>
            </a:srgbClr>
          </a:solidFill>
          <a:ln w="63500">
            <a:solidFill>
              <a:srgbClr val="0ABB98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6281928" y="836676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3900" b="1" noProof="0" dirty="0">
                <a:solidFill>
                  <a:srgbClr val="DC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pt-BR" sz="3900" noProof="0" dirty="0"/>
          </a:p>
        </p:txBody>
      </p:sp>
      <p:sp>
        <p:nvSpPr>
          <p:cNvPr id="14" name="Text 12"/>
          <p:cNvSpPr txBox="1"/>
          <p:nvPr/>
        </p:nvSpPr>
        <p:spPr>
          <a:xfrm>
            <a:off x="320041" y="1746504"/>
            <a:ext cx="6912864" cy="6600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1400" noProof="0" dirty="0">
                <a:solidFill>
                  <a:srgbClr val="30383B"/>
                </a:solidFill>
                <a:ea typeface="Calibri" pitchFamily="34" charset="-122"/>
                <a:cs typeface="Calibri" pitchFamily="34" charset="-120"/>
              </a:rPr>
              <a:t>O Fiscal acompanha a execução técnica do contrato para assegurar que o serviço seja realizado conforme o contratado, com qualidade, conformidade e controle dos riscos.</a:t>
            </a:r>
            <a:endParaRPr lang="pt-BR" sz="1400" noProof="0" dirty="0"/>
          </a:p>
        </p:txBody>
      </p: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03646172-791E-C45F-DB3E-C5BD5C926511}"/>
              </a:ext>
            </a:extLst>
          </p:cNvPr>
          <p:cNvGrpSpPr/>
          <p:nvPr/>
        </p:nvGrpSpPr>
        <p:grpSpPr>
          <a:xfrm>
            <a:off x="450318" y="2686551"/>
            <a:ext cx="3152322" cy="332594"/>
            <a:chOff x="450318" y="2686551"/>
            <a:chExt cx="3152322" cy="332594"/>
          </a:xfrm>
        </p:grpSpPr>
        <p:sp>
          <p:nvSpPr>
            <p:cNvPr id="15" name="Shape 13"/>
            <p:cNvSpPr/>
            <p:nvPr/>
          </p:nvSpPr>
          <p:spPr>
            <a:xfrm>
              <a:off x="450318" y="2686551"/>
              <a:ext cx="3152322" cy="332594"/>
            </a:xfrm>
            <a:prstGeom prst="roundRect">
              <a:avLst>
                <a:gd name="adj" fmla="val 9623"/>
              </a:avLst>
            </a:prstGeom>
            <a:solidFill>
              <a:srgbClr val="3CB5E5">
                <a:alpha val="10000"/>
              </a:srgbClr>
            </a:solidFill>
            <a:ln w="10160">
              <a:solidFill>
                <a:srgbClr val="3CB5E5">
                  <a:alpha val="28000"/>
                </a:srgbClr>
              </a:solidFill>
              <a:prstDash val="solid"/>
            </a:ln>
          </p:spPr>
          <p:txBody>
            <a:bodyPr/>
            <a:lstStyle/>
            <a:p>
              <a:endParaRPr lang="pt-BR" sz="2000" noProof="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450318" y="2686551"/>
              <a:ext cx="45720" cy="332594"/>
            </a:xfrm>
            <a:prstGeom prst="rect">
              <a:avLst/>
            </a:prstGeom>
            <a:solidFill>
              <a:srgbClr val="3CB5E5"/>
            </a:solidFill>
            <a:ln w="12700">
              <a:solidFill>
                <a:srgbClr val="3CB5E5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pt-BR" sz="2000" noProof="0" dirty="0"/>
            </a:p>
          </p:txBody>
        </p:sp>
        <p:sp>
          <p:nvSpPr>
            <p:cNvPr id="17" name="Text 15"/>
            <p:cNvSpPr txBox="1"/>
            <p:nvPr/>
          </p:nvSpPr>
          <p:spPr>
            <a:xfrm>
              <a:off x="528042" y="2718555"/>
              <a:ext cx="2996874" cy="2640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3CB5E5"/>
                  </a:solidFill>
                  <a:ea typeface="Calibri" pitchFamily="34" charset="-122"/>
                  <a:cs typeface="Calibri" pitchFamily="34" charset="-120"/>
                </a:rPr>
                <a:t>ACOMPANHAR</a:t>
              </a:r>
              <a:endParaRPr lang="pt-BR" sz="1600" noProof="0" dirty="0"/>
            </a:p>
          </p:txBody>
        </p:sp>
      </p:grpSp>
      <p:grpSp>
        <p:nvGrpSpPr>
          <p:cNvPr id="53" name="Agrupar 52">
            <a:extLst>
              <a:ext uri="{FF2B5EF4-FFF2-40B4-BE49-F238E27FC236}">
                <a16:creationId xmlns:a16="http://schemas.microsoft.com/office/drawing/2014/main" id="{85397E40-37B1-DAA5-3196-98BDC4C97716}"/>
              </a:ext>
            </a:extLst>
          </p:cNvPr>
          <p:cNvGrpSpPr/>
          <p:nvPr/>
        </p:nvGrpSpPr>
        <p:grpSpPr>
          <a:xfrm>
            <a:off x="3910470" y="2686551"/>
            <a:ext cx="3152322" cy="332594"/>
            <a:chOff x="3910470" y="2686551"/>
            <a:chExt cx="3152322" cy="332594"/>
          </a:xfrm>
        </p:grpSpPr>
        <p:sp>
          <p:nvSpPr>
            <p:cNvPr id="18" name="Shape 16"/>
            <p:cNvSpPr/>
            <p:nvPr/>
          </p:nvSpPr>
          <p:spPr>
            <a:xfrm>
              <a:off x="3910470" y="2686551"/>
              <a:ext cx="3152322" cy="332594"/>
            </a:xfrm>
            <a:prstGeom prst="roundRect">
              <a:avLst>
                <a:gd name="adj" fmla="val 9623"/>
              </a:avLst>
            </a:prstGeom>
            <a:solidFill>
              <a:srgbClr val="0ABB98">
                <a:alpha val="10000"/>
              </a:srgbClr>
            </a:solidFill>
            <a:ln w="10160">
              <a:solidFill>
                <a:srgbClr val="0ABB98">
                  <a:alpha val="28000"/>
                </a:srgbClr>
              </a:solidFill>
              <a:prstDash val="solid"/>
            </a:ln>
          </p:spPr>
          <p:txBody>
            <a:bodyPr/>
            <a:lstStyle/>
            <a:p>
              <a:endParaRPr lang="pt-BR" sz="2000" noProof="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3910470" y="2686551"/>
              <a:ext cx="45720" cy="332594"/>
            </a:xfrm>
            <a:prstGeom prst="rect">
              <a:avLst/>
            </a:prstGeom>
            <a:solidFill>
              <a:srgbClr val="0ABB98"/>
            </a:solidFill>
            <a:ln w="12700">
              <a:solidFill>
                <a:srgbClr val="0ABB9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pt-BR" sz="2000" noProof="0" dirty="0"/>
            </a:p>
          </p:txBody>
        </p:sp>
        <p:sp>
          <p:nvSpPr>
            <p:cNvPr id="20" name="Text 18"/>
            <p:cNvSpPr txBox="1"/>
            <p:nvPr/>
          </p:nvSpPr>
          <p:spPr>
            <a:xfrm>
              <a:off x="3988194" y="2718555"/>
              <a:ext cx="2996874" cy="2640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0ABB98"/>
                  </a:solidFill>
                  <a:ea typeface="Calibri" pitchFamily="34" charset="-122"/>
                  <a:cs typeface="Calibri" pitchFamily="34" charset="-120"/>
                </a:rPr>
                <a:t>VERIFICAR</a:t>
              </a:r>
              <a:endParaRPr lang="pt-BR" sz="1600" noProof="0" dirty="0"/>
            </a:p>
          </p:txBody>
        </p:sp>
      </p:grpSp>
      <p:sp>
        <p:nvSpPr>
          <p:cNvPr id="21" name="Text 19"/>
          <p:cNvSpPr txBox="1"/>
          <p:nvPr/>
        </p:nvSpPr>
        <p:spPr>
          <a:xfrm>
            <a:off x="483404" y="3072545"/>
            <a:ext cx="2996874" cy="60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ea typeface="Calibri" pitchFamily="34" charset="-122"/>
                <a:cs typeface="Calibri" pitchFamily="34" charset="-120"/>
              </a:rPr>
              <a:t>A execução dos serviços em campo.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3925342" y="3072545"/>
            <a:ext cx="2996874" cy="60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ea typeface="Calibri" pitchFamily="34" charset="-122"/>
                <a:cs typeface="Calibri" pitchFamily="34" charset="-120"/>
              </a:rPr>
              <a:t>Qualidade, quantidade, requisitos técnicos, SLA e condições de execução.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0" name="Agrupar 49">
            <a:extLst>
              <a:ext uri="{FF2B5EF4-FFF2-40B4-BE49-F238E27FC236}">
                <a16:creationId xmlns:a16="http://schemas.microsoft.com/office/drawing/2014/main" id="{8F3FC6DC-ABED-47BB-6146-111AFBD12194}"/>
              </a:ext>
            </a:extLst>
          </p:cNvPr>
          <p:cNvGrpSpPr/>
          <p:nvPr/>
        </p:nvGrpSpPr>
        <p:grpSpPr>
          <a:xfrm>
            <a:off x="450318" y="3922615"/>
            <a:ext cx="3152322" cy="332594"/>
            <a:chOff x="450318" y="3922615"/>
            <a:chExt cx="3152322" cy="332594"/>
          </a:xfrm>
        </p:grpSpPr>
        <p:sp>
          <p:nvSpPr>
            <p:cNvPr id="23" name="Shape 21"/>
            <p:cNvSpPr/>
            <p:nvPr/>
          </p:nvSpPr>
          <p:spPr>
            <a:xfrm>
              <a:off x="450318" y="3922615"/>
              <a:ext cx="3152322" cy="332594"/>
            </a:xfrm>
            <a:prstGeom prst="roundRect">
              <a:avLst>
                <a:gd name="adj" fmla="val 9623"/>
              </a:avLst>
            </a:prstGeom>
            <a:solidFill>
              <a:srgbClr val="EDB111">
                <a:alpha val="10000"/>
              </a:srgbClr>
            </a:solidFill>
            <a:ln w="10160">
              <a:solidFill>
                <a:srgbClr val="EDB111">
                  <a:alpha val="28000"/>
                </a:srgbClr>
              </a:solidFill>
              <a:prstDash val="solid"/>
            </a:ln>
          </p:spPr>
          <p:txBody>
            <a:bodyPr/>
            <a:lstStyle/>
            <a:p>
              <a:endParaRPr lang="pt-BR" sz="2000" noProof="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450318" y="3922615"/>
              <a:ext cx="45720" cy="332594"/>
            </a:xfrm>
            <a:prstGeom prst="rect">
              <a:avLst/>
            </a:prstGeom>
            <a:solidFill>
              <a:srgbClr val="EDB111"/>
            </a:solidFill>
            <a:ln w="12700">
              <a:solidFill>
                <a:srgbClr val="EDB111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pt-BR" sz="2000" noProof="0" dirty="0"/>
            </a:p>
          </p:txBody>
        </p:sp>
        <p:sp>
          <p:nvSpPr>
            <p:cNvPr id="25" name="Text 23"/>
            <p:cNvSpPr txBox="1"/>
            <p:nvPr/>
          </p:nvSpPr>
          <p:spPr>
            <a:xfrm>
              <a:off x="528042" y="3954619"/>
              <a:ext cx="2996874" cy="2640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EDB111"/>
                  </a:solidFill>
                  <a:ea typeface="Calibri" pitchFamily="34" charset="-122"/>
                  <a:cs typeface="Calibri" pitchFamily="34" charset="-120"/>
                </a:rPr>
                <a:t>REGISTRAR</a:t>
              </a:r>
              <a:endParaRPr lang="pt-BR" sz="1600" noProof="0" dirty="0"/>
            </a:p>
          </p:txBody>
        </p:sp>
      </p:grp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8924D354-477C-2638-8A8B-453A45B30114}"/>
              </a:ext>
            </a:extLst>
          </p:cNvPr>
          <p:cNvGrpSpPr/>
          <p:nvPr/>
        </p:nvGrpSpPr>
        <p:grpSpPr>
          <a:xfrm>
            <a:off x="3910470" y="3922615"/>
            <a:ext cx="3152322" cy="332594"/>
            <a:chOff x="3910470" y="3922615"/>
            <a:chExt cx="3152322" cy="332594"/>
          </a:xfrm>
        </p:grpSpPr>
        <p:sp>
          <p:nvSpPr>
            <p:cNvPr id="26" name="Shape 24"/>
            <p:cNvSpPr/>
            <p:nvPr/>
          </p:nvSpPr>
          <p:spPr>
            <a:xfrm>
              <a:off x="3910470" y="3922615"/>
              <a:ext cx="3152322" cy="332594"/>
            </a:xfrm>
            <a:prstGeom prst="roundRect">
              <a:avLst>
                <a:gd name="adj" fmla="val 9623"/>
              </a:avLst>
            </a:prstGeom>
            <a:solidFill>
              <a:srgbClr val="007E7A">
                <a:alpha val="10000"/>
              </a:srgbClr>
            </a:solidFill>
            <a:ln w="10160">
              <a:solidFill>
                <a:srgbClr val="007E7A">
                  <a:alpha val="28000"/>
                </a:srgbClr>
              </a:solidFill>
              <a:prstDash val="solid"/>
            </a:ln>
          </p:spPr>
          <p:txBody>
            <a:bodyPr/>
            <a:lstStyle/>
            <a:p>
              <a:endParaRPr lang="pt-BR" sz="2000" noProof="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3910470" y="3922615"/>
              <a:ext cx="45720" cy="332594"/>
            </a:xfrm>
            <a:prstGeom prst="rect">
              <a:avLst/>
            </a:prstGeom>
            <a:solidFill>
              <a:srgbClr val="007E7A"/>
            </a:solidFill>
            <a:ln w="12700">
              <a:solidFill>
                <a:srgbClr val="007E7A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pt-BR" sz="2000" noProof="0" dirty="0"/>
            </a:p>
          </p:txBody>
        </p:sp>
        <p:sp>
          <p:nvSpPr>
            <p:cNvPr id="28" name="Text 26"/>
            <p:cNvSpPr txBox="1"/>
            <p:nvPr/>
          </p:nvSpPr>
          <p:spPr>
            <a:xfrm>
              <a:off x="3988194" y="3954619"/>
              <a:ext cx="2996874" cy="2640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007E7A"/>
                  </a:solidFill>
                  <a:ea typeface="Calibri" pitchFamily="34" charset="-122"/>
                  <a:cs typeface="Calibri" pitchFamily="34" charset="-120"/>
                </a:rPr>
                <a:t>VALIDAR</a:t>
              </a:r>
              <a:endParaRPr lang="pt-BR" sz="1600" noProof="0" dirty="0"/>
            </a:p>
          </p:txBody>
        </p:sp>
      </p:grpSp>
      <p:sp>
        <p:nvSpPr>
          <p:cNvPr id="29" name="Text 27"/>
          <p:cNvSpPr txBox="1"/>
          <p:nvPr/>
        </p:nvSpPr>
        <p:spPr>
          <a:xfrm>
            <a:off x="541854" y="4309094"/>
            <a:ext cx="2996874" cy="60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ea typeface="Calibri" pitchFamily="34" charset="-122"/>
                <a:cs typeface="Calibri" pitchFamily="34" charset="-120"/>
              </a:rPr>
              <a:t>Evidências, ocorrências, desvios e informações relevantes.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3956190" y="4309094"/>
            <a:ext cx="2996874" cy="60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ea typeface="Calibri" pitchFamily="34" charset="-122"/>
                <a:cs typeface="Calibri" pitchFamily="34" charset="-120"/>
              </a:rPr>
              <a:t>Tecnicamente os serviços executados e as evidências que suportam a medição.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2" name="Agrupar 51">
            <a:extLst>
              <a:ext uri="{FF2B5EF4-FFF2-40B4-BE49-F238E27FC236}">
                <a16:creationId xmlns:a16="http://schemas.microsoft.com/office/drawing/2014/main" id="{E7CAC29F-B296-E067-AF47-4FC7224101DF}"/>
              </a:ext>
            </a:extLst>
          </p:cNvPr>
          <p:cNvGrpSpPr/>
          <p:nvPr/>
        </p:nvGrpSpPr>
        <p:grpSpPr>
          <a:xfrm>
            <a:off x="450318" y="5158679"/>
            <a:ext cx="3152322" cy="332594"/>
            <a:chOff x="450318" y="5158679"/>
            <a:chExt cx="3152322" cy="332594"/>
          </a:xfrm>
        </p:grpSpPr>
        <p:sp>
          <p:nvSpPr>
            <p:cNvPr id="31" name="Shape 29"/>
            <p:cNvSpPr/>
            <p:nvPr/>
          </p:nvSpPr>
          <p:spPr>
            <a:xfrm>
              <a:off x="450318" y="5158679"/>
              <a:ext cx="3152322" cy="332594"/>
            </a:xfrm>
            <a:prstGeom prst="roundRect">
              <a:avLst>
                <a:gd name="adj" fmla="val 9623"/>
              </a:avLst>
            </a:prstGeom>
            <a:solidFill>
              <a:srgbClr val="E37222">
                <a:alpha val="10000"/>
              </a:srgbClr>
            </a:solidFill>
            <a:ln w="10160">
              <a:solidFill>
                <a:srgbClr val="E37222">
                  <a:alpha val="28000"/>
                </a:srgbClr>
              </a:solidFill>
              <a:prstDash val="solid"/>
            </a:ln>
          </p:spPr>
          <p:txBody>
            <a:bodyPr/>
            <a:lstStyle/>
            <a:p>
              <a:endParaRPr lang="pt-BR" sz="2000" noProof="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450318" y="5158679"/>
              <a:ext cx="45720" cy="332594"/>
            </a:xfrm>
            <a:prstGeom prst="rect">
              <a:avLst/>
            </a:prstGeom>
            <a:solidFill>
              <a:srgbClr val="E37222"/>
            </a:solidFill>
            <a:ln w="12700">
              <a:solidFill>
                <a:srgbClr val="E37222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pt-BR" sz="2000" noProof="0" dirty="0"/>
            </a:p>
          </p:txBody>
        </p:sp>
        <p:sp>
          <p:nvSpPr>
            <p:cNvPr id="33" name="Text 31"/>
            <p:cNvSpPr txBox="1"/>
            <p:nvPr/>
          </p:nvSpPr>
          <p:spPr>
            <a:xfrm>
              <a:off x="528042" y="5190683"/>
              <a:ext cx="2996874" cy="2640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E37222"/>
                  </a:solidFill>
                  <a:ea typeface="Calibri" pitchFamily="34" charset="-122"/>
                  <a:cs typeface="Calibri" pitchFamily="34" charset="-120"/>
                </a:rPr>
                <a:t>COMUNICAR</a:t>
              </a:r>
              <a:endParaRPr lang="pt-BR" sz="1600" noProof="0" dirty="0"/>
            </a:p>
          </p:txBody>
        </p:sp>
      </p:grpSp>
      <p:sp>
        <p:nvSpPr>
          <p:cNvPr id="34" name="Text 32"/>
          <p:cNvSpPr txBox="1"/>
          <p:nvPr/>
        </p:nvSpPr>
        <p:spPr>
          <a:xfrm>
            <a:off x="483404" y="5562675"/>
            <a:ext cx="2996874" cy="60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ea typeface="Calibri" pitchFamily="34" charset="-122"/>
                <a:cs typeface="Calibri" pitchFamily="34" charset="-120"/>
              </a:rPr>
              <a:t>Desvios, riscos e não conformidades ao Gestor e às interfaces aplicáveis.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6" name="Agrupar 55">
            <a:extLst>
              <a:ext uri="{FF2B5EF4-FFF2-40B4-BE49-F238E27FC236}">
                <a16:creationId xmlns:a16="http://schemas.microsoft.com/office/drawing/2014/main" id="{91EF571F-803B-8D24-7A9A-3340764D7D89}"/>
              </a:ext>
            </a:extLst>
          </p:cNvPr>
          <p:cNvGrpSpPr/>
          <p:nvPr/>
        </p:nvGrpSpPr>
        <p:grpSpPr>
          <a:xfrm>
            <a:off x="382604" y="6496462"/>
            <a:ext cx="1037844" cy="369464"/>
            <a:chOff x="382604" y="6496462"/>
            <a:chExt cx="1037844" cy="369464"/>
          </a:xfrm>
        </p:grpSpPr>
        <p:sp>
          <p:nvSpPr>
            <p:cNvPr id="35" name="Shape 33"/>
            <p:cNvSpPr/>
            <p:nvPr/>
          </p:nvSpPr>
          <p:spPr>
            <a:xfrm>
              <a:off x="382604" y="6496462"/>
              <a:ext cx="1037844" cy="364598"/>
            </a:xfrm>
            <a:prstGeom prst="roundRect">
              <a:avLst>
                <a:gd name="adj" fmla="val 10032"/>
              </a:avLst>
            </a:prstGeom>
            <a:solidFill>
              <a:srgbClr val="F1C7D4"/>
            </a:solidFill>
            <a:ln w="12700">
              <a:solidFill>
                <a:srgbClr val="C0305E"/>
              </a:solidFill>
              <a:prstDash val="solid"/>
            </a:ln>
          </p:spPr>
          <p:txBody>
            <a:bodyPr/>
            <a:lstStyle/>
            <a:p>
              <a:endParaRPr lang="pt-BR" sz="2000" noProof="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382604" y="6496462"/>
              <a:ext cx="50292" cy="364598"/>
            </a:xfrm>
            <a:prstGeom prst="rect">
              <a:avLst/>
            </a:prstGeom>
            <a:solidFill>
              <a:srgbClr val="C0305E"/>
            </a:solidFill>
            <a:ln w="12700">
              <a:solidFill>
                <a:srgbClr val="C0305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pt-BR" sz="2000" noProof="0" dirty="0"/>
            </a:p>
          </p:txBody>
        </p:sp>
        <p:sp>
          <p:nvSpPr>
            <p:cNvPr id="37" name="Text 35"/>
            <p:cNvSpPr txBox="1"/>
            <p:nvPr/>
          </p:nvSpPr>
          <p:spPr>
            <a:xfrm>
              <a:off x="447912" y="6531916"/>
              <a:ext cx="956414" cy="3340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b="1" noProof="0" dirty="0">
                  <a:solidFill>
                    <a:srgbClr val="C0305E"/>
                  </a:solidFill>
                  <a:ea typeface="Calibri" pitchFamily="34" charset="-122"/>
                  <a:cs typeface="Calibri" pitchFamily="34" charset="-120"/>
                </a:rPr>
                <a:t>ATENÇÃO</a:t>
              </a:r>
              <a:endParaRPr lang="pt-BR" noProof="0" dirty="0">
                <a:solidFill>
                  <a:srgbClr val="C0305E"/>
                </a:solidFill>
              </a:endParaRPr>
            </a:p>
          </p:txBody>
        </p:sp>
      </p:grp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27A45445-19D5-3CAA-BC4D-EEA63B463B3E}"/>
              </a:ext>
            </a:extLst>
          </p:cNvPr>
          <p:cNvGrpSpPr/>
          <p:nvPr/>
        </p:nvGrpSpPr>
        <p:grpSpPr>
          <a:xfrm>
            <a:off x="4174534" y="5825385"/>
            <a:ext cx="2702341" cy="332594"/>
            <a:chOff x="4257158" y="6623003"/>
            <a:chExt cx="2702341" cy="332594"/>
          </a:xfrm>
        </p:grpSpPr>
        <p:sp>
          <p:nvSpPr>
            <p:cNvPr id="38" name="Shape 36"/>
            <p:cNvSpPr/>
            <p:nvPr/>
          </p:nvSpPr>
          <p:spPr>
            <a:xfrm>
              <a:off x="4257158" y="6623003"/>
              <a:ext cx="2702341" cy="332594"/>
            </a:xfrm>
            <a:prstGeom prst="roundRect">
              <a:avLst>
                <a:gd name="adj" fmla="val 9623"/>
              </a:avLst>
            </a:prstGeom>
            <a:solidFill>
              <a:srgbClr val="007E7A">
                <a:alpha val="10000"/>
              </a:srgbClr>
            </a:solidFill>
            <a:ln w="10160">
              <a:solidFill>
                <a:srgbClr val="007E7A">
                  <a:alpha val="28000"/>
                </a:srgbClr>
              </a:solidFill>
              <a:prstDash val="solid"/>
            </a:ln>
          </p:spPr>
          <p:txBody>
            <a:bodyPr/>
            <a:lstStyle/>
            <a:p>
              <a:endParaRPr lang="pt-BR" sz="2000" noProof="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4257158" y="6623003"/>
              <a:ext cx="45720" cy="332594"/>
            </a:xfrm>
            <a:prstGeom prst="rect">
              <a:avLst/>
            </a:prstGeom>
            <a:solidFill>
              <a:srgbClr val="007E7A"/>
            </a:solidFill>
            <a:ln w="12700">
              <a:solidFill>
                <a:srgbClr val="007E7A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pt-BR" sz="2000" noProof="0" dirty="0"/>
            </a:p>
          </p:txBody>
        </p:sp>
        <p:sp>
          <p:nvSpPr>
            <p:cNvPr id="40" name="Text 38"/>
            <p:cNvSpPr txBox="1"/>
            <p:nvPr/>
          </p:nvSpPr>
          <p:spPr>
            <a:xfrm>
              <a:off x="4334882" y="6655007"/>
              <a:ext cx="2546893" cy="2640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007E7A"/>
                  </a:solidFill>
                  <a:ea typeface="Calibri" pitchFamily="34" charset="-122"/>
                  <a:cs typeface="Calibri" pitchFamily="34" charset="-120"/>
                </a:rPr>
                <a:t>Fiscal = execução e evidência</a:t>
              </a:r>
              <a:endParaRPr lang="pt-BR" sz="1600" noProof="0" dirty="0"/>
            </a:p>
          </p:txBody>
        </p:sp>
      </p:grpSp>
      <p:sp>
        <p:nvSpPr>
          <p:cNvPr id="41" name="Text 39"/>
          <p:cNvSpPr txBox="1"/>
          <p:nvPr/>
        </p:nvSpPr>
        <p:spPr>
          <a:xfrm>
            <a:off x="4235928" y="6196644"/>
            <a:ext cx="2546893" cy="780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ea typeface="Calibri" pitchFamily="34" charset="-122"/>
                <a:cs typeface="Calibri" pitchFamily="34" charset="-120"/>
              </a:rPr>
              <a:t>Atuação focada em acompanhar, verificar, registrar e validar o executado.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405680" y="7011958"/>
            <a:ext cx="3241597" cy="1262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1400" b="1" noProof="0" dirty="0">
                <a:solidFill>
                  <a:schemeClr val="tx1">
                    <a:lumMod val="75000"/>
                    <a:lumOff val="25000"/>
                  </a:schemeClr>
                </a:solidFill>
                <a:ea typeface="Calibri" pitchFamily="34" charset="-122"/>
                <a:cs typeface="Calibri" pitchFamily="34" charset="-120"/>
              </a:rPr>
              <a:t>Fiscalizar não significa gerir comercial ou financeiramente o contrato.</a:t>
            </a:r>
            <a:endParaRPr lang="pt-BR" sz="1400" b="1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ea typeface="Calibri" pitchFamily="34" charset="-122"/>
                <a:cs typeface="Calibri" pitchFamily="34" charset="-120"/>
              </a:rPr>
              <a:t>O Fiscal fornece a </a:t>
            </a:r>
            <a:r>
              <a:rPr lang="pt-BR" sz="1400" b="1" noProof="0" dirty="0">
                <a:solidFill>
                  <a:schemeClr val="tx1">
                    <a:lumMod val="75000"/>
                    <a:lumOff val="25000"/>
                  </a:schemeClr>
                </a:solidFill>
                <a:ea typeface="Calibri" pitchFamily="34" charset="-122"/>
                <a:cs typeface="Calibri" pitchFamily="34" charset="-120"/>
              </a:rPr>
              <a:t>visão técnica da execução</a:t>
            </a: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ea typeface="Calibri" pitchFamily="34" charset="-122"/>
                <a:cs typeface="Calibri" pitchFamily="34" charset="-120"/>
              </a:rPr>
              <a:t>. O Gestor utiliza essas informações na </a:t>
            </a:r>
            <a:r>
              <a:rPr lang="pt-BR" sz="1400" b="1" noProof="0" dirty="0">
                <a:solidFill>
                  <a:schemeClr val="tx1">
                    <a:lumMod val="75000"/>
                    <a:lumOff val="25000"/>
                  </a:schemeClr>
                </a:solidFill>
                <a:ea typeface="Calibri" pitchFamily="34" charset="-122"/>
                <a:cs typeface="Calibri" pitchFamily="34" charset="-120"/>
              </a:rPr>
              <a:t>gestão físico-financeira e contratual.</a:t>
            </a:r>
            <a:endParaRPr lang="pt-BR" sz="1400" b="1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B2F2EB11-5625-B3E5-4805-641402854C59}"/>
              </a:ext>
            </a:extLst>
          </p:cNvPr>
          <p:cNvGrpSpPr/>
          <p:nvPr/>
        </p:nvGrpSpPr>
        <p:grpSpPr>
          <a:xfrm>
            <a:off x="4174534" y="7141906"/>
            <a:ext cx="2702341" cy="332594"/>
            <a:chOff x="4257158" y="7939524"/>
            <a:chExt cx="2702341" cy="332594"/>
          </a:xfrm>
        </p:grpSpPr>
        <p:sp>
          <p:nvSpPr>
            <p:cNvPr id="43" name="Shape 41"/>
            <p:cNvSpPr/>
            <p:nvPr/>
          </p:nvSpPr>
          <p:spPr>
            <a:xfrm>
              <a:off x="4257158" y="7939524"/>
              <a:ext cx="2702341" cy="332594"/>
            </a:xfrm>
            <a:prstGeom prst="roundRect">
              <a:avLst>
                <a:gd name="adj" fmla="val 9623"/>
              </a:avLst>
            </a:prstGeom>
            <a:solidFill>
              <a:srgbClr val="E37222">
                <a:alpha val="10000"/>
              </a:srgbClr>
            </a:solidFill>
            <a:ln w="10160">
              <a:solidFill>
                <a:srgbClr val="E37222">
                  <a:alpha val="28000"/>
                </a:srgbClr>
              </a:solidFill>
              <a:prstDash val="solid"/>
            </a:ln>
          </p:spPr>
          <p:txBody>
            <a:bodyPr/>
            <a:lstStyle/>
            <a:p>
              <a:endParaRPr lang="pt-BR" sz="2000" noProof="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4257158" y="7939524"/>
              <a:ext cx="45720" cy="332594"/>
            </a:xfrm>
            <a:prstGeom prst="rect">
              <a:avLst/>
            </a:prstGeom>
            <a:solidFill>
              <a:srgbClr val="E37222"/>
            </a:solidFill>
            <a:ln w="12700">
              <a:solidFill>
                <a:srgbClr val="E37222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pt-BR" sz="2000" noProof="0" dirty="0"/>
            </a:p>
          </p:txBody>
        </p:sp>
        <p:sp>
          <p:nvSpPr>
            <p:cNvPr id="45" name="Text 43"/>
            <p:cNvSpPr txBox="1"/>
            <p:nvPr/>
          </p:nvSpPr>
          <p:spPr>
            <a:xfrm>
              <a:off x="4334882" y="7971528"/>
              <a:ext cx="2546893" cy="2640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E37222"/>
                  </a:solidFill>
                  <a:ea typeface="Calibri" pitchFamily="34" charset="-122"/>
                  <a:cs typeface="Calibri" pitchFamily="34" charset="-120"/>
                </a:rPr>
                <a:t>Gestor = gestão do contrato</a:t>
              </a:r>
              <a:endParaRPr lang="pt-BR" sz="1600" noProof="0" dirty="0"/>
            </a:p>
          </p:txBody>
        </p:sp>
      </p:grpSp>
      <p:sp>
        <p:nvSpPr>
          <p:cNvPr id="46" name="Text 44"/>
          <p:cNvSpPr txBox="1"/>
          <p:nvPr/>
        </p:nvSpPr>
        <p:spPr>
          <a:xfrm>
            <a:off x="4235928" y="7544771"/>
            <a:ext cx="2546893" cy="83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ea typeface="Calibri" pitchFamily="34" charset="-122"/>
                <a:cs typeface="Calibri" pitchFamily="34" charset="-120"/>
              </a:rPr>
              <a:t>Atuação voltada à gestão contratual, físico-financeira e ao tratamento das interfaces.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Text 45"/>
          <p:cNvSpPr txBox="1"/>
          <p:nvPr/>
        </p:nvSpPr>
        <p:spPr>
          <a:xfrm>
            <a:off x="500795" y="9494945"/>
            <a:ext cx="6479727" cy="60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1600" b="1" noProof="0" dirty="0">
                <a:solidFill>
                  <a:schemeClr val="tx1">
                    <a:lumMod val="75000"/>
                    <a:lumOff val="25000"/>
                  </a:schemeClr>
                </a:solidFill>
                <a:ea typeface="Calibri" pitchFamily="34" charset="-122"/>
                <a:cs typeface="Calibri" pitchFamily="34" charset="-120"/>
              </a:rPr>
              <a:t>Síntese prática: </a:t>
            </a: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ea typeface="Calibri" pitchFamily="34" charset="-122"/>
                <a:cs typeface="Calibri" pitchFamily="34" charset="-120"/>
              </a:rPr>
              <a:t>o Fiscal é a referência técnica do contrato em campo e deve transformar o que observa em evidência confiável para a gestão.</a:t>
            </a: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8" name="Shape 46"/>
          <p:cNvSpPr/>
          <p:nvPr/>
        </p:nvSpPr>
        <p:spPr>
          <a:xfrm>
            <a:off x="320040" y="10232136"/>
            <a:ext cx="6922008" cy="1"/>
          </a:xfrm>
          <a:prstGeom prst="line">
            <a:avLst/>
          </a:prstGeom>
          <a:noFill/>
          <a:ln w="10160">
            <a:solidFill>
              <a:srgbClr val="D9E5E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1" name="Text 49"/>
          <p:cNvSpPr txBox="1"/>
          <p:nvPr/>
        </p:nvSpPr>
        <p:spPr>
          <a:xfrm>
            <a:off x="6355080" y="1030528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pt-BR" sz="800" b="1" noProof="0" dirty="0">
                <a:solidFill>
                  <a:srgbClr val="667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pt-BR" sz="800" noProof="0" dirty="0"/>
          </a:p>
        </p:txBody>
      </p:sp>
      <p:sp>
        <p:nvSpPr>
          <p:cNvPr id="54" name="Text 26">
            <a:extLst>
              <a:ext uri="{FF2B5EF4-FFF2-40B4-BE49-F238E27FC236}">
                <a16:creationId xmlns:a16="http://schemas.microsoft.com/office/drawing/2014/main" id="{46BB79C0-0740-EDCD-217B-B1800BD3562E}"/>
              </a:ext>
            </a:extLst>
          </p:cNvPr>
          <p:cNvSpPr txBox="1"/>
          <p:nvPr/>
        </p:nvSpPr>
        <p:spPr>
          <a:xfrm>
            <a:off x="1467612" y="10367743"/>
            <a:ext cx="452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9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 de Serviços Operacionais e Segurança Empresarial| Vale S.A.</a:t>
            </a:r>
            <a:endParaRPr lang="pt-BR" sz="9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353312"/>
          </a:xfrm>
          <a:prstGeom prst="rect">
            <a:avLst/>
          </a:prstGeom>
          <a:solidFill>
            <a:srgbClr val="007E7A"/>
          </a:solidFill>
          <a:ln w="12700">
            <a:solidFill>
              <a:srgbClr val="007E7A">
                <a:alpha val="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 rot="900000">
            <a:off x="5961888" y="0"/>
            <a:ext cx="1600200" cy="1298448"/>
          </a:xfrm>
          <a:prstGeom prst="arc">
            <a:avLst/>
          </a:prstGeom>
          <a:solidFill>
            <a:srgbClr val="007E7A">
              <a:alpha val="0"/>
            </a:srgbClr>
          </a:solidFill>
          <a:ln w="228600">
            <a:solidFill>
              <a:srgbClr val="0ABB98">
                <a:alpha val="5500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 rot="1500000">
            <a:off x="6355080" y="0"/>
            <a:ext cx="1207008" cy="1207008"/>
          </a:xfrm>
          <a:prstGeom prst="arc">
            <a:avLst/>
          </a:prstGeom>
          <a:solidFill>
            <a:srgbClr val="007E7A">
              <a:alpha val="0"/>
            </a:srgbClr>
          </a:solidFill>
          <a:ln w="139700">
            <a:solidFill>
              <a:srgbClr val="3CB5E5">
                <a:alpha val="6200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420624" y="22860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100" b="1" noProof="0" dirty="0">
                <a:solidFill>
                  <a:srgbClr val="BC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INICIAR</a:t>
            </a:r>
            <a:endParaRPr lang="pt-BR" sz="1100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420624" y="502920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2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Estou habilitado para fiscalizar?</a:t>
            </a:r>
            <a:endParaRPr lang="pt-BR" sz="2500" noProof="0" dirty="0"/>
          </a:p>
        </p:txBody>
      </p:sp>
      <p:sp>
        <p:nvSpPr>
          <p:cNvPr id="7" name="Shape 5"/>
          <p:cNvSpPr/>
          <p:nvPr/>
        </p:nvSpPr>
        <p:spPr>
          <a:xfrm>
            <a:off x="6793992" y="475488"/>
            <a:ext cx="438912" cy="438912"/>
          </a:xfrm>
          <a:prstGeom prst="ellipse">
            <a:avLst/>
          </a:prstGeom>
          <a:solidFill>
            <a:srgbClr val="FFFFFF">
              <a:alpha val="18000"/>
            </a:srgbClr>
          </a:solidFill>
          <a:ln w="15240">
            <a:solidFill>
              <a:srgbClr val="FFFFFF">
                <a:alpha val="7500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6793992" y="4754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pt-BR" sz="1200" noProof="0" dirty="0"/>
          </a:p>
        </p:txBody>
      </p:sp>
      <p:sp>
        <p:nvSpPr>
          <p:cNvPr id="9" name="Shape 7"/>
          <p:cNvSpPr/>
          <p:nvPr/>
        </p:nvSpPr>
        <p:spPr>
          <a:xfrm>
            <a:off x="0" y="1353312"/>
            <a:ext cx="7562088" cy="8805672"/>
          </a:xfrm>
          <a:prstGeom prst="rect">
            <a:avLst/>
          </a:prstGeom>
          <a:solidFill>
            <a:srgbClr val="F7FAF9"/>
          </a:solidFill>
          <a:ln w="12700">
            <a:solidFill>
              <a:srgbClr val="F7FAF9">
                <a:alpha val="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274320" y="1581912"/>
            <a:ext cx="3456432" cy="8193024"/>
          </a:xfrm>
          <a:prstGeom prst="roundRect">
            <a:avLst>
              <a:gd name="adj" fmla="val 1323"/>
            </a:avLst>
          </a:prstGeom>
          <a:solidFill>
            <a:srgbClr val="FFFFFF"/>
          </a:solidFill>
          <a:ln w="8890">
            <a:solidFill>
              <a:srgbClr val="E4EFED"/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11" name="Shape 9"/>
          <p:cNvSpPr/>
          <p:nvPr/>
        </p:nvSpPr>
        <p:spPr>
          <a:xfrm>
            <a:off x="3822192" y="1581912"/>
            <a:ext cx="3456432" cy="8193024"/>
          </a:xfrm>
          <a:prstGeom prst="roundRect">
            <a:avLst>
              <a:gd name="adj" fmla="val 1323"/>
            </a:avLst>
          </a:prstGeom>
          <a:solidFill>
            <a:srgbClr val="F1F8F7"/>
          </a:solidFill>
          <a:ln w="8890">
            <a:solidFill>
              <a:srgbClr val="E4EFED"/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12" name="Shape 10"/>
          <p:cNvSpPr/>
          <p:nvPr/>
        </p:nvSpPr>
        <p:spPr>
          <a:xfrm>
            <a:off x="6080760" y="8183880"/>
            <a:ext cx="1783080" cy="1783080"/>
          </a:xfrm>
          <a:prstGeom prst="ellipse">
            <a:avLst/>
          </a:prstGeom>
          <a:solidFill>
            <a:srgbClr val="FFFFFF">
              <a:alpha val="0"/>
            </a:srgbClr>
          </a:solidFill>
          <a:ln w="63500">
            <a:solidFill>
              <a:srgbClr val="0ABB98">
                <a:alpha val="2200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6281928" y="836676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3900" b="1" noProof="0" dirty="0">
                <a:solidFill>
                  <a:srgbClr val="DC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pt-BR" sz="3900" noProof="0" dirty="0"/>
          </a:p>
        </p:txBody>
      </p:sp>
      <p:grpSp>
        <p:nvGrpSpPr>
          <p:cNvPr id="40" name="Agrupar 39">
            <a:extLst>
              <a:ext uri="{FF2B5EF4-FFF2-40B4-BE49-F238E27FC236}">
                <a16:creationId xmlns:a16="http://schemas.microsoft.com/office/drawing/2014/main" id="{3C4BCBBE-8FCB-82E1-E4CB-DCD7291BD0B2}"/>
              </a:ext>
            </a:extLst>
          </p:cNvPr>
          <p:cNvGrpSpPr/>
          <p:nvPr/>
        </p:nvGrpSpPr>
        <p:grpSpPr>
          <a:xfrm>
            <a:off x="3956897" y="1712008"/>
            <a:ext cx="2879879" cy="418105"/>
            <a:chOff x="3577469" y="1696212"/>
            <a:chExt cx="2879879" cy="418105"/>
          </a:xfrm>
        </p:grpSpPr>
        <p:sp>
          <p:nvSpPr>
            <p:cNvPr id="14" name="Shape 12"/>
            <p:cNvSpPr/>
            <p:nvPr/>
          </p:nvSpPr>
          <p:spPr>
            <a:xfrm>
              <a:off x="3577469" y="1696212"/>
              <a:ext cx="2879879" cy="418105"/>
            </a:xfrm>
            <a:prstGeom prst="roundRect">
              <a:avLst>
                <a:gd name="adj" fmla="val 8748"/>
              </a:avLst>
            </a:prstGeom>
            <a:solidFill>
              <a:srgbClr val="FFF2E8"/>
            </a:solidFill>
            <a:ln w="12700">
              <a:solidFill>
                <a:srgbClr val="E37222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3577470" y="1696212"/>
              <a:ext cx="50292" cy="418105"/>
            </a:xfrm>
            <a:prstGeom prst="rect">
              <a:avLst/>
            </a:prstGeom>
            <a:solidFill>
              <a:srgbClr val="E37222"/>
            </a:solidFill>
            <a:ln w="12700">
              <a:solidFill>
                <a:srgbClr val="E37222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16" name="Text 14"/>
            <p:cNvSpPr txBox="1"/>
            <p:nvPr/>
          </p:nvSpPr>
          <p:spPr>
            <a:xfrm>
              <a:off x="3627762" y="1752854"/>
              <a:ext cx="2786801" cy="304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pt-BR" sz="1160" b="1" noProof="0" dirty="0">
                  <a:solidFill>
                    <a:srgbClr val="E37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CURSOS </a:t>
              </a:r>
              <a:r>
                <a:rPr lang="pt-BR" sz="1160" b="1" dirty="0">
                  <a:solidFill>
                    <a:srgbClr val="E37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 TREINAMENTOS </a:t>
              </a:r>
              <a:r>
                <a:rPr lang="pt-BR" sz="1160" b="1" noProof="0" dirty="0">
                  <a:solidFill>
                    <a:srgbClr val="E37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RECOMENDADOS</a:t>
              </a:r>
              <a:endParaRPr lang="pt-BR" sz="1160" noProof="0" dirty="0"/>
            </a:p>
          </p:txBody>
        </p:sp>
      </p:grpSp>
      <p:sp>
        <p:nvSpPr>
          <p:cNvPr id="17" name="Text 15"/>
          <p:cNvSpPr txBox="1"/>
          <p:nvPr/>
        </p:nvSpPr>
        <p:spPr>
          <a:xfrm>
            <a:off x="402047" y="1771906"/>
            <a:ext cx="3253098" cy="279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assumir a fiscalização, confirme: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528042" y="2356144"/>
            <a:ext cx="2816881" cy="279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600" b="1" noProof="0" dirty="0">
                <a:solidFill>
                  <a:srgbClr val="026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| Certificação</a:t>
            </a:r>
            <a:endParaRPr lang="pt-BR" sz="1600" b="1" noProof="0" dirty="0">
              <a:solidFill>
                <a:srgbClr val="026766"/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528042" y="2648262"/>
            <a:ext cx="2816881" cy="634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 o treinamento obrigatório </a:t>
            </a:r>
            <a:r>
              <a:rPr lang="pt-BR" sz="1400" i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Global de Gestão de Contratos </a:t>
            </a: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VES.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528042" y="3550021"/>
            <a:ext cx="2816881" cy="279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600" b="1" noProof="0" dirty="0">
                <a:solidFill>
                  <a:srgbClr val="026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| Nomeação</a:t>
            </a:r>
            <a:endParaRPr lang="pt-BR" sz="1600" b="1" noProof="0" dirty="0">
              <a:solidFill>
                <a:srgbClr val="026766"/>
              </a:solidFill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528042" y="3856675"/>
            <a:ext cx="3153381" cy="795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Minha nomeação como Fiscal de Contrato foi formalizada pelo meu VP-3 ou superior da minha área.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528042" y="4743897"/>
            <a:ext cx="2816881" cy="279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600" b="1" noProof="0" dirty="0">
                <a:solidFill>
                  <a:srgbClr val="026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| Cadastro</a:t>
            </a:r>
            <a:endParaRPr lang="pt-BR" sz="1600" b="1" noProof="0" dirty="0">
              <a:solidFill>
                <a:srgbClr val="026766"/>
              </a:solidFill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528042" y="5036016"/>
            <a:ext cx="2816881" cy="508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Estou corretamente cadastrado como Fiscal no SAP e demais sistemas aplicáveis.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528042" y="5937776"/>
            <a:ext cx="2816881" cy="279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600" b="1" noProof="0" dirty="0">
                <a:solidFill>
                  <a:srgbClr val="026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| Conhecimento</a:t>
            </a:r>
            <a:endParaRPr lang="pt-BR" sz="1600" b="1" noProof="0" dirty="0">
              <a:solidFill>
                <a:srgbClr val="026766"/>
              </a:solidFill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528042" y="6229895"/>
            <a:ext cx="2816881" cy="508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Recebi as informações e documentos necessários para iniciar a fiscalização.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69A8F31F-258D-4440-E72E-940CB6AC1086}"/>
              </a:ext>
            </a:extLst>
          </p:cNvPr>
          <p:cNvGrpSpPr/>
          <p:nvPr/>
        </p:nvGrpSpPr>
        <p:grpSpPr>
          <a:xfrm>
            <a:off x="382603" y="7297275"/>
            <a:ext cx="1558491" cy="450560"/>
            <a:chOff x="382603" y="7297275"/>
            <a:chExt cx="1558491" cy="450560"/>
          </a:xfrm>
        </p:grpSpPr>
        <p:sp>
          <p:nvSpPr>
            <p:cNvPr id="30" name="Shape 28"/>
            <p:cNvSpPr/>
            <p:nvPr/>
          </p:nvSpPr>
          <p:spPr>
            <a:xfrm>
              <a:off x="382603" y="7297275"/>
              <a:ext cx="1558491" cy="450560"/>
            </a:xfrm>
            <a:prstGeom prst="roundRect">
              <a:avLst>
                <a:gd name="adj" fmla="val 9625"/>
              </a:avLst>
            </a:prstGeom>
            <a:solidFill>
              <a:srgbClr val="FFF2E8"/>
            </a:solidFill>
            <a:ln w="12700">
              <a:solidFill>
                <a:srgbClr val="E37222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382604" y="7297275"/>
              <a:ext cx="50292" cy="380002"/>
            </a:xfrm>
            <a:prstGeom prst="rect">
              <a:avLst/>
            </a:prstGeom>
            <a:solidFill>
              <a:srgbClr val="E37222"/>
            </a:solidFill>
            <a:ln w="12700">
              <a:solidFill>
                <a:srgbClr val="E37222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32" name="Text 30"/>
            <p:cNvSpPr txBox="1"/>
            <p:nvPr/>
          </p:nvSpPr>
          <p:spPr>
            <a:xfrm>
              <a:off x="576632" y="7365603"/>
              <a:ext cx="1170432" cy="3139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E37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IMPORTANTE</a:t>
              </a:r>
              <a:endParaRPr lang="pt-BR" sz="1600" noProof="0" dirty="0"/>
            </a:p>
          </p:txBody>
        </p:sp>
      </p:grpSp>
      <p:sp>
        <p:nvSpPr>
          <p:cNvPr id="33" name="Text 31"/>
          <p:cNvSpPr txBox="1"/>
          <p:nvPr/>
        </p:nvSpPr>
        <p:spPr>
          <a:xfrm>
            <a:off x="432896" y="7843921"/>
            <a:ext cx="2929377" cy="9743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Curso Global de Gestão de Contratos (ID 1071588) é pré-requisito para a nomeação, mas não deve ser o único curso realizado pelo fiscal.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320040" y="10232136"/>
            <a:ext cx="6922008" cy="1"/>
          </a:xfrm>
          <a:prstGeom prst="line">
            <a:avLst/>
          </a:prstGeom>
          <a:noFill/>
          <a:ln w="10160">
            <a:solidFill>
              <a:srgbClr val="D9E5E3"/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42" name="Text 40"/>
          <p:cNvSpPr txBox="1"/>
          <p:nvPr/>
        </p:nvSpPr>
        <p:spPr>
          <a:xfrm>
            <a:off x="6355080" y="1030528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pt-BR" sz="800" b="1" noProof="0" dirty="0">
                <a:solidFill>
                  <a:srgbClr val="667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pt-BR" sz="800" noProof="0" dirty="0"/>
          </a:p>
        </p:txBody>
      </p:sp>
      <p:sp>
        <p:nvSpPr>
          <p:cNvPr id="44" name="Text 26">
            <a:extLst>
              <a:ext uri="{FF2B5EF4-FFF2-40B4-BE49-F238E27FC236}">
                <a16:creationId xmlns:a16="http://schemas.microsoft.com/office/drawing/2014/main" id="{28EB54B6-AAAE-EB1A-D2C0-72F971E5E892}"/>
              </a:ext>
            </a:extLst>
          </p:cNvPr>
          <p:cNvSpPr txBox="1"/>
          <p:nvPr/>
        </p:nvSpPr>
        <p:spPr>
          <a:xfrm>
            <a:off x="1481328" y="10305288"/>
            <a:ext cx="452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9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 de Serviços Operacionais e Segurança Empresarial| Vale S.A.</a:t>
            </a:r>
            <a:endParaRPr lang="pt-BR" sz="9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353312"/>
          </a:xfrm>
          <a:prstGeom prst="rect">
            <a:avLst/>
          </a:prstGeom>
          <a:solidFill>
            <a:srgbClr val="007E7A"/>
          </a:solidFill>
          <a:ln w="12700">
            <a:solidFill>
              <a:srgbClr val="007E7A">
                <a:alpha val="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 rot="900000">
            <a:off x="5961888" y="0"/>
            <a:ext cx="1600200" cy="1298448"/>
          </a:xfrm>
          <a:prstGeom prst="arc">
            <a:avLst/>
          </a:prstGeom>
          <a:solidFill>
            <a:srgbClr val="007E7A">
              <a:alpha val="0"/>
            </a:srgbClr>
          </a:solidFill>
          <a:ln w="228600">
            <a:solidFill>
              <a:srgbClr val="0ABB98">
                <a:alpha val="5500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 rot="1500000">
            <a:off x="6355080" y="0"/>
            <a:ext cx="1207008" cy="1207008"/>
          </a:xfrm>
          <a:prstGeom prst="arc">
            <a:avLst/>
          </a:prstGeom>
          <a:solidFill>
            <a:srgbClr val="007E7A">
              <a:alpha val="0"/>
            </a:srgbClr>
          </a:solidFill>
          <a:ln w="139700">
            <a:solidFill>
              <a:srgbClr val="3CB5E5">
                <a:alpha val="6200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420624" y="22860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100" b="1" noProof="0" dirty="0">
                <a:solidFill>
                  <a:srgbClr val="BC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IR A CAMPO</a:t>
            </a:r>
            <a:endParaRPr lang="pt-BR" sz="1100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420624" y="502920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2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Conheça o seu contrato</a:t>
            </a:r>
            <a:endParaRPr lang="pt-BR" sz="2500" noProof="0" dirty="0"/>
          </a:p>
        </p:txBody>
      </p:sp>
      <p:sp>
        <p:nvSpPr>
          <p:cNvPr id="7" name="Shape 5"/>
          <p:cNvSpPr/>
          <p:nvPr/>
        </p:nvSpPr>
        <p:spPr>
          <a:xfrm>
            <a:off x="6793992" y="475488"/>
            <a:ext cx="438912" cy="438912"/>
          </a:xfrm>
          <a:prstGeom prst="ellipse">
            <a:avLst/>
          </a:prstGeom>
          <a:solidFill>
            <a:srgbClr val="FFFFFF">
              <a:alpha val="18000"/>
            </a:srgbClr>
          </a:solidFill>
          <a:ln w="15240">
            <a:solidFill>
              <a:srgbClr val="FFFFFF">
                <a:alpha val="7500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6793992" y="4754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pt-BR" sz="1200" noProof="0" dirty="0"/>
          </a:p>
        </p:txBody>
      </p:sp>
      <p:sp>
        <p:nvSpPr>
          <p:cNvPr id="9" name="Shape 7"/>
          <p:cNvSpPr/>
          <p:nvPr/>
        </p:nvSpPr>
        <p:spPr>
          <a:xfrm>
            <a:off x="0" y="1353312"/>
            <a:ext cx="7562088" cy="8805672"/>
          </a:xfrm>
          <a:prstGeom prst="rect">
            <a:avLst/>
          </a:prstGeom>
          <a:solidFill>
            <a:srgbClr val="F7FAF9"/>
          </a:solidFill>
          <a:ln w="12700">
            <a:solidFill>
              <a:srgbClr val="F7FAF9">
                <a:alpha val="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274320" y="1581912"/>
            <a:ext cx="3456432" cy="8193024"/>
          </a:xfrm>
          <a:prstGeom prst="roundRect">
            <a:avLst>
              <a:gd name="adj" fmla="val 1323"/>
            </a:avLst>
          </a:prstGeom>
          <a:solidFill>
            <a:srgbClr val="FFFFFF"/>
          </a:solidFill>
          <a:ln w="8890">
            <a:solidFill>
              <a:srgbClr val="E4EFED"/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11" name="Shape 9"/>
          <p:cNvSpPr/>
          <p:nvPr/>
        </p:nvSpPr>
        <p:spPr>
          <a:xfrm>
            <a:off x="3822192" y="1581912"/>
            <a:ext cx="3456432" cy="8193024"/>
          </a:xfrm>
          <a:prstGeom prst="roundRect">
            <a:avLst>
              <a:gd name="adj" fmla="val 1323"/>
            </a:avLst>
          </a:prstGeom>
          <a:solidFill>
            <a:srgbClr val="F1F8F7"/>
          </a:solidFill>
          <a:ln w="8890">
            <a:solidFill>
              <a:srgbClr val="E4EFED"/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12" name="Shape 10"/>
          <p:cNvSpPr/>
          <p:nvPr/>
        </p:nvSpPr>
        <p:spPr>
          <a:xfrm>
            <a:off x="6080760" y="8183880"/>
            <a:ext cx="1783080" cy="1783080"/>
          </a:xfrm>
          <a:prstGeom prst="ellipse">
            <a:avLst/>
          </a:prstGeom>
          <a:solidFill>
            <a:srgbClr val="FFFFFF">
              <a:alpha val="0"/>
            </a:srgbClr>
          </a:solidFill>
          <a:ln w="63500">
            <a:solidFill>
              <a:srgbClr val="0ABB98">
                <a:alpha val="2200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6281928" y="836676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3900" b="1" noProof="0" dirty="0">
                <a:solidFill>
                  <a:srgbClr val="DC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pt-BR" sz="3900" noProof="0" dirty="0"/>
          </a:p>
        </p:txBody>
      </p:sp>
      <p:sp>
        <p:nvSpPr>
          <p:cNvPr id="14" name="Text 12"/>
          <p:cNvSpPr txBox="1"/>
          <p:nvPr/>
        </p:nvSpPr>
        <p:spPr>
          <a:xfrm>
            <a:off x="402047" y="1619838"/>
            <a:ext cx="6821713" cy="3968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só consegue fiscalizar aquilo que conhece.</a:t>
            </a:r>
            <a:endParaRPr lang="pt-BR" b="1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450318" y="2238833"/>
            <a:ext cx="5419072" cy="3468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iniciar a rotina de campo, tenha clareza sobre: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3" name="Agrupar 52">
            <a:extLst>
              <a:ext uri="{FF2B5EF4-FFF2-40B4-BE49-F238E27FC236}">
                <a16:creationId xmlns:a16="http://schemas.microsoft.com/office/drawing/2014/main" id="{570186E8-865B-4F72-CC00-FE791A2D554B}"/>
              </a:ext>
            </a:extLst>
          </p:cNvPr>
          <p:cNvGrpSpPr/>
          <p:nvPr/>
        </p:nvGrpSpPr>
        <p:grpSpPr>
          <a:xfrm>
            <a:off x="450318" y="2787638"/>
            <a:ext cx="3062326" cy="367369"/>
            <a:chOff x="450318" y="2501030"/>
            <a:chExt cx="3062326" cy="367369"/>
          </a:xfrm>
        </p:grpSpPr>
        <p:sp>
          <p:nvSpPr>
            <p:cNvPr id="16" name="Shape 14"/>
            <p:cNvSpPr/>
            <p:nvPr/>
          </p:nvSpPr>
          <p:spPr>
            <a:xfrm>
              <a:off x="450318" y="2501030"/>
              <a:ext cx="3062326" cy="367369"/>
            </a:xfrm>
            <a:prstGeom prst="roundRect">
              <a:avLst>
                <a:gd name="adj" fmla="val 8712"/>
              </a:avLst>
            </a:prstGeom>
            <a:solidFill>
              <a:srgbClr val="0ABB98">
                <a:alpha val="10000"/>
              </a:srgbClr>
            </a:solidFill>
            <a:ln w="10160">
              <a:solidFill>
                <a:srgbClr val="0ABB98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400" noProof="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50318" y="2501030"/>
              <a:ext cx="45720" cy="367369"/>
            </a:xfrm>
            <a:prstGeom prst="rect">
              <a:avLst/>
            </a:prstGeom>
            <a:solidFill>
              <a:srgbClr val="0ABB98"/>
            </a:solidFill>
            <a:ln w="12700">
              <a:solidFill>
                <a:srgbClr val="0ABB98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400" noProof="0" dirty="0"/>
            </a:p>
          </p:txBody>
        </p:sp>
        <p:sp>
          <p:nvSpPr>
            <p:cNvPr id="18" name="Text 16"/>
            <p:cNvSpPr txBox="1"/>
            <p:nvPr/>
          </p:nvSpPr>
          <p:spPr>
            <a:xfrm>
              <a:off x="528042" y="2533034"/>
              <a:ext cx="2906878" cy="2987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400" b="1" noProof="0" dirty="0">
                  <a:solidFill>
                    <a:srgbClr val="0ABB9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ESCOPO</a:t>
              </a:r>
              <a:endParaRPr lang="pt-BR" sz="1400" noProof="0" dirty="0"/>
            </a:p>
          </p:txBody>
        </p:sp>
      </p:grpSp>
      <p:grpSp>
        <p:nvGrpSpPr>
          <p:cNvPr id="54" name="Agrupar 53">
            <a:extLst>
              <a:ext uri="{FF2B5EF4-FFF2-40B4-BE49-F238E27FC236}">
                <a16:creationId xmlns:a16="http://schemas.microsoft.com/office/drawing/2014/main" id="{2F036B28-3CAD-EDA8-C309-FDF54B4AA686}"/>
              </a:ext>
            </a:extLst>
          </p:cNvPr>
          <p:cNvGrpSpPr/>
          <p:nvPr/>
        </p:nvGrpSpPr>
        <p:grpSpPr>
          <a:xfrm>
            <a:off x="3930811" y="2787638"/>
            <a:ext cx="3242318" cy="367369"/>
            <a:chOff x="3930811" y="2501030"/>
            <a:chExt cx="3242318" cy="367369"/>
          </a:xfrm>
        </p:grpSpPr>
        <p:sp>
          <p:nvSpPr>
            <p:cNvPr id="19" name="Shape 17"/>
            <p:cNvSpPr/>
            <p:nvPr/>
          </p:nvSpPr>
          <p:spPr>
            <a:xfrm>
              <a:off x="3930811" y="2501030"/>
              <a:ext cx="3242318" cy="367369"/>
            </a:xfrm>
            <a:prstGeom prst="roundRect">
              <a:avLst>
                <a:gd name="adj" fmla="val 8712"/>
              </a:avLst>
            </a:prstGeom>
            <a:solidFill>
              <a:srgbClr val="E37222">
                <a:alpha val="10000"/>
              </a:srgbClr>
            </a:solidFill>
            <a:ln w="10160">
              <a:solidFill>
                <a:srgbClr val="E37222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400" noProof="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3930811" y="2501030"/>
              <a:ext cx="45720" cy="367369"/>
            </a:xfrm>
            <a:prstGeom prst="rect">
              <a:avLst/>
            </a:prstGeom>
            <a:solidFill>
              <a:srgbClr val="E37222"/>
            </a:solidFill>
            <a:ln w="12700">
              <a:solidFill>
                <a:srgbClr val="E37222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400" noProof="0" dirty="0"/>
            </a:p>
          </p:txBody>
        </p:sp>
        <p:sp>
          <p:nvSpPr>
            <p:cNvPr id="21" name="Text 19"/>
            <p:cNvSpPr txBox="1"/>
            <p:nvPr/>
          </p:nvSpPr>
          <p:spPr>
            <a:xfrm>
              <a:off x="4008535" y="2533034"/>
              <a:ext cx="3086870" cy="2987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400" b="1" noProof="0" dirty="0">
                  <a:solidFill>
                    <a:srgbClr val="E37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DEMANDA AUTORIZADA</a:t>
              </a:r>
              <a:endParaRPr lang="pt-BR" sz="1400" noProof="0" dirty="0"/>
            </a:p>
          </p:txBody>
        </p:sp>
      </p:grpSp>
      <p:sp>
        <p:nvSpPr>
          <p:cNvPr id="22" name="Text 20"/>
          <p:cNvSpPr txBox="1"/>
          <p:nvPr/>
        </p:nvSpPr>
        <p:spPr>
          <a:xfrm>
            <a:off x="450318" y="3228158"/>
            <a:ext cx="2906878" cy="543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está contratado e o que não está.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3953671" y="3228158"/>
            <a:ext cx="3086870" cy="994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(Ordem de Serviço), ata da reunião de </a:t>
            </a:r>
            <a:r>
              <a:rPr lang="pt-BR" sz="1400" i="1" noProof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</a:t>
            </a:r>
            <a:r>
              <a:rPr lang="pt-BR" sz="1400" i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Off </a:t>
            </a: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outro documento </a:t>
            </a:r>
            <a:r>
              <a:rPr lang="pt-B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</a:t>
            </a: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autorize o início da execução, conforme condições contratuais.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6" name="Agrupar 55">
            <a:extLst>
              <a:ext uri="{FF2B5EF4-FFF2-40B4-BE49-F238E27FC236}">
                <a16:creationId xmlns:a16="http://schemas.microsoft.com/office/drawing/2014/main" id="{503DE19B-9543-26AC-0537-F8F69CF72D4B}"/>
              </a:ext>
            </a:extLst>
          </p:cNvPr>
          <p:cNvGrpSpPr/>
          <p:nvPr/>
        </p:nvGrpSpPr>
        <p:grpSpPr>
          <a:xfrm>
            <a:off x="450318" y="4310592"/>
            <a:ext cx="3062326" cy="367369"/>
            <a:chOff x="450318" y="3887507"/>
            <a:chExt cx="3062326" cy="367369"/>
          </a:xfrm>
        </p:grpSpPr>
        <p:sp>
          <p:nvSpPr>
            <p:cNvPr id="24" name="Shape 22"/>
            <p:cNvSpPr/>
            <p:nvPr/>
          </p:nvSpPr>
          <p:spPr>
            <a:xfrm>
              <a:off x="450318" y="3887507"/>
              <a:ext cx="3062326" cy="367369"/>
            </a:xfrm>
            <a:prstGeom prst="roundRect">
              <a:avLst>
                <a:gd name="adj" fmla="val 8712"/>
              </a:avLst>
            </a:prstGeom>
            <a:solidFill>
              <a:srgbClr val="007E7A">
                <a:alpha val="10000"/>
              </a:srgbClr>
            </a:solidFill>
            <a:ln w="10160">
              <a:solidFill>
                <a:srgbClr val="007E7A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400" noProof="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450318" y="3887507"/>
              <a:ext cx="45720" cy="367369"/>
            </a:xfrm>
            <a:prstGeom prst="rect">
              <a:avLst/>
            </a:prstGeom>
            <a:solidFill>
              <a:srgbClr val="007E7A"/>
            </a:solidFill>
            <a:ln w="12700">
              <a:solidFill>
                <a:srgbClr val="007E7A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400" noProof="0" dirty="0"/>
            </a:p>
          </p:txBody>
        </p:sp>
        <p:sp>
          <p:nvSpPr>
            <p:cNvPr id="26" name="Text 24"/>
            <p:cNvSpPr txBox="1"/>
            <p:nvPr/>
          </p:nvSpPr>
          <p:spPr>
            <a:xfrm>
              <a:off x="528042" y="3919511"/>
              <a:ext cx="2906878" cy="2987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400" b="1" noProof="0" dirty="0">
                  <a:solidFill>
                    <a:srgbClr val="007E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REQUISITOS TÉCNICOS</a:t>
              </a:r>
              <a:endParaRPr lang="pt-BR" sz="1400" noProof="0" dirty="0"/>
            </a:p>
          </p:txBody>
        </p:sp>
      </p:grpSp>
      <p:grpSp>
        <p:nvGrpSpPr>
          <p:cNvPr id="62" name="Agrupar 61">
            <a:extLst>
              <a:ext uri="{FF2B5EF4-FFF2-40B4-BE49-F238E27FC236}">
                <a16:creationId xmlns:a16="http://schemas.microsoft.com/office/drawing/2014/main" id="{FC4DCAB4-C2C3-467E-E4BA-2EFC0C7C2A27}"/>
              </a:ext>
            </a:extLst>
          </p:cNvPr>
          <p:cNvGrpSpPr/>
          <p:nvPr/>
        </p:nvGrpSpPr>
        <p:grpSpPr>
          <a:xfrm>
            <a:off x="3930811" y="4310592"/>
            <a:ext cx="3242318" cy="367369"/>
            <a:chOff x="3930811" y="3887507"/>
            <a:chExt cx="3242318" cy="367369"/>
          </a:xfrm>
        </p:grpSpPr>
        <p:sp>
          <p:nvSpPr>
            <p:cNvPr id="27" name="Shape 25"/>
            <p:cNvSpPr/>
            <p:nvPr/>
          </p:nvSpPr>
          <p:spPr>
            <a:xfrm>
              <a:off x="3930811" y="3887507"/>
              <a:ext cx="3242318" cy="367369"/>
            </a:xfrm>
            <a:prstGeom prst="roundRect">
              <a:avLst>
                <a:gd name="adj" fmla="val 8712"/>
              </a:avLst>
            </a:prstGeom>
            <a:solidFill>
              <a:srgbClr val="3CB5E5">
                <a:alpha val="10000"/>
              </a:srgbClr>
            </a:solidFill>
            <a:ln w="10160">
              <a:solidFill>
                <a:srgbClr val="3CB5E5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400" noProof="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3930811" y="3887507"/>
              <a:ext cx="45720" cy="367369"/>
            </a:xfrm>
            <a:prstGeom prst="rect">
              <a:avLst/>
            </a:prstGeom>
            <a:solidFill>
              <a:srgbClr val="3CB5E5"/>
            </a:solidFill>
            <a:ln w="12700">
              <a:solidFill>
                <a:srgbClr val="3CB5E5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400" noProof="0" dirty="0"/>
            </a:p>
          </p:txBody>
        </p:sp>
        <p:sp>
          <p:nvSpPr>
            <p:cNvPr id="29" name="Text 27"/>
            <p:cNvSpPr txBox="1"/>
            <p:nvPr/>
          </p:nvSpPr>
          <p:spPr>
            <a:xfrm>
              <a:off x="4008535" y="3919511"/>
              <a:ext cx="3086870" cy="2987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400" b="1" noProof="0" dirty="0">
                  <a:solidFill>
                    <a:srgbClr val="3CB5E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SSMA E RISCOS</a:t>
              </a:r>
              <a:endParaRPr lang="pt-BR" sz="1400" noProof="0" dirty="0"/>
            </a:p>
          </p:txBody>
        </p:sp>
      </p:grpSp>
      <p:sp>
        <p:nvSpPr>
          <p:cNvPr id="30" name="Text 28"/>
          <p:cNvSpPr txBox="1"/>
          <p:nvPr/>
        </p:nvSpPr>
        <p:spPr>
          <a:xfrm>
            <a:off x="474044" y="4703640"/>
            <a:ext cx="2906878" cy="543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técnicos, padrões, critérios de qualidade e condições de execução.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3953671" y="4718418"/>
            <a:ext cx="3086870" cy="543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Requisitos, controles e condições aplicáveis à atividade.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119B4B42-FFD8-3965-E87F-18D4A23D07F9}"/>
              </a:ext>
            </a:extLst>
          </p:cNvPr>
          <p:cNvGrpSpPr/>
          <p:nvPr/>
        </p:nvGrpSpPr>
        <p:grpSpPr>
          <a:xfrm>
            <a:off x="450318" y="5532573"/>
            <a:ext cx="3062326" cy="367369"/>
            <a:chOff x="450318" y="5177729"/>
            <a:chExt cx="3062326" cy="367369"/>
          </a:xfrm>
        </p:grpSpPr>
        <p:sp>
          <p:nvSpPr>
            <p:cNvPr id="32" name="Shape 30"/>
            <p:cNvSpPr/>
            <p:nvPr/>
          </p:nvSpPr>
          <p:spPr>
            <a:xfrm>
              <a:off x="450318" y="5177729"/>
              <a:ext cx="3062326" cy="367369"/>
            </a:xfrm>
            <a:prstGeom prst="roundRect">
              <a:avLst>
                <a:gd name="adj" fmla="val 8712"/>
              </a:avLst>
            </a:prstGeom>
            <a:solidFill>
              <a:srgbClr val="C0305E">
                <a:alpha val="10000"/>
              </a:srgbClr>
            </a:solidFill>
            <a:ln w="10160">
              <a:solidFill>
                <a:srgbClr val="C0305E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400" noProof="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450318" y="5177729"/>
              <a:ext cx="45720" cy="367369"/>
            </a:xfrm>
            <a:prstGeom prst="rect">
              <a:avLst/>
            </a:prstGeom>
            <a:solidFill>
              <a:srgbClr val="C0305E"/>
            </a:solidFill>
            <a:ln w="12700">
              <a:solidFill>
                <a:srgbClr val="C0305E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400" noProof="0" dirty="0"/>
            </a:p>
          </p:txBody>
        </p:sp>
        <p:sp>
          <p:nvSpPr>
            <p:cNvPr id="34" name="Text 32"/>
            <p:cNvSpPr txBox="1"/>
            <p:nvPr/>
          </p:nvSpPr>
          <p:spPr>
            <a:xfrm>
              <a:off x="528042" y="5209733"/>
              <a:ext cx="2906878" cy="2987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400" b="1" noProof="0" dirty="0">
                  <a:solidFill>
                    <a:srgbClr val="C030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QUANTIDADES E PREÇOS</a:t>
              </a:r>
              <a:endParaRPr lang="pt-BR" sz="1400" noProof="0" dirty="0"/>
            </a:p>
          </p:txBody>
        </p:sp>
      </p:grpSp>
      <p:grpSp>
        <p:nvGrpSpPr>
          <p:cNvPr id="61" name="Agrupar 60">
            <a:extLst>
              <a:ext uri="{FF2B5EF4-FFF2-40B4-BE49-F238E27FC236}">
                <a16:creationId xmlns:a16="http://schemas.microsoft.com/office/drawing/2014/main" id="{8E95B632-735E-2239-B74A-ED4332CD9B10}"/>
              </a:ext>
            </a:extLst>
          </p:cNvPr>
          <p:cNvGrpSpPr/>
          <p:nvPr/>
        </p:nvGrpSpPr>
        <p:grpSpPr>
          <a:xfrm>
            <a:off x="3930811" y="5532573"/>
            <a:ext cx="3242318" cy="367369"/>
            <a:chOff x="3930811" y="5177729"/>
            <a:chExt cx="3242318" cy="367369"/>
          </a:xfrm>
        </p:grpSpPr>
        <p:sp>
          <p:nvSpPr>
            <p:cNvPr id="35" name="Shape 33"/>
            <p:cNvSpPr/>
            <p:nvPr/>
          </p:nvSpPr>
          <p:spPr>
            <a:xfrm>
              <a:off x="3930811" y="5177729"/>
              <a:ext cx="3242318" cy="367369"/>
            </a:xfrm>
            <a:prstGeom prst="roundRect">
              <a:avLst>
                <a:gd name="adj" fmla="val 8712"/>
              </a:avLst>
            </a:prstGeom>
            <a:solidFill>
              <a:srgbClr val="EDB111">
                <a:alpha val="10000"/>
              </a:srgbClr>
            </a:solidFill>
            <a:ln w="10160">
              <a:solidFill>
                <a:srgbClr val="EDB111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400" noProof="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3930811" y="5177729"/>
              <a:ext cx="45720" cy="367369"/>
            </a:xfrm>
            <a:prstGeom prst="rect">
              <a:avLst/>
            </a:prstGeom>
            <a:solidFill>
              <a:srgbClr val="EDB111"/>
            </a:solidFill>
            <a:ln w="12700">
              <a:solidFill>
                <a:srgbClr val="EDB111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400" noProof="0" dirty="0"/>
            </a:p>
          </p:txBody>
        </p:sp>
        <p:sp>
          <p:nvSpPr>
            <p:cNvPr id="37" name="Text 35"/>
            <p:cNvSpPr txBox="1"/>
            <p:nvPr/>
          </p:nvSpPr>
          <p:spPr>
            <a:xfrm>
              <a:off x="4008535" y="5209733"/>
              <a:ext cx="3086870" cy="2987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400" b="1" noProof="0" dirty="0">
                  <a:solidFill>
                    <a:srgbClr val="EDB1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EVIDÊNCIAS</a:t>
              </a:r>
              <a:endParaRPr lang="pt-BR" sz="1400" noProof="0" dirty="0"/>
            </a:p>
          </p:txBody>
        </p:sp>
      </p:grpSp>
      <p:sp>
        <p:nvSpPr>
          <p:cNvPr id="38" name="Text 36"/>
          <p:cNvSpPr txBox="1"/>
          <p:nvPr/>
        </p:nvSpPr>
        <p:spPr>
          <a:xfrm>
            <a:off x="517454" y="5960518"/>
            <a:ext cx="2906878" cy="543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QQP e critérios aplicáveis ao serviço.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" name="Text 37"/>
          <p:cNvSpPr txBox="1"/>
          <p:nvPr/>
        </p:nvSpPr>
        <p:spPr>
          <a:xfrm>
            <a:off x="3953671" y="5971462"/>
            <a:ext cx="3086870" cy="700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deverá comprovar que o serviço foi realmente executado no padrão contratado.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9AC850BF-5E41-3B18-BC0A-31FAC0A3AF58}"/>
              </a:ext>
            </a:extLst>
          </p:cNvPr>
          <p:cNvGrpSpPr/>
          <p:nvPr/>
        </p:nvGrpSpPr>
        <p:grpSpPr>
          <a:xfrm>
            <a:off x="450318" y="6877391"/>
            <a:ext cx="3062326" cy="367369"/>
            <a:chOff x="450318" y="6467954"/>
            <a:chExt cx="3062326" cy="367369"/>
          </a:xfrm>
        </p:grpSpPr>
        <p:sp>
          <p:nvSpPr>
            <p:cNvPr id="40" name="Shape 38"/>
            <p:cNvSpPr/>
            <p:nvPr/>
          </p:nvSpPr>
          <p:spPr>
            <a:xfrm>
              <a:off x="450318" y="6467954"/>
              <a:ext cx="3062326" cy="367369"/>
            </a:xfrm>
            <a:prstGeom prst="roundRect">
              <a:avLst>
                <a:gd name="adj" fmla="val 8712"/>
              </a:avLst>
            </a:prstGeom>
            <a:solidFill>
              <a:srgbClr val="0ABB98">
                <a:alpha val="10000"/>
              </a:srgbClr>
            </a:solidFill>
            <a:ln w="10160">
              <a:solidFill>
                <a:srgbClr val="0ABB98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400" noProof="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450318" y="6467954"/>
              <a:ext cx="45720" cy="367369"/>
            </a:xfrm>
            <a:prstGeom prst="rect">
              <a:avLst/>
            </a:prstGeom>
            <a:solidFill>
              <a:srgbClr val="0ABB98"/>
            </a:solidFill>
            <a:ln w="12700">
              <a:solidFill>
                <a:srgbClr val="0ABB98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400" noProof="0" dirty="0"/>
            </a:p>
          </p:txBody>
        </p:sp>
        <p:sp>
          <p:nvSpPr>
            <p:cNvPr id="42" name="Text 40"/>
            <p:cNvSpPr txBox="1"/>
            <p:nvPr/>
          </p:nvSpPr>
          <p:spPr>
            <a:xfrm>
              <a:off x="528042" y="6499958"/>
              <a:ext cx="2906878" cy="2987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400" b="1" noProof="0" dirty="0">
                  <a:solidFill>
                    <a:srgbClr val="0ABB9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SLA E INDICADORES</a:t>
              </a:r>
              <a:endParaRPr lang="pt-BR" sz="1400" noProof="0" dirty="0"/>
            </a:p>
          </p:txBody>
        </p:sp>
      </p:grpSp>
      <p:grpSp>
        <p:nvGrpSpPr>
          <p:cNvPr id="60" name="Agrupar 59">
            <a:extLst>
              <a:ext uri="{FF2B5EF4-FFF2-40B4-BE49-F238E27FC236}">
                <a16:creationId xmlns:a16="http://schemas.microsoft.com/office/drawing/2014/main" id="{6F2EE168-77EF-40DC-56CB-1765BEEC2DB8}"/>
              </a:ext>
            </a:extLst>
          </p:cNvPr>
          <p:cNvGrpSpPr/>
          <p:nvPr/>
        </p:nvGrpSpPr>
        <p:grpSpPr>
          <a:xfrm>
            <a:off x="3930811" y="6877391"/>
            <a:ext cx="3242318" cy="367369"/>
            <a:chOff x="3930811" y="6467954"/>
            <a:chExt cx="3242318" cy="367369"/>
          </a:xfrm>
        </p:grpSpPr>
        <p:sp>
          <p:nvSpPr>
            <p:cNvPr id="43" name="Shape 41"/>
            <p:cNvSpPr/>
            <p:nvPr/>
          </p:nvSpPr>
          <p:spPr>
            <a:xfrm>
              <a:off x="3930811" y="6467954"/>
              <a:ext cx="3242318" cy="367369"/>
            </a:xfrm>
            <a:prstGeom prst="roundRect">
              <a:avLst>
                <a:gd name="adj" fmla="val 8712"/>
              </a:avLst>
            </a:prstGeom>
            <a:solidFill>
              <a:srgbClr val="E37222">
                <a:alpha val="10000"/>
              </a:srgbClr>
            </a:solidFill>
            <a:ln w="10160">
              <a:solidFill>
                <a:srgbClr val="E37222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400" noProof="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3930811" y="6467954"/>
              <a:ext cx="45720" cy="367369"/>
            </a:xfrm>
            <a:prstGeom prst="rect">
              <a:avLst/>
            </a:prstGeom>
            <a:solidFill>
              <a:srgbClr val="E37222"/>
            </a:solidFill>
            <a:ln w="12700">
              <a:solidFill>
                <a:srgbClr val="E37222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400" noProof="0" dirty="0"/>
            </a:p>
          </p:txBody>
        </p:sp>
        <p:sp>
          <p:nvSpPr>
            <p:cNvPr id="45" name="Text 43"/>
            <p:cNvSpPr txBox="1"/>
            <p:nvPr/>
          </p:nvSpPr>
          <p:spPr>
            <a:xfrm>
              <a:off x="4008535" y="6499958"/>
              <a:ext cx="3086870" cy="2987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400" b="1" noProof="0" dirty="0">
                  <a:solidFill>
                    <a:srgbClr val="E37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INTERFACES</a:t>
              </a:r>
              <a:endParaRPr lang="pt-BR" sz="1400" noProof="0" dirty="0"/>
            </a:p>
          </p:txBody>
        </p:sp>
      </p:grpSp>
      <p:sp>
        <p:nvSpPr>
          <p:cNvPr id="46" name="Text 44"/>
          <p:cNvSpPr txBox="1"/>
          <p:nvPr/>
        </p:nvSpPr>
        <p:spPr>
          <a:xfrm>
            <a:off x="528042" y="7327211"/>
            <a:ext cx="2906878" cy="543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resultados e níveis de serviço precisam ser cumpridos.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Text 45"/>
          <p:cNvSpPr txBox="1"/>
          <p:nvPr/>
        </p:nvSpPr>
        <p:spPr>
          <a:xfrm>
            <a:off x="4008535" y="7284662"/>
            <a:ext cx="3086870" cy="769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Gestor, contratada/preposto, Gestão de Contratos e demais áreas que devem ser acionadas.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63" name="Agrupar 62">
            <a:extLst>
              <a:ext uri="{FF2B5EF4-FFF2-40B4-BE49-F238E27FC236}">
                <a16:creationId xmlns:a16="http://schemas.microsoft.com/office/drawing/2014/main" id="{02EDA89A-9B52-807F-68E5-893A087CD3E4}"/>
              </a:ext>
            </a:extLst>
          </p:cNvPr>
          <p:cNvGrpSpPr/>
          <p:nvPr/>
        </p:nvGrpSpPr>
        <p:grpSpPr>
          <a:xfrm>
            <a:off x="450318" y="8400371"/>
            <a:ext cx="1654743" cy="399373"/>
            <a:chOff x="450318" y="7922695"/>
            <a:chExt cx="1654743" cy="399373"/>
          </a:xfrm>
        </p:grpSpPr>
        <p:sp>
          <p:nvSpPr>
            <p:cNvPr id="48" name="Shape 46"/>
            <p:cNvSpPr/>
            <p:nvPr/>
          </p:nvSpPr>
          <p:spPr>
            <a:xfrm>
              <a:off x="450318" y="7922695"/>
              <a:ext cx="1654743" cy="399373"/>
            </a:xfrm>
            <a:prstGeom prst="roundRect">
              <a:avLst>
                <a:gd name="adj" fmla="val 9158"/>
              </a:avLst>
            </a:prstGeom>
            <a:solidFill>
              <a:srgbClr val="FFF2E8"/>
            </a:solidFill>
            <a:ln w="12700">
              <a:solidFill>
                <a:srgbClr val="E37222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49" name="Shape 47"/>
            <p:cNvSpPr/>
            <p:nvPr/>
          </p:nvSpPr>
          <p:spPr>
            <a:xfrm>
              <a:off x="450319" y="7922695"/>
              <a:ext cx="50292" cy="399373"/>
            </a:xfrm>
            <a:prstGeom prst="rect">
              <a:avLst/>
            </a:prstGeom>
            <a:solidFill>
              <a:srgbClr val="E37222"/>
            </a:solidFill>
            <a:ln w="12700">
              <a:solidFill>
                <a:srgbClr val="E37222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50" name="Text 48"/>
            <p:cNvSpPr txBox="1"/>
            <p:nvPr/>
          </p:nvSpPr>
          <p:spPr>
            <a:xfrm>
              <a:off x="541759" y="7972987"/>
              <a:ext cx="1418924" cy="343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400" b="1" noProof="0" dirty="0">
                  <a:solidFill>
                    <a:srgbClr val="E37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CHECKLIST RÁPIDO</a:t>
              </a:r>
              <a:endParaRPr lang="pt-BR" sz="1400" noProof="0" dirty="0"/>
            </a:p>
          </p:txBody>
        </p:sp>
      </p:grpSp>
      <p:sp>
        <p:nvSpPr>
          <p:cNvPr id="51" name="Text 49"/>
          <p:cNvSpPr txBox="1"/>
          <p:nvPr/>
        </p:nvSpPr>
        <p:spPr>
          <a:xfrm>
            <a:off x="474043" y="8862245"/>
            <a:ext cx="6621361" cy="12805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do campo, pergunte: </a:t>
            </a:r>
          </a:p>
          <a:p>
            <a:pPr marL="0" indent="0" algn="l">
              <a:lnSpc>
                <a:spcPct val="100000"/>
              </a:lnSpc>
              <a:buNone/>
            </a:pP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pt-BR" sz="14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eu precisar validar este serviço amanhã, sei exatamente o que devo encontrar e qual evidência devo receber? </a:t>
            </a:r>
          </a:p>
          <a:p>
            <a:pPr marL="0" indent="0" algn="l">
              <a:lnSpc>
                <a:spcPct val="100000"/>
              </a:lnSpc>
              <a:buNone/>
            </a:pP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resposta for </a:t>
            </a:r>
            <a:r>
              <a:rPr lang="pt-BR" sz="14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esclareça antes de validar a execução.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2" name="Shape 50"/>
          <p:cNvSpPr/>
          <p:nvPr/>
        </p:nvSpPr>
        <p:spPr>
          <a:xfrm>
            <a:off x="320040" y="10232136"/>
            <a:ext cx="6922008" cy="1"/>
          </a:xfrm>
          <a:prstGeom prst="line">
            <a:avLst/>
          </a:prstGeom>
          <a:noFill/>
          <a:ln w="10160">
            <a:solidFill>
              <a:srgbClr val="D9E5E3"/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55" name="Text 53"/>
          <p:cNvSpPr txBox="1"/>
          <p:nvPr/>
        </p:nvSpPr>
        <p:spPr>
          <a:xfrm>
            <a:off x="6355080" y="1030528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pt-BR" sz="800" b="1" noProof="0" dirty="0">
                <a:solidFill>
                  <a:srgbClr val="667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pt-BR" sz="800" noProof="0" dirty="0"/>
          </a:p>
        </p:txBody>
      </p:sp>
      <p:sp>
        <p:nvSpPr>
          <p:cNvPr id="57" name="Text 26">
            <a:extLst>
              <a:ext uri="{FF2B5EF4-FFF2-40B4-BE49-F238E27FC236}">
                <a16:creationId xmlns:a16="http://schemas.microsoft.com/office/drawing/2014/main" id="{225382BB-D1D4-3579-232D-F11D69F1EA96}"/>
              </a:ext>
            </a:extLst>
          </p:cNvPr>
          <p:cNvSpPr txBox="1"/>
          <p:nvPr/>
        </p:nvSpPr>
        <p:spPr>
          <a:xfrm>
            <a:off x="1481328" y="10373868"/>
            <a:ext cx="452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9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 de Serviços Operacionais e Segurança Empresarial| Vale S.A.</a:t>
            </a:r>
            <a:endParaRPr lang="pt-BR" sz="9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353312"/>
          </a:xfrm>
          <a:prstGeom prst="rect">
            <a:avLst/>
          </a:prstGeom>
          <a:solidFill>
            <a:srgbClr val="007E7A"/>
          </a:solidFill>
          <a:ln w="12700">
            <a:solidFill>
              <a:srgbClr val="007E7A">
                <a:alpha val="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 rot="900000">
            <a:off x="5961888" y="0"/>
            <a:ext cx="1600200" cy="1298448"/>
          </a:xfrm>
          <a:prstGeom prst="arc">
            <a:avLst/>
          </a:prstGeom>
          <a:solidFill>
            <a:srgbClr val="007E7A">
              <a:alpha val="0"/>
            </a:srgbClr>
          </a:solidFill>
          <a:ln w="228600">
            <a:solidFill>
              <a:srgbClr val="0ABB98">
                <a:alpha val="5500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 rot="1500000">
            <a:off x="6355080" y="0"/>
            <a:ext cx="1207008" cy="1207008"/>
          </a:xfrm>
          <a:prstGeom prst="arc">
            <a:avLst/>
          </a:prstGeom>
          <a:solidFill>
            <a:srgbClr val="007E7A">
              <a:alpha val="0"/>
            </a:srgbClr>
          </a:solidFill>
          <a:ln w="139700">
            <a:solidFill>
              <a:srgbClr val="3CB5E5">
                <a:alpha val="6200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420624" y="22860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100" b="1" noProof="0" dirty="0">
                <a:solidFill>
                  <a:srgbClr val="BC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ATUAÇÃO DO FISCAL AO LONGO DO CONTRATO</a:t>
            </a:r>
            <a:endParaRPr lang="pt-BR" sz="1100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420624" y="502920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2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da fiscalização</a:t>
            </a:r>
            <a:endParaRPr lang="pt-BR" sz="2500" noProof="0" dirty="0"/>
          </a:p>
        </p:txBody>
      </p:sp>
      <p:sp>
        <p:nvSpPr>
          <p:cNvPr id="7" name="Shape 5"/>
          <p:cNvSpPr/>
          <p:nvPr/>
        </p:nvSpPr>
        <p:spPr>
          <a:xfrm>
            <a:off x="6793992" y="475488"/>
            <a:ext cx="438912" cy="438912"/>
          </a:xfrm>
          <a:prstGeom prst="ellipse">
            <a:avLst/>
          </a:prstGeom>
          <a:solidFill>
            <a:srgbClr val="FFFFFF">
              <a:alpha val="18000"/>
            </a:srgbClr>
          </a:solidFill>
          <a:ln w="15240">
            <a:solidFill>
              <a:srgbClr val="FFFFFF">
                <a:alpha val="7500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6793992" y="4754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pt-BR" sz="1200" noProof="0" dirty="0"/>
          </a:p>
        </p:txBody>
      </p:sp>
      <p:sp>
        <p:nvSpPr>
          <p:cNvPr id="9" name="Shape 7"/>
          <p:cNvSpPr/>
          <p:nvPr/>
        </p:nvSpPr>
        <p:spPr>
          <a:xfrm>
            <a:off x="0" y="1353312"/>
            <a:ext cx="7562088" cy="8805672"/>
          </a:xfrm>
          <a:prstGeom prst="rect">
            <a:avLst/>
          </a:prstGeom>
          <a:solidFill>
            <a:srgbClr val="F7FAF9"/>
          </a:solidFill>
          <a:ln w="12700">
            <a:solidFill>
              <a:srgbClr val="F7FAF9">
                <a:alpha val="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274320" y="1581912"/>
            <a:ext cx="3456432" cy="8193024"/>
          </a:xfrm>
          <a:prstGeom prst="roundRect">
            <a:avLst>
              <a:gd name="adj" fmla="val 1323"/>
            </a:avLst>
          </a:prstGeom>
          <a:solidFill>
            <a:srgbClr val="FFFFFF"/>
          </a:solidFill>
          <a:ln w="8890">
            <a:solidFill>
              <a:srgbClr val="E4EFED"/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11" name="Shape 9"/>
          <p:cNvSpPr/>
          <p:nvPr/>
        </p:nvSpPr>
        <p:spPr>
          <a:xfrm>
            <a:off x="3822192" y="1581912"/>
            <a:ext cx="3456432" cy="8193024"/>
          </a:xfrm>
          <a:prstGeom prst="roundRect">
            <a:avLst>
              <a:gd name="adj" fmla="val 1323"/>
            </a:avLst>
          </a:prstGeom>
          <a:solidFill>
            <a:srgbClr val="F1F8F7"/>
          </a:solidFill>
          <a:ln w="8890">
            <a:solidFill>
              <a:srgbClr val="E4EFED"/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12" name="Shape 10"/>
          <p:cNvSpPr/>
          <p:nvPr/>
        </p:nvSpPr>
        <p:spPr>
          <a:xfrm>
            <a:off x="6080760" y="8183880"/>
            <a:ext cx="1783080" cy="1783080"/>
          </a:xfrm>
          <a:prstGeom prst="ellipse">
            <a:avLst/>
          </a:prstGeom>
          <a:solidFill>
            <a:srgbClr val="FFFFFF">
              <a:alpha val="0"/>
            </a:srgbClr>
          </a:solidFill>
          <a:ln w="63500">
            <a:solidFill>
              <a:srgbClr val="0ABB98">
                <a:alpha val="2200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6281928" y="836676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3900" b="1" noProof="0" dirty="0">
                <a:solidFill>
                  <a:srgbClr val="DC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pt-BR" sz="3900" noProof="0" dirty="0"/>
          </a:p>
        </p:txBody>
      </p:sp>
      <p:sp>
        <p:nvSpPr>
          <p:cNvPr id="14" name="Text 12"/>
          <p:cNvSpPr txBox="1"/>
          <p:nvPr/>
        </p:nvSpPr>
        <p:spPr>
          <a:xfrm>
            <a:off x="402047" y="1746504"/>
            <a:ext cx="6821713" cy="4161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14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fiscalização acompanha o contrato em diferentes momentos, com responsabilidades específicas em cada etapa.</a:t>
            </a:r>
            <a:endParaRPr lang="pt-BR" sz="1400" b="1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4" name="Agrupar 53">
            <a:extLst>
              <a:ext uri="{FF2B5EF4-FFF2-40B4-BE49-F238E27FC236}">
                <a16:creationId xmlns:a16="http://schemas.microsoft.com/office/drawing/2014/main" id="{BF05E8B8-C68B-4A5B-F3BA-FE0BFF85A888}"/>
              </a:ext>
            </a:extLst>
          </p:cNvPr>
          <p:cNvGrpSpPr/>
          <p:nvPr/>
        </p:nvGrpSpPr>
        <p:grpSpPr>
          <a:xfrm>
            <a:off x="1005022" y="2462958"/>
            <a:ext cx="5849753" cy="1020606"/>
            <a:chOff x="1005022" y="2470809"/>
            <a:chExt cx="5849753" cy="1020606"/>
          </a:xfrm>
        </p:grpSpPr>
        <p:sp>
          <p:nvSpPr>
            <p:cNvPr id="15" name="Text 13"/>
            <p:cNvSpPr txBox="1"/>
            <p:nvPr/>
          </p:nvSpPr>
          <p:spPr>
            <a:xfrm>
              <a:off x="1023021" y="2470809"/>
              <a:ext cx="5831754" cy="2616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spc="300" noProof="0" dirty="0">
                  <a:ln w="6600">
                    <a:solidFill>
                      <a:srgbClr val="026766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dist="38100" dir="2700000" algn="tl" rotWithShape="0">
                      <a:schemeClr val="accent2"/>
                    </a:outerShdw>
                  </a:effectLst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PLANEJAMENTO E CONTRATAÇÃO</a:t>
              </a:r>
              <a:endParaRPr lang="pt-BR" sz="1600" b="1" spc="300" noProof="0" dirty="0">
                <a:ln w="6600">
                  <a:solidFill>
                    <a:srgbClr val="026766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endParaRPr>
            </a:p>
          </p:txBody>
        </p:sp>
        <p:sp>
          <p:nvSpPr>
            <p:cNvPr id="17" name="Text 15"/>
            <p:cNvSpPr txBox="1"/>
            <p:nvPr/>
          </p:nvSpPr>
          <p:spPr>
            <a:xfrm>
              <a:off x="1005022" y="2781060"/>
              <a:ext cx="5831754" cy="7103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400" b="1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Contribuir tecnicamente</a:t>
              </a:r>
              <a:endParaRPr lang="pt-BR" sz="1400" b="1" noProof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pt-BR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Fornecer requisitos técnicos, esclarecer dúvidas e participar de visitas e análises quando aplicável.</a:t>
              </a:r>
              <a:endPara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F974DB42-099D-7374-BF4B-424B19623B4F}"/>
              </a:ext>
            </a:extLst>
          </p:cNvPr>
          <p:cNvGrpSpPr/>
          <p:nvPr/>
        </p:nvGrpSpPr>
        <p:grpSpPr>
          <a:xfrm>
            <a:off x="1005022" y="3741797"/>
            <a:ext cx="5849753" cy="1062287"/>
            <a:chOff x="1005022" y="3749397"/>
            <a:chExt cx="5849753" cy="1062287"/>
          </a:xfrm>
        </p:grpSpPr>
        <p:sp>
          <p:nvSpPr>
            <p:cNvPr id="18" name="Text 16"/>
            <p:cNvSpPr txBox="1"/>
            <p:nvPr/>
          </p:nvSpPr>
          <p:spPr>
            <a:xfrm>
              <a:off x="1023021" y="3749397"/>
              <a:ext cx="5831754" cy="2616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spc="300" dirty="0">
                  <a:ln w="6600">
                    <a:solidFill>
                      <a:srgbClr val="026766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dist="38100" dir="2700000" algn="tl" rotWithShape="0">
                      <a:schemeClr val="accent2"/>
                    </a:outerShdw>
                  </a:effectLst>
                  <a:latin typeface="Calibri" pitchFamily="34" charset="0"/>
                  <a:cs typeface="Calibri" pitchFamily="34" charset="-120"/>
                </a:rPr>
                <a:t>MOBILIZAÇÃO</a:t>
              </a:r>
            </a:p>
          </p:txBody>
        </p:sp>
        <p:sp>
          <p:nvSpPr>
            <p:cNvPr id="20" name="Text 18"/>
            <p:cNvSpPr txBox="1"/>
            <p:nvPr/>
          </p:nvSpPr>
          <p:spPr>
            <a:xfrm>
              <a:off x="1005022" y="4054041"/>
              <a:ext cx="5831754" cy="7576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400" b="1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Verificar condições para início</a:t>
              </a:r>
              <a:endParaRPr lang="pt-BR" sz="1400" b="1" noProof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pt-BR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Fiscalizar em campo canteiros, equipamentos e demais condições previstas para mobilização.</a:t>
              </a:r>
              <a:endPara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994EE638-5EBF-5501-B613-0E5205384A0D}"/>
              </a:ext>
            </a:extLst>
          </p:cNvPr>
          <p:cNvGrpSpPr/>
          <p:nvPr/>
        </p:nvGrpSpPr>
        <p:grpSpPr>
          <a:xfrm>
            <a:off x="1005022" y="6306573"/>
            <a:ext cx="5849753" cy="1036100"/>
            <a:chOff x="1005022" y="6306573"/>
            <a:chExt cx="5849753" cy="1036100"/>
          </a:xfrm>
        </p:grpSpPr>
        <p:sp>
          <p:nvSpPr>
            <p:cNvPr id="26" name="Text 24"/>
            <p:cNvSpPr txBox="1"/>
            <p:nvPr/>
          </p:nvSpPr>
          <p:spPr>
            <a:xfrm>
              <a:off x="1023021" y="6306573"/>
              <a:ext cx="5831754" cy="2616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spc="300" dirty="0">
                  <a:ln w="6600">
                    <a:solidFill>
                      <a:srgbClr val="026766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dist="38100" dir="2700000" algn="tl" rotWithShape="0">
                      <a:schemeClr val="accent2"/>
                    </a:outerShdw>
                  </a:effectLst>
                  <a:latin typeface="Calibri" pitchFamily="34" charset="0"/>
                  <a:cs typeface="Calibri" pitchFamily="34" charset="-120"/>
                </a:rPr>
                <a:t>MEDIÇÃO</a:t>
              </a:r>
            </a:p>
          </p:txBody>
        </p:sp>
        <p:sp>
          <p:nvSpPr>
            <p:cNvPr id="28" name="Text 26"/>
            <p:cNvSpPr txBox="1"/>
            <p:nvPr/>
          </p:nvSpPr>
          <p:spPr>
            <a:xfrm>
              <a:off x="1005022" y="6586289"/>
              <a:ext cx="5831754" cy="7563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400" b="1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Validar o executado</a:t>
              </a:r>
              <a:endParaRPr lang="pt-BR" sz="1400" b="1" noProof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pt-BR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Aferir tecnicamente os serviços e confirmar que a medição corresponde à execução e às evidências.</a:t>
              </a:r>
              <a:endPara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E1F6C82C-8B85-4C3E-46A4-DB039EB6518C}"/>
              </a:ext>
            </a:extLst>
          </p:cNvPr>
          <p:cNvGrpSpPr/>
          <p:nvPr/>
        </p:nvGrpSpPr>
        <p:grpSpPr>
          <a:xfrm>
            <a:off x="1005022" y="7585163"/>
            <a:ext cx="5849753" cy="995336"/>
            <a:chOff x="1005022" y="7585163"/>
            <a:chExt cx="5849753" cy="995336"/>
          </a:xfrm>
        </p:grpSpPr>
        <p:sp>
          <p:nvSpPr>
            <p:cNvPr id="29" name="Text 27"/>
            <p:cNvSpPr txBox="1"/>
            <p:nvPr/>
          </p:nvSpPr>
          <p:spPr>
            <a:xfrm>
              <a:off x="1023021" y="7585163"/>
              <a:ext cx="5831754" cy="2616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spc="300" dirty="0">
                  <a:ln w="6600">
                    <a:solidFill>
                      <a:srgbClr val="026766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dist="38100" dir="2700000" algn="tl" rotWithShape="0">
                      <a:schemeClr val="accent2"/>
                    </a:outerShdw>
                  </a:effectLst>
                  <a:latin typeface="Calibri" pitchFamily="34" charset="0"/>
                  <a:cs typeface="Calibri" pitchFamily="34" charset="-120"/>
                </a:rPr>
                <a:t>DESMOBILIZAÇÃO</a:t>
              </a:r>
            </a:p>
          </p:txBody>
        </p:sp>
        <p:sp>
          <p:nvSpPr>
            <p:cNvPr id="30" name="Text 28"/>
            <p:cNvSpPr txBox="1"/>
            <p:nvPr/>
          </p:nvSpPr>
          <p:spPr>
            <a:xfrm>
              <a:off x="1005022" y="7894699"/>
              <a:ext cx="5831754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400" b="1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Verificar o encerramento em campo</a:t>
              </a:r>
              <a:endParaRPr lang="pt-BR" sz="1400" b="1" noProof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r>
                <a:rPr lang="pt-BR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Confirmar retirada de equipamentos, canteiros e demais condições aplicáveis.</a:t>
              </a:r>
              <a:endPara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F45E82B9-3612-4E3D-E25B-9D0302C0C0B5}"/>
              </a:ext>
            </a:extLst>
          </p:cNvPr>
          <p:cNvGrpSpPr/>
          <p:nvPr/>
        </p:nvGrpSpPr>
        <p:grpSpPr>
          <a:xfrm>
            <a:off x="382604" y="8899348"/>
            <a:ext cx="1037844" cy="362194"/>
            <a:chOff x="382604" y="8819138"/>
            <a:chExt cx="1037844" cy="362194"/>
          </a:xfrm>
        </p:grpSpPr>
        <p:sp>
          <p:nvSpPr>
            <p:cNvPr id="31" name="Shape 29"/>
            <p:cNvSpPr/>
            <p:nvPr/>
          </p:nvSpPr>
          <p:spPr>
            <a:xfrm>
              <a:off x="382604" y="8819138"/>
              <a:ext cx="1037844" cy="362194"/>
            </a:xfrm>
            <a:prstGeom prst="roundRect">
              <a:avLst>
                <a:gd name="adj" fmla="val 10098"/>
              </a:avLst>
            </a:prstGeom>
            <a:solidFill>
              <a:srgbClr val="FFF2E8"/>
            </a:solidFill>
            <a:ln w="12700">
              <a:solidFill>
                <a:srgbClr val="E37222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382604" y="8819138"/>
              <a:ext cx="50292" cy="362194"/>
            </a:xfrm>
            <a:prstGeom prst="rect">
              <a:avLst/>
            </a:prstGeom>
            <a:solidFill>
              <a:srgbClr val="E37222"/>
            </a:solidFill>
            <a:ln w="12700">
              <a:solidFill>
                <a:srgbClr val="E37222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33" name="Text 31"/>
            <p:cNvSpPr txBox="1"/>
            <p:nvPr/>
          </p:nvSpPr>
          <p:spPr>
            <a:xfrm>
              <a:off x="474044" y="8869430"/>
              <a:ext cx="854964" cy="2616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160" b="1" noProof="0" dirty="0">
                  <a:solidFill>
                    <a:srgbClr val="E37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SÍNTESE</a:t>
              </a:r>
              <a:endParaRPr lang="pt-BR" sz="1160" noProof="0" dirty="0"/>
            </a:p>
          </p:txBody>
        </p:sp>
      </p:grpSp>
      <p:sp>
        <p:nvSpPr>
          <p:cNvPr id="34" name="Text 32"/>
          <p:cNvSpPr txBox="1"/>
          <p:nvPr/>
        </p:nvSpPr>
        <p:spPr>
          <a:xfrm>
            <a:off x="382604" y="9282598"/>
            <a:ext cx="6362732" cy="3805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papel muda ao longo da jornada. O princípio não: </a:t>
            </a:r>
            <a:r>
              <a:rPr lang="pt-BR" sz="1400" b="1" i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verificar, evidenciar e comunicar</a:t>
            </a:r>
            <a:r>
              <a:rPr lang="pt-BR" sz="14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pt-BR" sz="1400" b="1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20040" y="10232136"/>
            <a:ext cx="6922008" cy="1"/>
          </a:xfrm>
          <a:prstGeom prst="line">
            <a:avLst/>
          </a:prstGeom>
          <a:noFill/>
          <a:ln w="10160">
            <a:solidFill>
              <a:srgbClr val="D9E5E3"/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38" name="Text 36"/>
          <p:cNvSpPr txBox="1"/>
          <p:nvPr/>
        </p:nvSpPr>
        <p:spPr>
          <a:xfrm>
            <a:off x="6355080" y="1030528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pt-BR" sz="800" b="1" noProof="0" dirty="0">
                <a:solidFill>
                  <a:srgbClr val="667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pt-BR" sz="800" noProof="0" dirty="0"/>
          </a:p>
        </p:txBody>
      </p:sp>
      <p:sp>
        <p:nvSpPr>
          <p:cNvPr id="40" name="Text 26">
            <a:extLst>
              <a:ext uri="{FF2B5EF4-FFF2-40B4-BE49-F238E27FC236}">
                <a16:creationId xmlns:a16="http://schemas.microsoft.com/office/drawing/2014/main" id="{2961B49A-5122-025C-65DC-9C3C06AD7268}"/>
              </a:ext>
            </a:extLst>
          </p:cNvPr>
          <p:cNvSpPr txBox="1"/>
          <p:nvPr/>
        </p:nvSpPr>
        <p:spPr>
          <a:xfrm>
            <a:off x="1481328" y="10373868"/>
            <a:ext cx="452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9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 de Serviços Operacionais e Segurança Empresarial| Vale S.A.</a:t>
            </a:r>
            <a:endParaRPr lang="pt-BR" sz="9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DC44AA85-1420-F4BE-0808-596C652E3E75}"/>
              </a:ext>
            </a:extLst>
          </p:cNvPr>
          <p:cNvGrpSpPr/>
          <p:nvPr/>
        </p:nvGrpSpPr>
        <p:grpSpPr>
          <a:xfrm>
            <a:off x="430540" y="2793261"/>
            <a:ext cx="360000" cy="360000"/>
            <a:chOff x="-788276" y="2505656"/>
            <a:chExt cx="360000" cy="360000"/>
          </a:xfrm>
        </p:grpSpPr>
        <p:sp>
          <p:nvSpPr>
            <p:cNvPr id="36" name="Elipse 35">
              <a:extLst>
                <a:ext uri="{FF2B5EF4-FFF2-40B4-BE49-F238E27FC236}">
                  <a16:creationId xmlns:a16="http://schemas.microsoft.com/office/drawing/2014/main" id="{5EAA2ABE-2744-103C-ACB7-D9FB4E9B08A5}"/>
                </a:ext>
              </a:extLst>
            </p:cNvPr>
            <p:cNvSpPr/>
            <p:nvPr/>
          </p:nvSpPr>
          <p:spPr>
            <a:xfrm>
              <a:off x="-788276" y="2505656"/>
              <a:ext cx="360000" cy="360000"/>
            </a:xfrm>
            <a:prstGeom prst="ellipse">
              <a:avLst/>
            </a:prstGeom>
            <a:solidFill>
              <a:srgbClr val="026766"/>
            </a:solidFill>
            <a:ln>
              <a:solidFill>
                <a:srgbClr val="0267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Text 14"/>
            <p:cNvSpPr txBox="1"/>
            <p:nvPr/>
          </p:nvSpPr>
          <p:spPr>
            <a:xfrm>
              <a:off x="-788276" y="2537962"/>
              <a:ext cx="360000" cy="2953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pt-BR" sz="1600" b="1" noProof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6" name="Agrupar 55">
            <a:extLst>
              <a:ext uri="{FF2B5EF4-FFF2-40B4-BE49-F238E27FC236}">
                <a16:creationId xmlns:a16="http://schemas.microsoft.com/office/drawing/2014/main" id="{C23F9DF0-8A69-4D5D-4EF1-D2FDDB6B6801}"/>
              </a:ext>
            </a:extLst>
          </p:cNvPr>
          <p:cNvGrpSpPr/>
          <p:nvPr/>
        </p:nvGrpSpPr>
        <p:grpSpPr>
          <a:xfrm>
            <a:off x="1005022" y="5027985"/>
            <a:ext cx="5849753" cy="1019253"/>
            <a:chOff x="1005022" y="5027985"/>
            <a:chExt cx="5849753" cy="1019253"/>
          </a:xfrm>
        </p:grpSpPr>
        <p:sp>
          <p:nvSpPr>
            <p:cNvPr id="21" name="Text 19"/>
            <p:cNvSpPr txBox="1"/>
            <p:nvPr/>
          </p:nvSpPr>
          <p:spPr>
            <a:xfrm>
              <a:off x="1023021" y="5027985"/>
              <a:ext cx="5831754" cy="2616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>
              <a:lvl1pPr indent="0">
                <a:lnSpc>
                  <a:spcPct val="100000"/>
                </a:lnSpc>
                <a:buNone/>
                <a:defRPr sz="1600" b="1">
                  <a:ln w="6600">
                    <a:solidFill>
                      <a:srgbClr val="026766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dist="38100" dir="2700000" algn="tl" rotWithShape="0">
                      <a:schemeClr val="accent2"/>
                    </a:outerShdw>
                  </a:effectLst>
                  <a:latin typeface="Calibri" pitchFamily="34" charset="0"/>
                  <a:cs typeface="Calibri" pitchFamily="34" charset="-120"/>
                </a:defRPr>
              </a:lvl1pPr>
            </a:lstStyle>
            <a:p>
              <a:r>
                <a:rPr lang="pt-BR" spc="300" dirty="0"/>
                <a:t>EXECUÇÃO</a:t>
              </a:r>
            </a:p>
          </p:txBody>
        </p:sp>
        <p:sp>
          <p:nvSpPr>
            <p:cNvPr id="41" name="Text 18">
              <a:extLst>
                <a:ext uri="{FF2B5EF4-FFF2-40B4-BE49-F238E27FC236}">
                  <a16:creationId xmlns:a16="http://schemas.microsoft.com/office/drawing/2014/main" id="{F995E7D9-A2D9-676E-9D9D-B5643C52878E}"/>
                </a:ext>
              </a:extLst>
            </p:cNvPr>
            <p:cNvSpPr txBox="1"/>
            <p:nvPr/>
          </p:nvSpPr>
          <p:spPr>
            <a:xfrm>
              <a:off x="1005022" y="5289595"/>
              <a:ext cx="5831754" cy="7576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400" b="1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Acompanhar o serviço</a:t>
              </a:r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pt-BR" sz="1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Fiscalizar tecnicamente, conferir execução, registrar evidências e comunicar desvios.</a:t>
              </a:r>
            </a:p>
          </p:txBody>
        </p:sp>
      </p:grp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6A59F1B2-CCEF-2AD4-5161-A79D677FB63B}"/>
              </a:ext>
            </a:extLst>
          </p:cNvPr>
          <p:cNvGrpSpPr/>
          <p:nvPr/>
        </p:nvGrpSpPr>
        <p:grpSpPr>
          <a:xfrm>
            <a:off x="430540" y="4092940"/>
            <a:ext cx="360000" cy="360000"/>
            <a:chOff x="-788276" y="2505656"/>
            <a:chExt cx="360000" cy="360000"/>
          </a:xfrm>
        </p:grpSpPr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367F38A3-6A80-3137-10D8-22D51404C23E}"/>
                </a:ext>
              </a:extLst>
            </p:cNvPr>
            <p:cNvSpPr/>
            <p:nvPr/>
          </p:nvSpPr>
          <p:spPr>
            <a:xfrm>
              <a:off x="-788276" y="2505656"/>
              <a:ext cx="360000" cy="360000"/>
            </a:xfrm>
            <a:prstGeom prst="ellipse">
              <a:avLst/>
            </a:prstGeom>
            <a:solidFill>
              <a:srgbClr val="026766"/>
            </a:solidFill>
            <a:ln>
              <a:solidFill>
                <a:srgbClr val="0267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4" name="Text 14">
              <a:extLst>
                <a:ext uri="{FF2B5EF4-FFF2-40B4-BE49-F238E27FC236}">
                  <a16:creationId xmlns:a16="http://schemas.microsoft.com/office/drawing/2014/main" id="{7A9F58B6-09C3-C480-E83A-DF2170527D0D}"/>
                </a:ext>
              </a:extLst>
            </p:cNvPr>
            <p:cNvSpPr txBox="1"/>
            <p:nvPr/>
          </p:nvSpPr>
          <p:spPr>
            <a:xfrm>
              <a:off x="-788276" y="2537962"/>
              <a:ext cx="360000" cy="2953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pt-BR" sz="1600" b="1" noProof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5" name="Agrupar 44">
            <a:extLst>
              <a:ext uri="{FF2B5EF4-FFF2-40B4-BE49-F238E27FC236}">
                <a16:creationId xmlns:a16="http://schemas.microsoft.com/office/drawing/2014/main" id="{2326D4D9-230C-A761-5184-EC928DC280B9}"/>
              </a:ext>
            </a:extLst>
          </p:cNvPr>
          <p:cNvGrpSpPr/>
          <p:nvPr/>
        </p:nvGrpSpPr>
        <p:grpSpPr>
          <a:xfrm>
            <a:off x="430540" y="5357611"/>
            <a:ext cx="360000" cy="360000"/>
            <a:chOff x="-788276" y="2505656"/>
            <a:chExt cx="360000" cy="360000"/>
          </a:xfrm>
        </p:grpSpPr>
        <p:sp>
          <p:nvSpPr>
            <p:cNvPr id="46" name="Elipse 45">
              <a:extLst>
                <a:ext uri="{FF2B5EF4-FFF2-40B4-BE49-F238E27FC236}">
                  <a16:creationId xmlns:a16="http://schemas.microsoft.com/office/drawing/2014/main" id="{005BCAB7-12BC-E784-F2BF-57B27C6FF4BB}"/>
                </a:ext>
              </a:extLst>
            </p:cNvPr>
            <p:cNvSpPr/>
            <p:nvPr/>
          </p:nvSpPr>
          <p:spPr>
            <a:xfrm>
              <a:off x="-788276" y="2505656"/>
              <a:ext cx="360000" cy="360000"/>
            </a:xfrm>
            <a:prstGeom prst="ellipse">
              <a:avLst/>
            </a:prstGeom>
            <a:solidFill>
              <a:srgbClr val="026766"/>
            </a:solidFill>
            <a:ln>
              <a:solidFill>
                <a:srgbClr val="0267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7" name="Text 14">
              <a:extLst>
                <a:ext uri="{FF2B5EF4-FFF2-40B4-BE49-F238E27FC236}">
                  <a16:creationId xmlns:a16="http://schemas.microsoft.com/office/drawing/2014/main" id="{50DF01C1-BA20-D8D5-754B-14ACE04D2CB9}"/>
                </a:ext>
              </a:extLst>
            </p:cNvPr>
            <p:cNvSpPr txBox="1"/>
            <p:nvPr/>
          </p:nvSpPr>
          <p:spPr>
            <a:xfrm>
              <a:off x="-788276" y="2537962"/>
              <a:ext cx="360000" cy="2953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pt-BR" sz="1600" b="1" noProof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8" name="Agrupar 47">
            <a:extLst>
              <a:ext uri="{FF2B5EF4-FFF2-40B4-BE49-F238E27FC236}">
                <a16:creationId xmlns:a16="http://schemas.microsoft.com/office/drawing/2014/main" id="{1EAA4D02-2AAE-4A53-7C18-F5256C3C1CC9}"/>
              </a:ext>
            </a:extLst>
          </p:cNvPr>
          <p:cNvGrpSpPr/>
          <p:nvPr/>
        </p:nvGrpSpPr>
        <p:grpSpPr>
          <a:xfrm>
            <a:off x="430540" y="6644623"/>
            <a:ext cx="360000" cy="360000"/>
            <a:chOff x="-788276" y="2505656"/>
            <a:chExt cx="360000" cy="360000"/>
          </a:xfrm>
        </p:grpSpPr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95A6E678-9E00-A0BC-29AC-8BF75AFDF27F}"/>
                </a:ext>
              </a:extLst>
            </p:cNvPr>
            <p:cNvSpPr/>
            <p:nvPr/>
          </p:nvSpPr>
          <p:spPr>
            <a:xfrm>
              <a:off x="-788276" y="2505656"/>
              <a:ext cx="360000" cy="360000"/>
            </a:xfrm>
            <a:prstGeom prst="ellipse">
              <a:avLst/>
            </a:prstGeom>
            <a:solidFill>
              <a:srgbClr val="026766"/>
            </a:solidFill>
            <a:ln>
              <a:solidFill>
                <a:srgbClr val="0267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0" name="Text 14">
              <a:extLst>
                <a:ext uri="{FF2B5EF4-FFF2-40B4-BE49-F238E27FC236}">
                  <a16:creationId xmlns:a16="http://schemas.microsoft.com/office/drawing/2014/main" id="{48449A4A-B13F-2259-694F-B5A9EEBAD857}"/>
                </a:ext>
              </a:extLst>
            </p:cNvPr>
            <p:cNvSpPr txBox="1"/>
            <p:nvPr/>
          </p:nvSpPr>
          <p:spPr>
            <a:xfrm>
              <a:off x="-788276" y="2537962"/>
              <a:ext cx="360000" cy="2953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pt-BR" sz="1600" b="1" noProof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C3C21589-B823-DEFD-8AAA-9AAD26203871}"/>
              </a:ext>
            </a:extLst>
          </p:cNvPr>
          <p:cNvGrpSpPr/>
          <p:nvPr/>
        </p:nvGrpSpPr>
        <p:grpSpPr>
          <a:xfrm>
            <a:off x="430540" y="7902831"/>
            <a:ext cx="360000" cy="360000"/>
            <a:chOff x="-788276" y="2505656"/>
            <a:chExt cx="360000" cy="360000"/>
          </a:xfrm>
        </p:grpSpPr>
        <p:sp>
          <p:nvSpPr>
            <p:cNvPr id="52" name="Elipse 51">
              <a:extLst>
                <a:ext uri="{FF2B5EF4-FFF2-40B4-BE49-F238E27FC236}">
                  <a16:creationId xmlns:a16="http://schemas.microsoft.com/office/drawing/2014/main" id="{1B2FFEFD-33BA-0417-7570-88D9C8FCEDA8}"/>
                </a:ext>
              </a:extLst>
            </p:cNvPr>
            <p:cNvSpPr/>
            <p:nvPr/>
          </p:nvSpPr>
          <p:spPr>
            <a:xfrm>
              <a:off x="-788276" y="2505656"/>
              <a:ext cx="360000" cy="360000"/>
            </a:xfrm>
            <a:prstGeom prst="ellipse">
              <a:avLst/>
            </a:prstGeom>
            <a:solidFill>
              <a:srgbClr val="026766"/>
            </a:solidFill>
            <a:ln>
              <a:solidFill>
                <a:srgbClr val="0267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3" name="Text 14">
              <a:extLst>
                <a:ext uri="{FF2B5EF4-FFF2-40B4-BE49-F238E27FC236}">
                  <a16:creationId xmlns:a16="http://schemas.microsoft.com/office/drawing/2014/main" id="{247EA793-B6FE-6855-66EE-9516C2CF2047}"/>
                </a:ext>
              </a:extLst>
            </p:cNvPr>
            <p:cNvSpPr txBox="1"/>
            <p:nvPr/>
          </p:nvSpPr>
          <p:spPr>
            <a:xfrm>
              <a:off x="-788276" y="2537962"/>
              <a:ext cx="360000" cy="2953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</a:t>
              </a:r>
              <a:endParaRPr lang="pt-BR" sz="1600" b="1" noProof="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353312"/>
          </a:xfrm>
          <a:prstGeom prst="rect">
            <a:avLst/>
          </a:prstGeom>
          <a:solidFill>
            <a:srgbClr val="007E7A"/>
          </a:solidFill>
          <a:ln w="12700">
            <a:solidFill>
              <a:srgbClr val="007E7A">
                <a:alpha val="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 rot="900000">
            <a:off x="5961888" y="0"/>
            <a:ext cx="1600200" cy="1298448"/>
          </a:xfrm>
          <a:prstGeom prst="arc">
            <a:avLst/>
          </a:prstGeom>
          <a:solidFill>
            <a:srgbClr val="007E7A">
              <a:alpha val="0"/>
            </a:srgbClr>
          </a:solidFill>
          <a:ln w="228600">
            <a:solidFill>
              <a:srgbClr val="0ABB98">
                <a:alpha val="5500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 rot="1500000">
            <a:off x="6355080" y="0"/>
            <a:ext cx="1207008" cy="1207008"/>
          </a:xfrm>
          <a:prstGeom prst="arc">
            <a:avLst/>
          </a:prstGeom>
          <a:solidFill>
            <a:srgbClr val="007E7A">
              <a:alpha val="0"/>
            </a:srgbClr>
          </a:solidFill>
          <a:ln w="139700">
            <a:solidFill>
              <a:srgbClr val="3CB5E5">
                <a:alpha val="6200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420624" y="22860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100" b="1" noProof="0" dirty="0">
                <a:solidFill>
                  <a:srgbClr val="BC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MOBILIZAÇÃO E KICK OFF</a:t>
            </a:r>
            <a:endParaRPr lang="pt-BR" sz="1100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420624" y="502920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2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pt-BR" sz="2500" noProof="0" dirty="0"/>
          </a:p>
        </p:txBody>
      </p:sp>
      <p:sp>
        <p:nvSpPr>
          <p:cNvPr id="7" name="Shape 5"/>
          <p:cNvSpPr/>
          <p:nvPr/>
        </p:nvSpPr>
        <p:spPr>
          <a:xfrm>
            <a:off x="6793992" y="475488"/>
            <a:ext cx="438912" cy="438912"/>
          </a:xfrm>
          <a:prstGeom prst="ellipse">
            <a:avLst/>
          </a:prstGeom>
          <a:solidFill>
            <a:srgbClr val="FFFFFF">
              <a:alpha val="18000"/>
            </a:srgbClr>
          </a:solidFill>
          <a:ln w="15240">
            <a:solidFill>
              <a:srgbClr val="FFFFFF">
                <a:alpha val="7500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6793992" y="4754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pt-BR" sz="1200" noProof="0" dirty="0"/>
          </a:p>
        </p:txBody>
      </p:sp>
      <p:sp>
        <p:nvSpPr>
          <p:cNvPr id="9" name="Shape 7"/>
          <p:cNvSpPr/>
          <p:nvPr/>
        </p:nvSpPr>
        <p:spPr>
          <a:xfrm>
            <a:off x="0" y="1353312"/>
            <a:ext cx="7562088" cy="8805672"/>
          </a:xfrm>
          <a:prstGeom prst="rect">
            <a:avLst/>
          </a:prstGeom>
          <a:solidFill>
            <a:srgbClr val="F7FAF9"/>
          </a:solidFill>
          <a:ln w="12700">
            <a:solidFill>
              <a:srgbClr val="F7FAF9">
                <a:alpha val="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274320" y="1581912"/>
            <a:ext cx="3456432" cy="8193024"/>
          </a:xfrm>
          <a:prstGeom prst="roundRect">
            <a:avLst>
              <a:gd name="adj" fmla="val 1323"/>
            </a:avLst>
          </a:prstGeom>
          <a:solidFill>
            <a:srgbClr val="FFFFFF"/>
          </a:solidFill>
          <a:ln w="8890">
            <a:solidFill>
              <a:srgbClr val="E4EFED"/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11" name="Shape 9"/>
          <p:cNvSpPr/>
          <p:nvPr/>
        </p:nvSpPr>
        <p:spPr>
          <a:xfrm>
            <a:off x="3822192" y="1581912"/>
            <a:ext cx="3456432" cy="8193024"/>
          </a:xfrm>
          <a:prstGeom prst="roundRect">
            <a:avLst>
              <a:gd name="adj" fmla="val 1323"/>
            </a:avLst>
          </a:prstGeom>
          <a:solidFill>
            <a:srgbClr val="F1F8F7"/>
          </a:solidFill>
          <a:ln w="8890">
            <a:solidFill>
              <a:srgbClr val="E4EFED"/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12" name="Shape 10"/>
          <p:cNvSpPr/>
          <p:nvPr/>
        </p:nvSpPr>
        <p:spPr>
          <a:xfrm>
            <a:off x="6080760" y="8183880"/>
            <a:ext cx="1783080" cy="1783080"/>
          </a:xfrm>
          <a:prstGeom prst="ellipse">
            <a:avLst/>
          </a:prstGeom>
          <a:solidFill>
            <a:srgbClr val="FFFFFF">
              <a:alpha val="0"/>
            </a:srgbClr>
          </a:solidFill>
          <a:ln w="63500">
            <a:solidFill>
              <a:srgbClr val="0ABB98">
                <a:alpha val="2200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6281928" y="836676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3900" b="1" noProof="0" dirty="0">
                <a:solidFill>
                  <a:srgbClr val="DC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pt-BR" sz="3900" noProof="0" dirty="0"/>
          </a:p>
        </p:txBody>
      </p:sp>
      <p:sp>
        <p:nvSpPr>
          <p:cNvPr id="14" name="Text 12"/>
          <p:cNvSpPr txBox="1"/>
          <p:nvPr/>
        </p:nvSpPr>
        <p:spPr>
          <a:xfrm>
            <a:off x="402047" y="1746504"/>
            <a:ext cx="6730273" cy="636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14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pt-BR" sz="1600" b="1" noProof="0" dirty="0">
                <a:solidFill>
                  <a:srgbClr val="026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mobilização</a:t>
            </a:r>
            <a:r>
              <a:rPr lang="pt-BR" sz="14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o primeiro momento de verificação em campo. Antes do início dos serviços, confirme se as condições previstas para execução foram atendidas.</a:t>
            </a:r>
            <a:endParaRPr lang="pt-BR" sz="1400" b="1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E93AE2F0-2719-1BF8-75E8-BF337AA876DE}"/>
              </a:ext>
            </a:extLst>
          </p:cNvPr>
          <p:cNvGrpSpPr/>
          <p:nvPr/>
        </p:nvGrpSpPr>
        <p:grpSpPr>
          <a:xfrm>
            <a:off x="402047" y="2690005"/>
            <a:ext cx="3143322" cy="402044"/>
            <a:chOff x="450318" y="2866467"/>
            <a:chExt cx="3143322" cy="402044"/>
          </a:xfrm>
        </p:grpSpPr>
        <p:sp>
          <p:nvSpPr>
            <p:cNvPr id="15" name="Shape 13"/>
            <p:cNvSpPr/>
            <p:nvPr/>
          </p:nvSpPr>
          <p:spPr>
            <a:xfrm>
              <a:off x="450318" y="2866467"/>
              <a:ext cx="3143322" cy="402044"/>
            </a:xfrm>
            <a:prstGeom prst="roundRect">
              <a:avLst>
                <a:gd name="adj" fmla="val 7960"/>
              </a:avLst>
            </a:prstGeom>
            <a:solidFill>
              <a:srgbClr val="3CB5E5">
                <a:alpha val="10000"/>
              </a:srgbClr>
            </a:solidFill>
            <a:ln w="10160">
              <a:solidFill>
                <a:srgbClr val="3CB5E5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450318" y="2866467"/>
              <a:ext cx="45720" cy="402044"/>
            </a:xfrm>
            <a:prstGeom prst="rect">
              <a:avLst/>
            </a:prstGeom>
            <a:solidFill>
              <a:srgbClr val="3CB5E5"/>
            </a:solidFill>
            <a:ln w="12700">
              <a:solidFill>
                <a:srgbClr val="3CB5E5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17" name="Text 15"/>
            <p:cNvSpPr txBox="1"/>
            <p:nvPr/>
          </p:nvSpPr>
          <p:spPr>
            <a:xfrm>
              <a:off x="528042" y="2898471"/>
              <a:ext cx="2987874" cy="3334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3CB5E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CANTEIRO E INSTALAÇÕES</a:t>
              </a:r>
              <a:endParaRPr lang="pt-BR" sz="1600" noProof="0" dirty="0"/>
            </a:p>
          </p:txBody>
        </p:sp>
      </p:grp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E82C2036-2C41-DF90-5652-DE13AC560250}"/>
              </a:ext>
            </a:extLst>
          </p:cNvPr>
          <p:cNvGrpSpPr/>
          <p:nvPr/>
        </p:nvGrpSpPr>
        <p:grpSpPr>
          <a:xfrm>
            <a:off x="3969210" y="2690005"/>
            <a:ext cx="3143322" cy="402044"/>
            <a:chOff x="3699181" y="2866467"/>
            <a:chExt cx="3143322" cy="402044"/>
          </a:xfrm>
        </p:grpSpPr>
        <p:sp>
          <p:nvSpPr>
            <p:cNvPr id="18" name="Shape 16"/>
            <p:cNvSpPr/>
            <p:nvPr/>
          </p:nvSpPr>
          <p:spPr>
            <a:xfrm>
              <a:off x="3699181" y="2866467"/>
              <a:ext cx="3143322" cy="402044"/>
            </a:xfrm>
            <a:prstGeom prst="roundRect">
              <a:avLst>
                <a:gd name="adj" fmla="val 7960"/>
              </a:avLst>
            </a:prstGeom>
            <a:solidFill>
              <a:srgbClr val="0ABB98">
                <a:alpha val="10000"/>
              </a:srgbClr>
            </a:solidFill>
            <a:ln w="10160">
              <a:solidFill>
                <a:srgbClr val="0ABB98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3699181" y="2866467"/>
              <a:ext cx="45720" cy="402044"/>
            </a:xfrm>
            <a:prstGeom prst="rect">
              <a:avLst/>
            </a:prstGeom>
            <a:solidFill>
              <a:srgbClr val="0ABB98"/>
            </a:solidFill>
            <a:ln w="12700">
              <a:solidFill>
                <a:srgbClr val="0ABB98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20" name="Text 18"/>
            <p:cNvSpPr txBox="1"/>
            <p:nvPr/>
          </p:nvSpPr>
          <p:spPr>
            <a:xfrm>
              <a:off x="3776905" y="2898471"/>
              <a:ext cx="2987874" cy="3334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0ABB9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EQUIPAMENTOS E ATIVOS</a:t>
              </a:r>
              <a:endParaRPr lang="pt-BR" sz="1600" noProof="0" dirty="0"/>
            </a:p>
          </p:txBody>
        </p:sp>
      </p:grpSp>
      <p:sp>
        <p:nvSpPr>
          <p:cNvPr id="21" name="Text 19"/>
          <p:cNvSpPr txBox="1"/>
          <p:nvPr/>
        </p:nvSpPr>
        <p:spPr>
          <a:xfrm>
            <a:off x="402047" y="3166829"/>
            <a:ext cx="2987874" cy="757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Fiscalizar e reportar as condições de instalação do canteiro, quando aplicável.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3969210" y="3166829"/>
            <a:ext cx="2987874" cy="757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em campo a instalação e as condições dos equipamentos previstos no contrato.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4C712F06-4DB4-4A36-CB28-E0790AB3EDAF}"/>
              </a:ext>
            </a:extLst>
          </p:cNvPr>
          <p:cNvGrpSpPr/>
          <p:nvPr/>
        </p:nvGrpSpPr>
        <p:grpSpPr>
          <a:xfrm>
            <a:off x="402047" y="4121119"/>
            <a:ext cx="3143322" cy="402044"/>
            <a:chOff x="450318" y="4458001"/>
            <a:chExt cx="3143322" cy="402044"/>
          </a:xfrm>
        </p:grpSpPr>
        <p:sp>
          <p:nvSpPr>
            <p:cNvPr id="23" name="Shape 21"/>
            <p:cNvSpPr/>
            <p:nvPr/>
          </p:nvSpPr>
          <p:spPr>
            <a:xfrm>
              <a:off x="450318" y="4458001"/>
              <a:ext cx="3143322" cy="402044"/>
            </a:xfrm>
            <a:prstGeom prst="roundRect">
              <a:avLst>
                <a:gd name="adj" fmla="val 7960"/>
              </a:avLst>
            </a:prstGeom>
            <a:solidFill>
              <a:srgbClr val="EDB111">
                <a:alpha val="10000"/>
              </a:srgbClr>
            </a:solidFill>
            <a:ln w="10160">
              <a:solidFill>
                <a:srgbClr val="EDB111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450318" y="4458001"/>
              <a:ext cx="45720" cy="402044"/>
            </a:xfrm>
            <a:prstGeom prst="rect">
              <a:avLst/>
            </a:prstGeom>
            <a:solidFill>
              <a:srgbClr val="EDB111"/>
            </a:solidFill>
            <a:ln w="12700">
              <a:solidFill>
                <a:srgbClr val="EDB111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25" name="Text 23"/>
            <p:cNvSpPr txBox="1"/>
            <p:nvPr/>
          </p:nvSpPr>
          <p:spPr>
            <a:xfrm>
              <a:off x="528042" y="4490005"/>
              <a:ext cx="2987874" cy="3334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EDB1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CONDIÇÕES PARA EXECUÇÃO</a:t>
              </a:r>
              <a:endParaRPr lang="pt-BR" sz="1600" noProof="0" dirty="0"/>
            </a:p>
          </p:txBody>
        </p:sp>
      </p:grpSp>
      <p:grpSp>
        <p:nvGrpSpPr>
          <p:cNvPr id="52" name="Agrupar 51">
            <a:extLst>
              <a:ext uri="{FF2B5EF4-FFF2-40B4-BE49-F238E27FC236}">
                <a16:creationId xmlns:a16="http://schemas.microsoft.com/office/drawing/2014/main" id="{123A0D89-7011-5D3D-1C32-C45003DF323F}"/>
              </a:ext>
            </a:extLst>
          </p:cNvPr>
          <p:cNvGrpSpPr/>
          <p:nvPr/>
        </p:nvGrpSpPr>
        <p:grpSpPr>
          <a:xfrm>
            <a:off x="3969210" y="4121119"/>
            <a:ext cx="3143322" cy="402044"/>
            <a:chOff x="3699181" y="4458001"/>
            <a:chExt cx="3143322" cy="402044"/>
          </a:xfrm>
        </p:grpSpPr>
        <p:sp>
          <p:nvSpPr>
            <p:cNvPr id="26" name="Shape 24"/>
            <p:cNvSpPr/>
            <p:nvPr/>
          </p:nvSpPr>
          <p:spPr>
            <a:xfrm>
              <a:off x="3699181" y="4458001"/>
              <a:ext cx="3143322" cy="402044"/>
            </a:xfrm>
            <a:prstGeom prst="roundRect">
              <a:avLst>
                <a:gd name="adj" fmla="val 7960"/>
              </a:avLst>
            </a:prstGeom>
            <a:solidFill>
              <a:srgbClr val="007E7A">
                <a:alpha val="10000"/>
              </a:srgbClr>
            </a:solidFill>
            <a:ln w="10160">
              <a:solidFill>
                <a:srgbClr val="007E7A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3699181" y="4458001"/>
              <a:ext cx="45720" cy="402044"/>
            </a:xfrm>
            <a:prstGeom prst="rect">
              <a:avLst/>
            </a:prstGeom>
            <a:solidFill>
              <a:srgbClr val="007E7A"/>
            </a:solidFill>
            <a:ln w="12700">
              <a:solidFill>
                <a:srgbClr val="007E7A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28" name="Text 26"/>
            <p:cNvSpPr txBox="1"/>
            <p:nvPr/>
          </p:nvSpPr>
          <p:spPr>
            <a:xfrm>
              <a:off x="3776905" y="4490005"/>
              <a:ext cx="2987874" cy="3334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007E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RISCOS E SSMA</a:t>
              </a:r>
              <a:endParaRPr lang="pt-BR" sz="1600" noProof="0" dirty="0"/>
            </a:p>
          </p:txBody>
        </p:sp>
      </p:grpSp>
      <p:sp>
        <p:nvSpPr>
          <p:cNvPr id="29" name="Text 27"/>
          <p:cNvSpPr txBox="1"/>
          <p:nvPr/>
        </p:nvSpPr>
        <p:spPr>
          <a:xfrm>
            <a:off x="402047" y="4611988"/>
            <a:ext cx="2987874" cy="757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Observar se a estrutura encontrada em campo está aderente às condições previstas para o serviço.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3969210" y="4611988"/>
            <a:ext cx="2987874" cy="571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Conhecer os principais riscos da área e as orientações aplicáveis à atividade.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4" name="Agrupar 53">
            <a:extLst>
              <a:ext uri="{FF2B5EF4-FFF2-40B4-BE49-F238E27FC236}">
                <a16:creationId xmlns:a16="http://schemas.microsoft.com/office/drawing/2014/main" id="{148B6252-5736-3B2D-31CC-FCCB09346C31}"/>
              </a:ext>
            </a:extLst>
          </p:cNvPr>
          <p:cNvGrpSpPr/>
          <p:nvPr/>
        </p:nvGrpSpPr>
        <p:grpSpPr>
          <a:xfrm>
            <a:off x="402047" y="5712652"/>
            <a:ext cx="3143322" cy="402044"/>
            <a:chOff x="450318" y="6049534"/>
            <a:chExt cx="3143322" cy="402044"/>
          </a:xfrm>
        </p:grpSpPr>
        <p:sp>
          <p:nvSpPr>
            <p:cNvPr id="31" name="Shape 29"/>
            <p:cNvSpPr/>
            <p:nvPr/>
          </p:nvSpPr>
          <p:spPr>
            <a:xfrm>
              <a:off x="450318" y="6049534"/>
              <a:ext cx="3143322" cy="402044"/>
            </a:xfrm>
            <a:prstGeom prst="roundRect">
              <a:avLst>
                <a:gd name="adj" fmla="val 7960"/>
              </a:avLst>
            </a:prstGeom>
            <a:solidFill>
              <a:srgbClr val="E37222">
                <a:alpha val="10000"/>
              </a:srgbClr>
            </a:solidFill>
            <a:ln w="10160">
              <a:solidFill>
                <a:srgbClr val="E37222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450318" y="6049534"/>
              <a:ext cx="45720" cy="402044"/>
            </a:xfrm>
            <a:prstGeom prst="rect">
              <a:avLst/>
            </a:prstGeom>
            <a:solidFill>
              <a:srgbClr val="E37222"/>
            </a:solidFill>
            <a:ln w="12700">
              <a:solidFill>
                <a:srgbClr val="E37222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33" name="Text 31"/>
            <p:cNvSpPr txBox="1"/>
            <p:nvPr/>
          </p:nvSpPr>
          <p:spPr>
            <a:xfrm>
              <a:off x="528042" y="6081538"/>
              <a:ext cx="2987874" cy="3334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E37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DESVIOS</a:t>
              </a:r>
              <a:endParaRPr lang="pt-BR" sz="1600" noProof="0" dirty="0"/>
            </a:p>
          </p:txBody>
        </p:sp>
      </p:grpSp>
      <p:grpSp>
        <p:nvGrpSpPr>
          <p:cNvPr id="53" name="Agrupar 52">
            <a:extLst>
              <a:ext uri="{FF2B5EF4-FFF2-40B4-BE49-F238E27FC236}">
                <a16:creationId xmlns:a16="http://schemas.microsoft.com/office/drawing/2014/main" id="{90075630-1416-B77F-E4AC-8C96787B9097}"/>
              </a:ext>
            </a:extLst>
          </p:cNvPr>
          <p:cNvGrpSpPr/>
          <p:nvPr/>
        </p:nvGrpSpPr>
        <p:grpSpPr>
          <a:xfrm>
            <a:off x="3969210" y="5712652"/>
            <a:ext cx="3143322" cy="402044"/>
            <a:chOff x="3699181" y="6049534"/>
            <a:chExt cx="3143322" cy="402044"/>
          </a:xfrm>
        </p:grpSpPr>
        <p:sp>
          <p:nvSpPr>
            <p:cNvPr id="34" name="Shape 32"/>
            <p:cNvSpPr/>
            <p:nvPr/>
          </p:nvSpPr>
          <p:spPr>
            <a:xfrm>
              <a:off x="3699181" y="6049534"/>
              <a:ext cx="3143322" cy="402044"/>
            </a:xfrm>
            <a:prstGeom prst="roundRect">
              <a:avLst>
                <a:gd name="adj" fmla="val 7960"/>
              </a:avLst>
            </a:prstGeom>
            <a:solidFill>
              <a:srgbClr val="C0305E">
                <a:alpha val="10000"/>
              </a:srgbClr>
            </a:solidFill>
            <a:ln w="10160">
              <a:solidFill>
                <a:srgbClr val="C0305E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3699181" y="6049534"/>
              <a:ext cx="45720" cy="402044"/>
            </a:xfrm>
            <a:prstGeom prst="rect">
              <a:avLst/>
            </a:prstGeom>
            <a:solidFill>
              <a:srgbClr val="C0305E"/>
            </a:solidFill>
            <a:ln w="12700">
              <a:solidFill>
                <a:srgbClr val="C0305E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36" name="Text 34"/>
            <p:cNvSpPr txBox="1"/>
            <p:nvPr/>
          </p:nvSpPr>
          <p:spPr>
            <a:xfrm>
              <a:off x="3776905" y="6081538"/>
              <a:ext cx="2987874" cy="3334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C030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KICK OFF</a:t>
              </a:r>
              <a:endParaRPr lang="pt-BR" sz="1600" noProof="0" dirty="0"/>
            </a:p>
          </p:txBody>
        </p:sp>
      </p:grpSp>
      <p:sp>
        <p:nvSpPr>
          <p:cNvPr id="40" name="Text 38"/>
          <p:cNvSpPr txBox="1"/>
          <p:nvPr/>
        </p:nvSpPr>
        <p:spPr>
          <a:xfrm>
            <a:off x="3969210" y="6189530"/>
            <a:ext cx="2987874" cy="944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Participar dos alinhamentos relacionados à execução técnica e conhecer as responsabilidades e interfaces do contrato.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6" name="Agrupar 55">
            <a:extLst>
              <a:ext uri="{FF2B5EF4-FFF2-40B4-BE49-F238E27FC236}">
                <a16:creationId xmlns:a16="http://schemas.microsoft.com/office/drawing/2014/main" id="{22C7CF44-B553-8C78-9057-61B1996D7CE4}"/>
              </a:ext>
            </a:extLst>
          </p:cNvPr>
          <p:cNvGrpSpPr/>
          <p:nvPr/>
        </p:nvGrpSpPr>
        <p:grpSpPr>
          <a:xfrm>
            <a:off x="382604" y="7758312"/>
            <a:ext cx="1037844" cy="434048"/>
            <a:chOff x="382604" y="7774354"/>
            <a:chExt cx="1037844" cy="434048"/>
          </a:xfrm>
        </p:grpSpPr>
        <p:sp>
          <p:nvSpPr>
            <p:cNvPr id="41" name="Shape 39"/>
            <p:cNvSpPr/>
            <p:nvPr/>
          </p:nvSpPr>
          <p:spPr>
            <a:xfrm>
              <a:off x="382604" y="7774354"/>
              <a:ext cx="1037844" cy="434048"/>
            </a:xfrm>
            <a:prstGeom prst="roundRect">
              <a:avLst>
                <a:gd name="adj" fmla="val 8427"/>
              </a:avLst>
            </a:prstGeom>
            <a:solidFill>
              <a:srgbClr val="FFF2E8"/>
            </a:solidFill>
            <a:ln w="12700">
              <a:solidFill>
                <a:srgbClr val="E37222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382604" y="7774354"/>
              <a:ext cx="50292" cy="434048"/>
            </a:xfrm>
            <a:prstGeom prst="rect">
              <a:avLst/>
            </a:prstGeom>
            <a:solidFill>
              <a:srgbClr val="E37222"/>
            </a:solidFill>
            <a:ln w="12700">
              <a:solidFill>
                <a:srgbClr val="E37222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43" name="Text 41"/>
            <p:cNvSpPr txBox="1"/>
            <p:nvPr/>
          </p:nvSpPr>
          <p:spPr>
            <a:xfrm>
              <a:off x="474044" y="7824646"/>
              <a:ext cx="854964" cy="3334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E37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ATENÇÃO</a:t>
              </a:r>
              <a:endParaRPr lang="pt-BR" sz="1600" noProof="0" dirty="0"/>
            </a:p>
          </p:txBody>
        </p:sp>
      </p:grpSp>
      <p:sp>
        <p:nvSpPr>
          <p:cNvPr id="44" name="Text 42"/>
          <p:cNvSpPr txBox="1"/>
          <p:nvPr/>
        </p:nvSpPr>
        <p:spPr>
          <a:xfrm>
            <a:off x="492042" y="8249055"/>
            <a:ext cx="6640278" cy="1333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16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altere em campo premissas previstas no contrato ou no QQP.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Mudanças em canteiro, instalações, forma de execução ou outras condições contratuais devem ser direcionadas ao Gestor de Contratos para avaliação e tratamento pelas áreas competentes. 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que houver necessidade de ajuste, faça o registro formal.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5" name="Shape 43"/>
          <p:cNvSpPr/>
          <p:nvPr/>
        </p:nvSpPr>
        <p:spPr>
          <a:xfrm>
            <a:off x="320040" y="10232136"/>
            <a:ext cx="6922008" cy="1"/>
          </a:xfrm>
          <a:prstGeom prst="line">
            <a:avLst/>
          </a:prstGeom>
          <a:noFill/>
          <a:ln w="10160">
            <a:solidFill>
              <a:srgbClr val="D9E5E3"/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48" name="Text 46"/>
          <p:cNvSpPr txBox="1"/>
          <p:nvPr/>
        </p:nvSpPr>
        <p:spPr>
          <a:xfrm>
            <a:off x="6355080" y="1030528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pt-BR" sz="800" b="1" noProof="0" dirty="0">
                <a:solidFill>
                  <a:srgbClr val="667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pt-BR" sz="800" noProof="0" dirty="0"/>
          </a:p>
        </p:txBody>
      </p:sp>
      <p:sp>
        <p:nvSpPr>
          <p:cNvPr id="50" name="Text 26">
            <a:extLst>
              <a:ext uri="{FF2B5EF4-FFF2-40B4-BE49-F238E27FC236}">
                <a16:creationId xmlns:a16="http://schemas.microsoft.com/office/drawing/2014/main" id="{37C15707-95EB-6F03-46F5-F1E496D45893}"/>
              </a:ext>
            </a:extLst>
          </p:cNvPr>
          <p:cNvSpPr txBox="1"/>
          <p:nvPr/>
        </p:nvSpPr>
        <p:spPr>
          <a:xfrm>
            <a:off x="1481328" y="10373868"/>
            <a:ext cx="452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9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 de Serviços Operacionais e Segurança Empresarial| Vale S.A.</a:t>
            </a:r>
            <a:endParaRPr lang="pt-BR" sz="9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9" name="Text 38">
            <a:extLst>
              <a:ext uri="{FF2B5EF4-FFF2-40B4-BE49-F238E27FC236}">
                <a16:creationId xmlns:a16="http://schemas.microsoft.com/office/drawing/2014/main" id="{1169BAEF-678E-C01A-4A2F-DD130AC22FE8}"/>
              </a:ext>
            </a:extLst>
          </p:cNvPr>
          <p:cNvSpPr txBox="1"/>
          <p:nvPr/>
        </p:nvSpPr>
        <p:spPr>
          <a:xfrm>
            <a:off x="402047" y="6189530"/>
            <a:ext cx="2987874" cy="757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e comunicar ao Gestor de Contratos os desvios identificados durante a mobilização.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353312"/>
          </a:xfrm>
          <a:prstGeom prst="rect">
            <a:avLst/>
          </a:prstGeom>
          <a:solidFill>
            <a:srgbClr val="007E7A"/>
          </a:solidFill>
          <a:ln w="12700">
            <a:solidFill>
              <a:srgbClr val="007E7A">
                <a:alpha val="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 rot="900000">
            <a:off x="5961888" y="0"/>
            <a:ext cx="1600200" cy="1298448"/>
          </a:xfrm>
          <a:prstGeom prst="arc">
            <a:avLst/>
          </a:prstGeom>
          <a:solidFill>
            <a:srgbClr val="007E7A">
              <a:alpha val="0"/>
            </a:srgbClr>
          </a:solidFill>
          <a:ln w="228600">
            <a:solidFill>
              <a:srgbClr val="0ABB98">
                <a:alpha val="5500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 rot="1500000">
            <a:off x="6355080" y="0"/>
            <a:ext cx="1207008" cy="1207008"/>
          </a:xfrm>
          <a:prstGeom prst="arc">
            <a:avLst/>
          </a:prstGeom>
          <a:solidFill>
            <a:srgbClr val="007E7A">
              <a:alpha val="0"/>
            </a:srgbClr>
          </a:solidFill>
          <a:ln w="139700">
            <a:solidFill>
              <a:srgbClr val="3CB5E5">
                <a:alpha val="6200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420624" y="22860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100" b="1" noProof="0" dirty="0">
                <a:solidFill>
                  <a:srgbClr val="BC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FISCALIZAÇÃO EM CAMPO</a:t>
            </a:r>
            <a:endParaRPr lang="pt-BR" sz="1100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420624" y="502920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2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observar</a:t>
            </a:r>
            <a:endParaRPr lang="pt-BR" sz="2500" noProof="0" dirty="0"/>
          </a:p>
        </p:txBody>
      </p:sp>
      <p:sp>
        <p:nvSpPr>
          <p:cNvPr id="7" name="Shape 5"/>
          <p:cNvSpPr/>
          <p:nvPr/>
        </p:nvSpPr>
        <p:spPr>
          <a:xfrm>
            <a:off x="6793992" y="475488"/>
            <a:ext cx="438912" cy="438912"/>
          </a:xfrm>
          <a:prstGeom prst="ellipse">
            <a:avLst/>
          </a:prstGeom>
          <a:solidFill>
            <a:srgbClr val="FFFFFF">
              <a:alpha val="18000"/>
            </a:srgbClr>
          </a:solidFill>
          <a:ln w="15240">
            <a:solidFill>
              <a:srgbClr val="FFFFFF">
                <a:alpha val="7500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6793992" y="4754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pt-BR" sz="1200" noProof="0" dirty="0"/>
          </a:p>
        </p:txBody>
      </p:sp>
      <p:sp>
        <p:nvSpPr>
          <p:cNvPr id="9" name="Shape 7"/>
          <p:cNvSpPr/>
          <p:nvPr/>
        </p:nvSpPr>
        <p:spPr>
          <a:xfrm>
            <a:off x="0" y="1353312"/>
            <a:ext cx="7562088" cy="8805672"/>
          </a:xfrm>
          <a:prstGeom prst="rect">
            <a:avLst/>
          </a:prstGeom>
          <a:solidFill>
            <a:srgbClr val="F7FAF9"/>
          </a:solidFill>
          <a:ln w="12700">
            <a:solidFill>
              <a:srgbClr val="F7FAF9">
                <a:alpha val="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274320" y="1581912"/>
            <a:ext cx="3456432" cy="8193024"/>
          </a:xfrm>
          <a:prstGeom prst="roundRect">
            <a:avLst>
              <a:gd name="adj" fmla="val 1323"/>
            </a:avLst>
          </a:prstGeom>
          <a:solidFill>
            <a:srgbClr val="FFFFFF"/>
          </a:solidFill>
          <a:ln w="8890">
            <a:solidFill>
              <a:srgbClr val="E4EFED"/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11" name="Shape 9"/>
          <p:cNvSpPr/>
          <p:nvPr/>
        </p:nvSpPr>
        <p:spPr>
          <a:xfrm>
            <a:off x="3822192" y="1581912"/>
            <a:ext cx="3456432" cy="8193024"/>
          </a:xfrm>
          <a:prstGeom prst="roundRect">
            <a:avLst>
              <a:gd name="adj" fmla="val 1323"/>
            </a:avLst>
          </a:prstGeom>
          <a:solidFill>
            <a:srgbClr val="F1F8F7"/>
          </a:solidFill>
          <a:ln w="8890">
            <a:solidFill>
              <a:srgbClr val="E4EFED"/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12" name="Shape 10"/>
          <p:cNvSpPr/>
          <p:nvPr/>
        </p:nvSpPr>
        <p:spPr>
          <a:xfrm>
            <a:off x="6080760" y="8183880"/>
            <a:ext cx="1783080" cy="1783080"/>
          </a:xfrm>
          <a:prstGeom prst="ellipse">
            <a:avLst/>
          </a:prstGeom>
          <a:solidFill>
            <a:srgbClr val="FFFFFF">
              <a:alpha val="0"/>
            </a:srgbClr>
          </a:solidFill>
          <a:ln w="63500">
            <a:solidFill>
              <a:srgbClr val="0ABB98">
                <a:alpha val="2200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6281928" y="836676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3900" b="1" noProof="0" dirty="0">
                <a:solidFill>
                  <a:srgbClr val="DC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pt-BR" sz="3900" noProof="0" dirty="0"/>
          </a:p>
        </p:txBody>
      </p:sp>
      <p:sp>
        <p:nvSpPr>
          <p:cNvPr id="14" name="Text 12"/>
          <p:cNvSpPr txBox="1"/>
          <p:nvPr/>
        </p:nvSpPr>
        <p:spPr>
          <a:xfrm>
            <a:off x="402047" y="1746504"/>
            <a:ext cx="6821713" cy="514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1600" b="1" noProof="0" dirty="0">
                <a:solidFill>
                  <a:srgbClr val="303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Fiscalizar não é apenas confirmar que uma atividade aconteceu. É verificar como o serviço foi executado e se o resultado está aderente ao contratado.</a:t>
            </a:r>
            <a:endParaRPr lang="pt-BR" sz="1600" b="1" noProof="0" dirty="0"/>
          </a:p>
        </p:txBody>
      </p:sp>
      <p:grpSp>
        <p:nvGrpSpPr>
          <p:cNvPr id="56" name="Agrupar 55">
            <a:extLst>
              <a:ext uri="{FF2B5EF4-FFF2-40B4-BE49-F238E27FC236}">
                <a16:creationId xmlns:a16="http://schemas.microsoft.com/office/drawing/2014/main" id="{54E77198-2AB8-2320-D948-D86241301808}"/>
              </a:ext>
            </a:extLst>
          </p:cNvPr>
          <p:cNvGrpSpPr/>
          <p:nvPr/>
        </p:nvGrpSpPr>
        <p:grpSpPr>
          <a:xfrm>
            <a:off x="450318" y="2808380"/>
            <a:ext cx="3143322" cy="337957"/>
            <a:chOff x="450318" y="2522630"/>
            <a:chExt cx="3143322" cy="337957"/>
          </a:xfrm>
        </p:grpSpPr>
        <p:sp>
          <p:nvSpPr>
            <p:cNvPr id="15" name="Shape 13"/>
            <p:cNvSpPr/>
            <p:nvPr/>
          </p:nvSpPr>
          <p:spPr>
            <a:xfrm>
              <a:off x="450318" y="2522630"/>
              <a:ext cx="3143322" cy="337957"/>
            </a:xfrm>
            <a:prstGeom prst="roundRect">
              <a:avLst>
                <a:gd name="adj" fmla="val 9470"/>
              </a:avLst>
            </a:prstGeom>
            <a:solidFill>
              <a:srgbClr val="3CB5E5">
                <a:alpha val="10000"/>
              </a:srgbClr>
            </a:solidFill>
            <a:ln w="10160">
              <a:solidFill>
                <a:srgbClr val="3CB5E5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450318" y="2522630"/>
              <a:ext cx="45720" cy="337957"/>
            </a:xfrm>
            <a:prstGeom prst="rect">
              <a:avLst/>
            </a:prstGeom>
            <a:solidFill>
              <a:srgbClr val="3CB5E5"/>
            </a:solidFill>
            <a:ln w="12700">
              <a:solidFill>
                <a:srgbClr val="3CB5E5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17" name="Text 15"/>
            <p:cNvSpPr txBox="1"/>
            <p:nvPr/>
          </p:nvSpPr>
          <p:spPr>
            <a:xfrm>
              <a:off x="528042" y="2554634"/>
              <a:ext cx="2987874" cy="2693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3CB5E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ESCOPO</a:t>
              </a:r>
              <a:endParaRPr lang="pt-BR" sz="1600" noProof="0" dirty="0"/>
            </a:p>
          </p:txBody>
        </p:sp>
      </p:grpSp>
      <p:grpSp>
        <p:nvGrpSpPr>
          <p:cNvPr id="62" name="Agrupar 61">
            <a:extLst>
              <a:ext uri="{FF2B5EF4-FFF2-40B4-BE49-F238E27FC236}">
                <a16:creationId xmlns:a16="http://schemas.microsoft.com/office/drawing/2014/main" id="{39D73EEF-4052-AAE2-7DD1-BB220707C48E}"/>
              </a:ext>
            </a:extLst>
          </p:cNvPr>
          <p:cNvGrpSpPr/>
          <p:nvPr/>
        </p:nvGrpSpPr>
        <p:grpSpPr>
          <a:xfrm>
            <a:off x="3970895" y="2808380"/>
            <a:ext cx="3143322" cy="337957"/>
            <a:chOff x="3699181" y="2522630"/>
            <a:chExt cx="3143322" cy="337957"/>
          </a:xfrm>
        </p:grpSpPr>
        <p:sp>
          <p:nvSpPr>
            <p:cNvPr id="18" name="Shape 16"/>
            <p:cNvSpPr/>
            <p:nvPr/>
          </p:nvSpPr>
          <p:spPr>
            <a:xfrm>
              <a:off x="3699181" y="2522630"/>
              <a:ext cx="3143322" cy="337957"/>
            </a:xfrm>
            <a:prstGeom prst="roundRect">
              <a:avLst>
                <a:gd name="adj" fmla="val 9470"/>
              </a:avLst>
            </a:prstGeom>
            <a:solidFill>
              <a:srgbClr val="0ABB98">
                <a:alpha val="10000"/>
              </a:srgbClr>
            </a:solidFill>
            <a:ln w="10160">
              <a:solidFill>
                <a:srgbClr val="0ABB98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3699181" y="2522630"/>
              <a:ext cx="45720" cy="337957"/>
            </a:xfrm>
            <a:prstGeom prst="rect">
              <a:avLst/>
            </a:prstGeom>
            <a:solidFill>
              <a:srgbClr val="0ABB98"/>
            </a:solidFill>
            <a:ln w="12700">
              <a:solidFill>
                <a:srgbClr val="0ABB98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20" name="Text 18"/>
            <p:cNvSpPr txBox="1"/>
            <p:nvPr/>
          </p:nvSpPr>
          <p:spPr>
            <a:xfrm>
              <a:off x="3776905" y="2554634"/>
              <a:ext cx="2987874" cy="2693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0ABB9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QUANTIDADE</a:t>
              </a:r>
              <a:endParaRPr lang="pt-BR" sz="1600" noProof="0" dirty="0"/>
            </a:p>
          </p:txBody>
        </p:sp>
      </p:grpSp>
      <p:sp>
        <p:nvSpPr>
          <p:cNvPr id="21" name="Text 19"/>
          <p:cNvSpPr txBox="1"/>
          <p:nvPr/>
        </p:nvSpPr>
        <p:spPr>
          <a:xfrm>
            <a:off x="450318" y="3242323"/>
            <a:ext cx="2987874" cy="489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serviço executado corresponde ao que foi contratado?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3970895" y="3242323"/>
            <a:ext cx="2987874" cy="489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volume realizado é compatível com o informado e com a demanda autorizada?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3883A753-6268-69B9-90E5-50825AF6344D}"/>
              </a:ext>
            </a:extLst>
          </p:cNvPr>
          <p:cNvGrpSpPr/>
          <p:nvPr/>
        </p:nvGrpSpPr>
        <p:grpSpPr>
          <a:xfrm>
            <a:off x="450318" y="3971596"/>
            <a:ext cx="3143322" cy="337957"/>
            <a:chOff x="450318" y="3685846"/>
            <a:chExt cx="3143322" cy="337957"/>
          </a:xfrm>
        </p:grpSpPr>
        <p:sp>
          <p:nvSpPr>
            <p:cNvPr id="23" name="Shape 21"/>
            <p:cNvSpPr/>
            <p:nvPr/>
          </p:nvSpPr>
          <p:spPr>
            <a:xfrm>
              <a:off x="450318" y="3685846"/>
              <a:ext cx="3143322" cy="337957"/>
            </a:xfrm>
            <a:prstGeom prst="roundRect">
              <a:avLst>
                <a:gd name="adj" fmla="val 9470"/>
              </a:avLst>
            </a:prstGeom>
            <a:solidFill>
              <a:srgbClr val="EDB111">
                <a:alpha val="10000"/>
              </a:srgbClr>
            </a:solidFill>
            <a:ln w="10160">
              <a:solidFill>
                <a:srgbClr val="EDB111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450318" y="3685846"/>
              <a:ext cx="45720" cy="337957"/>
            </a:xfrm>
            <a:prstGeom prst="rect">
              <a:avLst/>
            </a:prstGeom>
            <a:solidFill>
              <a:srgbClr val="EDB111"/>
            </a:solidFill>
            <a:ln w="12700">
              <a:solidFill>
                <a:srgbClr val="EDB111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25" name="Text 23"/>
            <p:cNvSpPr txBox="1"/>
            <p:nvPr/>
          </p:nvSpPr>
          <p:spPr>
            <a:xfrm>
              <a:off x="528042" y="3717850"/>
              <a:ext cx="2987874" cy="2693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EDB1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QUALIDADE</a:t>
              </a:r>
              <a:endParaRPr lang="pt-BR" sz="1600" noProof="0" dirty="0"/>
            </a:p>
          </p:txBody>
        </p:sp>
      </p:grpSp>
      <p:grpSp>
        <p:nvGrpSpPr>
          <p:cNvPr id="63" name="Agrupar 62">
            <a:extLst>
              <a:ext uri="{FF2B5EF4-FFF2-40B4-BE49-F238E27FC236}">
                <a16:creationId xmlns:a16="http://schemas.microsoft.com/office/drawing/2014/main" id="{35759052-209E-62C3-7B65-998CC691B5CF}"/>
              </a:ext>
            </a:extLst>
          </p:cNvPr>
          <p:cNvGrpSpPr/>
          <p:nvPr/>
        </p:nvGrpSpPr>
        <p:grpSpPr>
          <a:xfrm>
            <a:off x="3970895" y="3971596"/>
            <a:ext cx="3143322" cy="337957"/>
            <a:chOff x="3699181" y="3685846"/>
            <a:chExt cx="3143322" cy="337957"/>
          </a:xfrm>
        </p:grpSpPr>
        <p:sp>
          <p:nvSpPr>
            <p:cNvPr id="26" name="Shape 24"/>
            <p:cNvSpPr/>
            <p:nvPr/>
          </p:nvSpPr>
          <p:spPr>
            <a:xfrm>
              <a:off x="3699181" y="3685846"/>
              <a:ext cx="3143322" cy="337957"/>
            </a:xfrm>
            <a:prstGeom prst="roundRect">
              <a:avLst>
                <a:gd name="adj" fmla="val 9470"/>
              </a:avLst>
            </a:prstGeom>
            <a:solidFill>
              <a:srgbClr val="007E7A">
                <a:alpha val="10000"/>
              </a:srgbClr>
            </a:solidFill>
            <a:ln w="10160">
              <a:solidFill>
                <a:srgbClr val="007E7A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3699181" y="3685846"/>
              <a:ext cx="45720" cy="337957"/>
            </a:xfrm>
            <a:prstGeom prst="rect">
              <a:avLst/>
            </a:prstGeom>
            <a:solidFill>
              <a:srgbClr val="007E7A"/>
            </a:solidFill>
            <a:ln w="12700">
              <a:solidFill>
                <a:srgbClr val="007E7A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28" name="Text 26"/>
            <p:cNvSpPr txBox="1"/>
            <p:nvPr/>
          </p:nvSpPr>
          <p:spPr>
            <a:xfrm>
              <a:off x="3776905" y="3717850"/>
              <a:ext cx="2987874" cy="2693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007E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PRAZO</a:t>
              </a:r>
              <a:endParaRPr lang="pt-BR" sz="1600" noProof="0" dirty="0"/>
            </a:p>
          </p:txBody>
        </p:sp>
      </p:grpSp>
      <p:sp>
        <p:nvSpPr>
          <p:cNvPr id="29" name="Text 27"/>
          <p:cNvSpPr txBox="1"/>
          <p:nvPr/>
        </p:nvSpPr>
        <p:spPr>
          <a:xfrm>
            <a:off x="450318" y="4355730"/>
            <a:ext cx="2987874" cy="489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atende aos requisitos e padrões previstos?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3970895" y="4355730"/>
            <a:ext cx="2987874" cy="489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execução ocorreu dentro do prazo ou frequência estabelecida?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BA40D1F9-7F90-3B81-291B-2B2EC79FBB90}"/>
              </a:ext>
            </a:extLst>
          </p:cNvPr>
          <p:cNvGrpSpPr/>
          <p:nvPr/>
        </p:nvGrpSpPr>
        <p:grpSpPr>
          <a:xfrm>
            <a:off x="450318" y="5134813"/>
            <a:ext cx="3143322" cy="337957"/>
            <a:chOff x="450318" y="4849063"/>
            <a:chExt cx="3143322" cy="337957"/>
          </a:xfrm>
        </p:grpSpPr>
        <p:sp>
          <p:nvSpPr>
            <p:cNvPr id="31" name="Shape 29"/>
            <p:cNvSpPr/>
            <p:nvPr/>
          </p:nvSpPr>
          <p:spPr>
            <a:xfrm>
              <a:off x="450318" y="4849063"/>
              <a:ext cx="3143322" cy="337957"/>
            </a:xfrm>
            <a:prstGeom prst="roundRect">
              <a:avLst>
                <a:gd name="adj" fmla="val 9470"/>
              </a:avLst>
            </a:prstGeom>
            <a:solidFill>
              <a:srgbClr val="E37222">
                <a:alpha val="10000"/>
              </a:srgbClr>
            </a:solidFill>
            <a:ln w="10160">
              <a:solidFill>
                <a:srgbClr val="E37222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450318" y="4849063"/>
              <a:ext cx="45720" cy="337957"/>
            </a:xfrm>
            <a:prstGeom prst="rect">
              <a:avLst/>
            </a:prstGeom>
            <a:solidFill>
              <a:srgbClr val="E37222"/>
            </a:solidFill>
            <a:ln w="12700">
              <a:solidFill>
                <a:srgbClr val="E37222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33" name="Text 31"/>
            <p:cNvSpPr txBox="1"/>
            <p:nvPr/>
          </p:nvSpPr>
          <p:spPr>
            <a:xfrm>
              <a:off x="528042" y="4881067"/>
              <a:ext cx="2987874" cy="2693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E37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RECURSOS</a:t>
              </a:r>
              <a:endParaRPr lang="pt-BR" sz="1600" noProof="0" dirty="0"/>
            </a:p>
          </p:txBody>
        </p:sp>
      </p:grpSp>
      <p:grpSp>
        <p:nvGrpSpPr>
          <p:cNvPr id="64" name="Agrupar 63">
            <a:extLst>
              <a:ext uri="{FF2B5EF4-FFF2-40B4-BE49-F238E27FC236}">
                <a16:creationId xmlns:a16="http://schemas.microsoft.com/office/drawing/2014/main" id="{0E60678C-ECD4-822D-D75A-9C4A2544359C}"/>
              </a:ext>
            </a:extLst>
          </p:cNvPr>
          <p:cNvGrpSpPr/>
          <p:nvPr/>
        </p:nvGrpSpPr>
        <p:grpSpPr>
          <a:xfrm>
            <a:off x="3970895" y="5134813"/>
            <a:ext cx="3143322" cy="337957"/>
            <a:chOff x="3699181" y="4849063"/>
            <a:chExt cx="3143322" cy="337957"/>
          </a:xfrm>
        </p:grpSpPr>
        <p:sp>
          <p:nvSpPr>
            <p:cNvPr id="34" name="Shape 32"/>
            <p:cNvSpPr/>
            <p:nvPr/>
          </p:nvSpPr>
          <p:spPr>
            <a:xfrm>
              <a:off x="3699181" y="4849063"/>
              <a:ext cx="3143322" cy="337957"/>
            </a:xfrm>
            <a:prstGeom prst="roundRect">
              <a:avLst>
                <a:gd name="adj" fmla="val 9470"/>
              </a:avLst>
            </a:prstGeom>
            <a:solidFill>
              <a:srgbClr val="C0305E">
                <a:alpha val="10000"/>
              </a:srgbClr>
            </a:solidFill>
            <a:ln w="10160">
              <a:solidFill>
                <a:srgbClr val="C0305E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3699181" y="4849063"/>
              <a:ext cx="45720" cy="337957"/>
            </a:xfrm>
            <a:prstGeom prst="rect">
              <a:avLst/>
            </a:prstGeom>
            <a:solidFill>
              <a:srgbClr val="C0305E"/>
            </a:solidFill>
            <a:ln w="12700">
              <a:solidFill>
                <a:srgbClr val="C0305E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36" name="Text 34"/>
            <p:cNvSpPr txBox="1"/>
            <p:nvPr/>
          </p:nvSpPr>
          <p:spPr>
            <a:xfrm>
              <a:off x="3776905" y="4881067"/>
              <a:ext cx="2987874" cy="2693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C030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SLA E INDICADORES</a:t>
              </a:r>
              <a:endParaRPr lang="pt-BR" sz="1600" noProof="0" dirty="0"/>
            </a:p>
          </p:txBody>
        </p:sp>
      </p:grpSp>
      <p:sp>
        <p:nvSpPr>
          <p:cNvPr id="37" name="Text 35"/>
          <p:cNvSpPr txBox="1"/>
          <p:nvPr/>
        </p:nvSpPr>
        <p:spPr>
          <a:xfrm>
            <a:off x="450318" y="5532809"/>
            <a:ext cx="2987874" cy="6333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Pessoas, materiais, veículos, máquinas e equipamentos estão adequados ao serviço?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3970895" y="5532809"/>
            <a:ext cx="2987874" cy="489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níveis de serviço e resultados previstos estão sendo atendidos?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61" name="Agrupar 60">
            <a:extLst>
              <a:ext uri="{FF2B5EF4-FFF2-40B4-BE49-F238E27FC236}">
                <a16:creationId xmlns:a16="http://schemas.microsoft.com/office/drawing/2014/main" id="{1222E6EE-2068-BA90-EE5F-52AE5ECF0856}"/>
              </a:ext>
            </a:extLst>
          </p:cNvPr>
          <p:cNvGrpSpPr/>
          <p:nvPr/>
        </p:nvGrpSpPr>
        <p:grpSpPr>
          <a:xfrm>
            <a:off x="450318" y="6526632"/>
            <a:ext cx="6392185" cy="337957"/>
            <a:chOff x="450318" y="6012280"/>
            <a:chExt cx="6392185" cy="337957"/>
          </a:xfrm>
        </p:grpSpPr>
        <p:sp>
          <p:nvSpPr>
            <p:cNvPr id="39" name="Shape 37"/>
            <p:cNvSpPr/>
            <p:nvPr/>
          </p:nvSpPr>
          <p:spPr>
            <a:xfrm>
              <a:off x="450318" y="6012280"/>
              <a:ext cx="6392185" cy="337957"/>
            </a:xfrm>
            <a:prstGeom prst="roundRect">
              <a:avLst>
                <a:gd name="adj" fmla="val 9470"/>
              </a:avLst>
            </a:prstGeom>
            <a:solidFill>
              <a:srgbClr val="3CB5E5">
                <a:alpha val="10000"/>
              </a:srgbClr>
            </a:solidFill>
            <a:ln w="10160">
              <a:solidFill>
                <a:srgbClr val="3CB5E5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450318" y="6012280"/>
              <a:ext cx="45720" cy="337957"/>
            </a:xfrm>
            <a:prstGeom prst="rect">
              <a:avLst/>
            </a:prstGeom>
            <a:solidFill>
              <a:srgbClr val="3CB5E5"/>
            </a:solidFill>
            <a:ln w="12700">
              <a:solidFill>
                <a:srgbClr val="3CB5E5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41" name="Text 39"/>
            <p:cNvSpPr txBox="1"/>
            <p:nvPr/>
          </p:nvSpPr>
          <p:spPr>
            <a:xfrm>
              <a:off x="528042" y="6044284"/>
              <a:ext cx="6236737" cy="2693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3CB5E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CAMPO</a:t>
              </a:r>
              <a:endParaRPr lang="pt-BR" sz="1600" noProof="0" dirty="0"/>
            </a:p>
          </p:txBody>
        </p:sp>
      </p:grpSp>
      <p:sp>
        <p:nvSpPr>
          <p:cNvPr id="42" name="Text 40"/>
          <p:cNvSpPr txBox="1"/>
          <p:nvPr/>
        </p:nvSpPr>
        <p:spPr>
          <a:xfrm>
            <a:off x="450318" y="6840257"/>
            <a:ext cx="6236737" cy="489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está registrado nos relatórios corresponde ao que é observado na operação?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67" name="Agrupar 66">
            <a:extLst>
              <a:ext uri="{FF2B5EF4-FFF2-40B4-BE49-F238E27FC236}">
                <a16:creationId xmlns:a16="http://schemas.microsoft.com/office/drawing/2014/main" id="{534A9876-6794-B248-5255-7B0C15D9573C}"/>
              </a:ext>
            </a:extLst>
          </p:cNvPr>
          <p:cNvGrpSpPr/>
          <p:nvPr/>
        </p:nvGrpSpPr>
        <p:grpSpPr>
          <a:xfrm>
            <a:off x="450318" y="7547595"/>
            <a:ext cx="3062326" cy="337957"/>
            <a:chOff x="450318" y="7297941"/>
            <a:chExt cx="3062326" cy="337957"/>
          </a:xfrm>
        </p:grpSpPr>
        <p:sp>
          <p:nvSpPr>
            <p:cNvPr id="43" name="Shape 41"/>
            <p:cNvSpPr/>
            <p:nvPr/>
          </p:nvSpPr>
          <p:spPr>
            <a:xfrm>
              <a:off x="450318" y="7297941"/>
              <a:ext cx="3062326" cy="337957"/>
            </a:xfrm>
            <a:prstGeom prst="roundRect">
              <a:avLst>
                <a:gd name="adj" fmla="val 9470"/>
              </a:avLst>
            </a:prstGeom>
            <a:solidFill>
              <a:srgbClr val="E37222">
                <a:alpha val="10000"/>
              </a:srgbClr>
            </a:solidFill>
            <a:ln w="10160">
              <a:solidFill>
                <a:srgbClr val="E37222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450318" y="7297941"/>
              <a:ext cx="45720" cy="337957"/>
            </a:xfrm>
            <a:prstGeom prst="rect">
              <a:avLst/>
            </a:prstGeom>
            <a:solidFill>
              <a:srgbClr val="E37222"/>
            </a:solidFill>
            <a:ln w="12700">
              <a:solidFill>
                <a:srgbClr val="E37222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45" name="Text 43"/>
            <p:cNvSpPr txBox="1"/>
            <p:nvPr/>
          </p:nvSpPr>
          <p:spPr>
            <a:xfrm>
              <a:off x="528042" y="7329945"/>
              <a:ext cx="2906878" cy="2693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E37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PRIORIZE SUA FISCALIZAÇÃO</a:t>
              </a:r>
              <a:endParaRPr lang="pt-BR" sz="1600" noProof="0" dirty="0"/>
            </a:p>
          </p:txBody>
        </p:sp>
      </p:grp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A0870C61-1A3D-4360-C858-120DFC3275D0}"/>
              </a:ext>
            </a:extLst>
          </p:cNvPr>
          <p:cNvGrpSpPr/>
          <p:nvPr/>
        </p:nvGrpSpPr>
        <p:grpSpPr>
          <a:xfrm>
            <a:off x="3970895" y="7547595"/>
            <a:ext cx="3143322" cy="337957"/>
            <a:chOff x="3699181" y="7297941"/>
            <a:chExt cx="3143322" cy="337957"/>
          </a:xfrm>
        </p:grpSpPr>
        <p:sp>
          <p:nvSpPr>
            <p:cNvPr id="46" name="Shape 44"/>
            <p:cNvSpPr/>
            <p:nvPr/>
          </p:nvSpPr>
          <p:spPr>
            <a:xfrm>
              <a:off x="3699181" y="7297941"/>
              <a:ext cx="3143322" cy="337957"/>
            </a:xfrm>
            <a:prstGeom prst="roundRect">
              <a:avLst>
                <a:gd name="adj" fmla="val 9470"/>
              </a:avLst>
            </a:prstGeom>
            <a:solidFill>
              <a:srgbClr val="C0305E">
                <a:alpha val="10000"/>
              </a:srgbClr>
            </a:solidFill>
            <a:ln w="10160">
              <a:solidFill>
                <a:srgbClr val="C0305E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3699181" y="7297941"/>
              <a:ext cx="45720" cy="337957"/>
            </a:xfrm>
            <a:prstGeom prst="rect">
              <a:avLst/>
            </a:prstGeom>
            <a:solidFill>
              <a:srgbClr val="C0305E"/>
            </a:solidFill>
            <a:ln w="12700">
              <a:solidFill>
                <a:srgbClr val="C0305E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48" name="Text 46"/>
            <p:cNvSpPr txBox="1"/>
            <p:nvPr/>
          </p:nvSpPr>
          <p:spPr>
            <a:xfrm>
              <a:off x="3776905" y="7329945"/>
              <a:ext cx="2987874" cy="2693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C030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EXEMPLOS </a:t>
              </a:r>
              <a:endParaRPr lang="pt-BR" sz="1600" noProof="0" dirty="0"/>
            </a:p>
          </p:txBody>
        </p:sp>
      </p:grpSp>
      <p:sp>
        <p:nvSpPr>
          <p:cNvPr id="49" name="Text 47"/>
          <p:cNvSpPr txBox="1"/>
          <p:nvPr/>
        </p:nvSpPr>
        <p:spPr>
          <a:xfrm>
            <a:off x="450318" y="8005604"/>
            <a:ext cx="2906878" cy="820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elevado • Atividade crítica • Reincidência de desvios • Impacto operacional • Resultado abaixo do esperado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0" name="Text 48"/>
          <p:cNvSpPr txBox="1"/>
          <p:nvPr/>
        </p:nvSpPr>
        <p:spPr>
          <a:xfrm>
            <a:off x="3970895" y="8005604"/>
            <a:ext cx="2987874" cy="820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 predial • Refrigeração • Limpeza • Áreas verdes • Pequenas obras • Alimentação • Transportes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68" name="Agrupar 67">
            <a:extLst>
              <a:ext uri="{FF2B5EF4-FFF2-40B4-BE49-F238E27FC236}">
                <a16:creationId xmlns:a16="http://schemas.microsoft.com/office/drawing/2014/main" id="{F6E40045-BCF8-62B2-D971-47C98485E628}"/>
              </a:ext>
            </a:extLst>
          </p:cNvPr>
          <p:cNvGrpSpPr/>
          <p:nvPr/>
        </p:nvGrpSpPr>
        <p:grpSpPr>
          <a:xfrm>
            <a:off x="382604" y="9322760"/>
            <a:ext cx="1037844" cy="369961"/>
            <a:chOff x="382604" y="8822446"/>
            <a:chExt cx="1037844" cy="369961"/>
          </a:xfrm>
        </p:grpSpPr>
        <p:sp>
          <p:nvSpPr>
            <p:cNvPr id="51" name="Shape 49"/>
            <p:cNvSpPr/>
            <p:nvPr/>
          </p:nvSpPr>
          <p:spPr>
            <a:xfrm>
              <a:off x="382604" y="8822446"/>
              <a:ext cx="1037844" cy="369961"/>
            </a:xfrm>
            <a:prstGeom prst="roundRect">
              <a:avLst>
                <a:gd name="adj" fmla="val 9886"/>
              </a:avLst>
            </a:prstGeom>
            <a:solidFill>
              <a:srgbClr val="FFF2E8"/>
            </a:solidFill>
            <a:ln w="12700">
              <a:solidFill>
                <a:srgbClr val="E37222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382604" y="8822446"/>
              <a:ext cx="50292" cy="369961"/>
            </a:xfrm>
            <a:prstGeom prst="rect">
              <a:avLst/>
            </a:prstGeom>
            <a:solidFill>
              <a:srgbClr val="E37222"/>
            </a:solidFill>
            <a:ln w="12700">
              <a:solidFill>
                <a:srgbClr val="E37222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53" name="Text 51"/>
            <p:cNvSpPr txBox="1"/>
            <p:nvPr/>
          </p:nvSpPr>
          <p:spPr>
            <a:xfrm>
              <a:off x="474044" y="8872738"/>
              <a:ext cx="854964" cy="2693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E37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SÍNTESE</a:t>
              </a:r>
              <a:endParaRPr lang="pt-BR" sz="1600" noProof="0" dirty="0"/>
            </a:p>
          </p:txBody>
        </p:sp>
      </p:grpSp>
      <p:sp>
        <p:nvSpPr>
          <p:cNvPr id="54" name="Text 52"/>
          <p:cNvSpPr txBox="1"/>
          <p:nvPr/>
        </p:nvSpPr>
        <p:spPr>
          <a:xfrm>
            <a:off x="370355" y="9741359"/>
            <a:ext cx="6743861" cy="367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b="1" i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objeto muda. O princípio da fiscalização permanece: contratado × executado × resultado.</a:t>
            </a:r>
            <a:endParaRPr lang="pt-BR" sz="1400" b="1" i="1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5" name="Shape 53"/>
          <p:cNvSpPr/>
          <p:nvPr/>
        </p:nvSpPr>
        <p:spPr>
          <a:xfrm>
            <a:off x="320040" y="10232136"/>
            <a:ext cx="6922008" cy="1"/>
          </a:xfrm>
          <a:prstGeom prst="line">
            <a:avLst/>
          </a:prstGeom>
          <a:noFill/>
          <a:ln w="10160">
            <a:solidFill>
              <a:srgbClr val="D9E5E3"/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58" name="Text 56"/>
          <p:cNvSpPr txBox="1"/>
          <p:nvPr/>
        </p:nvSpPr>
        <p:spPr>
          <a:xfrm>
            <a:off x="6355080" y="1030528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pt-BR" sz="800" b="1" noProof="0" dirty="0">
                <a:solidFill>
                  <a:srgbClr val="667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pt-BR" sz="800" noProof="0" dirty="0"/>
          </a:p>
        </p:txBody>
      </p:sp>
      <p:sp>
        <p:nvSpPr>
          <p:cNvPr id="60" name="Text 26">
            <a:extLst>
              <a:ext uri="{FF2B5EF4-FFF2-40B4-BE49-F238E27FC236}">
                <a16:creationId xmlns:a16="http://schemas.microsoft.com/office/drawing/2014/main" id="{870FF5A7-5573-872B-A9F8-C6C4D16FD4F5}"/>
              </a:ext>
            </a:extLst>
          </p:cNvPr>
          <p:cNvSpPr txBox="1"/>
          <p:nvPr/>
        </p:nvSpPr>
        <p:spPr>
          <a:xfrm>
            <a:off x="1481328" y="10373868"/>
            <a:ext cx="452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9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 de Serviços Operacionais e Segurança Empresarial| Vale S.A.</a:t>
            </a:r>
            <a:endParaRPr lang="pt-BR" sz="9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353312"/>
          </a:xfrm>
          <a:prstGeom prst="rect">
            <a:avLst/>
          </a:prstGeom>
          <a:solidFill>
            <a:srgbClr val="007E7A"/>
          </a:solidFill>
          <a:ln w="12700">
            <a:solidFill>
              <a:srgbClr val="007E7A">
                <a:alpha val="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 rot="900000">
            <a:off x="5961888" y="0"/>
            <a:ext cx="1600200" cy="1298448"/>
          </a:xfrm>
          <a:prstGeom prst="arc">
            <a:avLst/>
          </a:prstGeom>
          <a:solidFill>
            <a:srgbClr val="007E7A">
              <a:alpha val="0"/>
            </a:srgbClr>
          </a:solidFill>
          <a:ln w="228600">
            <a:solidFill>
              <a:srgbClr val="0ABB98">
                <a:alpha val="5500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 rot="1500000">
            <a:off x="6355080" y="0"/>
            <a:ext cx="1207008" cy="1207008"/>
          </a:xfrm>
          <a:prstGeom prst="arc">
            <a:avLst/>
          </a:prstGeom>
          <a:solidFill>
            <a:srgbClr val="007E7A">
              <a:alpha val="0"/>
            </a:srgbClr>
          </a:solidFill>
          <a:ln w="139700">
            <a:solidFill>
              <a:srgbClr val="3CB5E5">
                <a:alpha val="6200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420624" y="22860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100" b="1" noProof="0" dirty="0">
                <a:solidFill>
                  <a:srgbClr val="BC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SSMA E RISCOS</a:t>
            </a:r>
            <a:endParaRPr lang="pt-BR" sz="1100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420624" y="502920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2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olhar do Fiscal em campo</a:t>
            </a:r>
            <a:endParaRPr lang="pt-BR" sz="2500" noProof="0" dirty="0"/>
          </a:p>
        </p:txBody>
      </p:sp>
      <p:sp>
        <p:nvSpPr>
          <p:cNvPr id="7" name="Shape 5"/>
          <p:cNvSpPr/>
          <p:nvPr/>
        </p:nvSpPr>
        <p:spPr>
          <a:xfrm>
            <a:off x="6793992" y="475488"/>
            <a:ext cx="438912" cy="438912"/>
          </a:xfrm>
          <a:prstGeom prst="ellipse">
            <a:avLst/>
          </a:prstGeom>
          <a:solidFill>
            <a:srgbClr val="FFFFFF">
              <a:alpha val="18000"/>
            </a:srgbClr>
          </a:solidFill>
          <a:ln w="15240">
            <a:solidFill>
              <a:srgbClr val="FFFFFF">
                <a:alpha val="7500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6793992" y="4754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pt-BR" sz="1200" noProof="0" dirty="0"/>
          </a:p>
        </p:txBody>
      </p:sp>
      <p:sp>
        <p:nvSpPr>
          <p:cNvPr id="9" name="Shape 7"/>
          <p:cNvSpPr/>
          <p:nvPr/>
        </p:nvSpPr>
        <p:spPr>
          <a:xfrm>
            <a:off x="0" y="1353312"/>
            <a:ext cx="7562088" cy="8805672"/>
          </a:xfrm>
          <a:prstGeom prst="rect">
            <a:avLst/>
          </a:prstGeom>
          <a:solidFill>
            <a:srgbClr val="F7FAF9"/>
          </a:solidFill>
          <a:ln w="12700">
            <a:solidFill>
              <a:srgbClr val="F7FAF9">
                <a:alpha val="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274320" y="1581912"/>
            <a:ext cx="3456432" cy="8193024"/>
          </a:xfrm>
          <a:prstGeom prst="roundRect">
            <a:avLst>
              <a:gd name="adj" fmla="val 1323"/>
            </a:avLst>
          </a:prstGeom>
          <a:solidFill>
            <a:srgbClr val="FFFFFF"/>
          </a:solidFill>
          <a:ln w="8890">
            <a:solidFill>
              <a:srgbClr val="E4EFED"/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11" name="Shape 9"/>
          <p:cNvSpPr/>
          <p:nvPr/>
        </p:nvSpPr>
        <p:spPr>
          <a:xfrm>
            <a:off x="3822192" y="1581912"/>
            <a:ext cx="3456432" cy="8193024"/>
          </a:xfrm>
          <a:prstGeom prst="roundRect">
            <a:avLst>
              <a:gd name="adj" fmla="val 1323"/>
            </a:avLst>
          </a:prstGeom>
          <a:solidFill>
            <a:srgbClr val="F1F8F7"/>
          </a:solidFill>
          <a:ln w="8890">
            <a:solidFill>
              <a:srgbClr val="E4EFED"/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12" name="Shape 10"/>
          <p:cNvSpPr/>
          <p:nvPr/>
        </p:nvSpPr>
        <p:spPr>
          <a:xfrm>
            <a:off x="6080760" y="8183880"/>
            <a:ext cx="1783080" cy="1783080"/>
          </a:xfrm>
          <a:prstGeom prst="ellipse">
            <a:avLst/>
          </a:prstGeom>
          <a:solidFill>
            <a:srgbClr val="FFFFFF">
              <a:alpha val="0"/>
            </a:srgbClr>
          </a:solidFill>
          <a:ln w="63500">
            <a:solidFill>
              <a:srgbClr val="0ABB98">
                <a:alpha val="2200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6281928" y="836676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3900" b="1" noProof="0" dirty="0">
                <a:solidFill>
                  <a:srgbClr val="DC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pt-BR" sz="3900" noProof="0" dirty="0"/>
          </a:p>
        </p:txBody>
      </p:sp>
      <p:sp>
        <p:nvSpPr>
          <p:cNvPr id="14" name="Text 12"/>
          <p:cNvSpPr txBox="1"/>
          <p:nvPr/>
        </p:nvSpPr>
        <p:spPr>
          <a:xfrm>
            <a:off x="402047" y="1746504"/>
            <a:ext cx="6821713" cy="5055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1400" b="1" noProof="0" dirty="0">
                <a:solidFill>
                  <a:srgbClr val="303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fiscalização técnica também deve observar as condições de SSMA aplicáveis à execução do serviço.</a:t>
            </a:r>
            <a:endParaRPr lang="pt-BR" sz="1400" b="1" noProof="0" dirty="0"/>
          </a:p>
        </p:txBody>
      </p: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5BD68B9B-04E1-BB84-FCFB-40FE3FC56BAA}"/>
              </a:ext>
            </a:extLst>
          </p:cNvPr>
          <p:cNvGrpSpPr/>
          <p:nvPr/>
        </p:nvGrpSpPr>
        <p:grpSpPr>
          <a:xfrm>
            <a:off x="336018" y="2562989"/>
            <a:ext cx="4187278" cy="439335"/>
            <a:chOff x="450318" y="2658239"/>
            <a:chExt cx="4187278" cy="439335"/>
          </a:xfrm>
        </p:grpSpPr>
        <p:sp>
          <p:nvSpPr>
            <p:cNvPr id="15" name="Shape 13"/>
            <p:cNvSpPr/>
            <p:nvPr/>
          </p:nvSpPr>
          <p:spPr>
            <a:xfrm>
              <a:off x="450318" y="2658239"/>
              <a:ext cx="4187278" cy="439335"/>
            </a:xfrm>
            <a:prstGeom prst="roundRect">
              <a:avLst>
                <a:gd name="adj" fmla="val 7285"/>
              </a:avLst>
            </a:prstGeom>
            <a:solidFill>
              <a:srgbClr val="3CB5E5">
                <a:alpha val="10000"/>
              </a:srgbClr>
            </a:solidFill>
            <a:ln w="10160">
              <a:solidFill>
                <a:srgbClr val="3CB5E5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450318" y="2658239"/>
              <a:ext cx="45720" cy="439335"/>
            </a:xfrm>
            <a:prstGeom prst="rect">
              <a:avLst/>
            </a:prstGeom>
            <a:solidFill>
              <a:srgbClr val="3CB5E5"/>
            </a:solidFill>
            <a:ln w="12700">
              <a:solidFill>
                <a:srgbClr val="3CB5E5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17" name="Text 15"/>
            <p:cNvSpPr txBox="1"/>
            <p:nvPr/>
          </p:nvSpPr>
          <p:spPr>
            <a:xfrm>
              <a:off x="528042" y="2690243"/>
              <a:ext cx="4031830" cy="3707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3CB5E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ANTES DA ATIVIDADE</a:t>
              </a:r>
              <a:endParaRPr lang="pt-BR" sz="1600" noProof="0" dirty="0"/>
            </a:p>
          </p:txBody>
        </p:sp>
      </p:grpSp>
      <p:grpSp>
        <p:nvGrpSpPr>
          <p:cNvPr id="50" name="Agrupar 49">
            <a:extLst>
              <a:ext uri="{FF2B5EF4-FFF2-40B4-BE49-F238E27FC236}">
                <a16:creationId xmlns:a16="http://schemas.microsoft.com/office/drawing/2014/main" id="{2691DC03-E0E7-D021-8AC0-5C92E44AE7FC}"/>
              </a:ext>
            </a:extLst>
          </p:cNvPr>
          <p:cNvGrpSpPr/>
          <p:nvPr/>
        </p:nvGrpSpPr>
        <p:grpSpPr>
          <a:xfrm>
            <a:off x="5030508" y="3191639"/>
            <a:ext cx="1982371" cy="439335"/>
            <a:chOff x="4860132" y="2691944"/>
            <a:chExt cx="1982371" cy="439335"/>
          </a:xfrm>
        </p:grpSpPr>
        <p:sp>
          <p:nvSpPr>
            <p:cNvPr id="18" name="Shape 16"/>
            <p:cNvSpPr/>
            <p:nvPr/>
          </p:nvSpPr>
          <p:spPr>
            <a:xfrm>
              <a:off x="4860132" y="2691944"/>
              <a:ext cx="1982371" cy="439335"/>
            </a:xfrm>
            <a:prstGeom prst="roundRect">
              <a:avLst>
                <a:gd name="adj" fmla="val 7285"/>
              </a:avLst>
            </a:prstGeom>
            <a:solidFill>
              <a:srgbClr val="0ABB98">
                <a:alpha val="10000"/>
              </a:srgbClr>
            </a:solidFill>
            <a:ln w="10160">
              <a:solidFill>
                <a:srgbClr val="0ABB98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4860132" y="2691944"/>
              <a:ext cx="45720" cy="439335"/>
            </a:xfrm>
            <a:prstGeom prst="rect">
              <a:avLst/>
            </a:prstGeom>
            <a:solidFill>
              <a:srgbClr val="0ABB98"/>
            </a:solidFill>
            <a:ln w="12700">
              <a:solidFill>
                <a:srgbClr val="0ABB98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20" name="Text 18"/>
            <p:cNvSpPr txBox="1"/>
            <p:nvPr/>
          </p:nvSpPr>
          <p:spPr>
            <a:xfrm>
              <a:off x="4937856" y="2723948"/>
              <a:ext cx="1826923" cy="3707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0ABB9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RISCO AMPLIADO</a:t>
              </a:r>
              <a:endParaRPr lang="pt-BR" sz="1600" noProof="0" dirty="0"/>
            </a:p>
          </p:txBody>
        </p:sp>
      </p:grpSp>
      <p:sp>
        <p:nvSpPr>
          <p:cNvPr id="21" name="Text 19"/>
          <p:cNvSpPr txBox="1"/>
          <p:nvPr/>
        </p:nvSpPr>
        <p:spPr>
          <a:xfrm>
            <a:off x="336018" y="3111556"/>
            <a:ext cx="4031830" cy="572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Conheça os riscos relevantes da área, os controles previstos e as orientações de emergência aplicáveis.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4860132" y="3740207"/>
            <a:ext cx="2323122" cy="1875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contratos de maior risco de SSMA, reforce o </a:t>
            </a:r>
            <a:r>
              <a:rPr lang="pt-BR" sz="1600" b="1" noProof="0" dirty="0">
                <a:solidFill>
                  <a:srgbClr val="026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</a:t>
            </a: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 condições de segurança, a </a:t>
            </a:r>
            <a:r>
              <a:rPr lang="pt-BR" sz="1600" b="1" noProof="0" dirty="0">
                <a:solidFill>
                  <a:srgbClr val="026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efetividade</a:t>
            </a: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 barreiras e controles, o </a:t>
            </a:r>
            <a:r>
              <a:rPr lang="pt-BR" sz="1600" b="1" noProof="0" dirty="0">
                <a:solidFill>
                  <a:srgbClr val="026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</a:t>
            </a: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rastreável e a </a:t>
            </a:r>
            <a:r>
              <a:rPr lang="pt-BR" sz="1600" b="1" noProof="0" dirty="0">
                <a:solidFill>
                  <a:srgbClr val="026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</a:t>
            </a: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imediata de desvios críticos.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2" name="Agrupar 51">
            <a:extLst>
              <a:ext uri="{FF2B5EF4-FFF2-40B4-BE49-F238E27FC236}">
                <a16:creationId xmlns:a16="http://schemas.microsoft.com/office/drawing/2014/main" id="{F27A4746-2CDD-FF26-77E0-52448363494B}"/>
              </a:ext>
            </a:extLst>
          </p:cNvPr>
          <p:cNvGrpSpPr/>
          <p:nvPr/>
        </p:nvGrpSpPr>
        <p:grpSpPr>
          <a:xfrm>
            <a:off x="336018" y="4069821"/>
            <a:ext cx="4187278" cy="439335"/>
            <a:chOff x="450318" y="4141259"/>
            <a:chExt cx="4187278" cy="439335"/>
          </a:xfrm>
        </p:grpSpPr>
        <p:sp>
          <p:nvSpPr>
            <p:cNvPr id="23" name="Shape 21"/>
            <p:cNvSpPr/>
            <p:nvPr/>
          </p:nvSpPr>
          <p:spPr>
            <a:xfrm>
              <a:off x="450318" y="4141259"/>
              <a:ext cx="4187278" cy="439335"/>
            </a:xfrm>
            <a:prstGeom prst="roundRect">
              <a:avLst>
                <a:gd name="adj" fmla="val 7285"/>
              </a:avLst>
            </a:prstGeom>
            <a:solidFill>
              <a:srgbClr val="EDB111">
                <a:alpha val="10000"/>
              </a:srgbClr>
            </a:solidFill>
            <a:ln w="10160">
              <a:solidFill>
                <a:srgbClr val="EDB111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450318" y="4141259"/>
              <a:ext cx="45720" cy="439335"/>
            </a:xfrm>
            <a:prstGeom prst="rect">
              <a:avLst/>
            </a:prstGeom>
            <a:solidFill>
              <a:srgbClr val="EDB111"/>
            </a:solidFill>
            <a:ln w="12700">
              <a:solidFill>
                <a:srgbClr val="EDB111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25" name="Text 23"/>
            <p:cNvSpPr txBox="1"/>
            <p:nvPr/>
          </p:nvSpPr>
          <p:spPr>
            <a:xfrm>
              <a:off x="528042" y="4173263"/>
              <a:ext cx="4031830" cy="3707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EDB1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DURANTE A EXECUÇÃO</a:t>
              </a:r>
              <a:endParaRPr lang="pt-BR" sz="1600" noProof="0" dirty="0"/>
            </a:p>
          </p:txBody>
        </p:sp>
      </p:grpSp>
      <p:sp>
        <p:nvSpPr>
          <p:cNvPr id="26" name="Text 24"/>
          <p:cNvSpPr txBox="1"/>
          <p:nvPr/>
        </p:nvSpPr>
        <p:spPr>
          <a:xfrm>
            <a:off x="336018" y="4599823"/>
            <a:ext cx="4031830" cy="572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as condições de trabalho, os controles operacionais e o atendimento aos requisitos aplicáveis.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4" name="Agrupar 53">
            <a:extLst>
              <a:ext uri="{FF2B5EF4-FFF2-40B4-BE49-F238E27FC236}">
                <a16:creationId xmlns:a16="http://schemas.microsoft.com/office/drawing/2014/main" id="{704A2BE2-E1C3-E704-FF72-42AF56D5D08B}"/>
              </a:ext>
            </a:extLst>
          </p:cNvPr>
          <p:cNvGrpSpPr/>
          <p:nvPr/>
        </p:nvGrpSpPr>
        <p:grpSpPr>
          <a:xfrm>
            <a:off x="336018" y="5576653"/>
            <a:ext cx="4187278" cy="439335"/>
            <a:chOff x="450318" y="5624278"/>
            <a:chExt cx="4187278" cy="439335"/>
          </a:xfrm>
        </p:grpSpPr>
        <p:sp>
          <p:nvSpPr>
            <p:cNvPr id="27" name="Shape 25"/>
            <p:cNvSpPr/>
            <p:nvPr/>
          </p:nvSpPr>
          <p:spPr>
            <a:xfrm>
              <a:off x="450318" y="5624278"/>
              <a:ext cx="4187278" cy="439335"/>
            </a:xfrm>
            <a:prstGeom prst="roundRect">
              <a:avLst>
                <a:gd name="adj" fmla="val 7285"/>
              </a:avLst>
            </a:prstGeom>
            <a:solidFill>
              <a:srgbClr val="3CB5E5">
                <a:alpha val="10000"/>
              </a:srgbClr>
            </a:solidFill>
            <a:ln w="10160">
              <a:solidFill>
                <a:srgbClr val="3CB5E5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450318" y="5624278"/>
              <a:ext cx="45720" cy="439335"/>
            </a:xfrm>
            <a:prstGeom prst="rect">
              <a:avLst/>
            </a:prstGeom>
            <a:solidFill>
              <a:srgbClr val="3CB5E5"/>
            </a:solidFill>
            <a:ln w="12700">
              <a:solidFill>
                <a:srgbClr val="3CB5E5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29" name="Text 27"/>
            <p:cNvSpPr txBox="1"/>
            <p:nvPr/>
          </p:nvSpPr>
          <p:spPr>
            <a:xfrm>
              <a:off x="528042" y="5656282"/>
              <a:ext cx="4031830" cy="3707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3CB5E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NAS INSPEÇÕES</a:t>
              </a:r>
              <a:endParaRPr lang="pt-BR" sz="1600" noProof="0" dirty="0"/>
            </a:p>
          </p:txBody>
        </p:sp>
      </p:grpSp>
      <p:sp>
        <p:nvSpPr>
          <p:cNvPr id="33" name="Text 31"/>
          <p:cNvSpPr txBox="1"/>
          <p:nvPr/>
        </p:nvSpPr>
        <p:spPr>
          <a:xfrm>
            <a:off x="336018" y="6081611"/>
            <a:ext cx="4031830" cy="572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as verificações realizadas e as evidências encontradas em campo.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4937856" y="6841283"/>
            <a:ext cx="2245398" cy="13809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14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Fiscal identifica e registra a condição encontrada.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tratativas devem seguir os normativos e os fluxos internos de SSMA pela Vale para cada situação.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2543823D-D753-1970-E0E9-FBB56A639BA4}"/>
              </a:ext>
            </a:extLst>
          </p:cNvPr>
          <p:cNvGrpSpPr/>
          <p:nvPr/>
        </p:nvGrpSpPr>
        <p:grpSpPr>
          <a:xfrm>
            <a:off x="336018" y="7083485"/>
            <a:ext cx="4187278" cy="439335"/>
            <a:chOff x="450318" y="7107297"/>
            <a:chExt cx="4187278" cy="439335"/>
          </a:xfrm>
        </p:grpSpPr>
        <p:sp>
          <p:nvSpPr>
            <p:cNvPr id="35" name="Shape 33"/>
            <p:cNvSpPr/>
            <p:nvPr/>
          </p:nvSpPr>
          <p:spPr>
            <a:xfrm>
              <a:off x="450318" y="7107297"/>
              <a:ext cx="4187278" cy="439335"/>
            </a:xfrm>
            <a:prstGeom prst="roundRect">
              <a:avLst>
                <a:gd name="adj" fmla="val 7285"/>
              </a:avLst>
            </a:prstGeom>
            <a:solidFill>
              <a:srgbClr val="EDB111">
                <a:alpha val="10000"/>
              </a:srgbClr>
            </a:solidFill>
            <a:ln w="10160">
              <a:solidFill>
                <a:srgbClr val="EDB111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450318" y="7107297"/>
              <a:ext cx="45720" cy="439335"/>
            </a:xfrm>
            <a:prstGeom prst="rect">
              <a:avLst/>
            </a:prstGeom>
            <a:solidFill>
              <a:srgbClr val="EDB111"/>
            </a:solidFill>
            <a:ln w="12700">
              <a:solidFill>
                <a:srgbClr val="EDB111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37" name="Text 35"/>
            <p:cNvSpPr txBox="1"/>
            <p:nvPr/>
          </p:nvSpPr>
          <p:spPr>
            <a:xfrm>
              <a:off x="528042" y="7139301"/>
              <a:ext cx="4031830" cy="3707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EDB1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DIANTE DE UM DESVIO</a:t>
              </a:r>
              <a:endParaRPr lang="pt-BR" sz="1600" noProof="0" dirty="0"/>
            </a:p>
          </p:txBody>
        </p:sp>
      </p:grpSp>
      <p:sp>
        <p:nvSpPr>
          <p:cNvPr id="38" name="Text 36"/>
          <p:cNvSpPr txBox="1"/>
          <p:nvPr/>
        </p:nvSpPr>
        <p:spPr>
          <a:xfrm>
            <a:off x="336018" y="7601305"/>
            <a:ext cx="4031830" cy="656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Registre, comunique e acione imediatamente as interfaces competentes quando houver situação crítica ou não conformidade relevante.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6" name="Agrupar 55">
            <a:extLst>
              <a:ext uri="{FF2B5EF4-FFF2-40B4-BE49-F238E27FC236}">
                <a16:creationId xmlns:a16="http://schemas.microsoft.com/office/drawing/2014/main" id="{42577115-E491-1712-96C4-97AF2618A54D}"/>
              </a:ext>
            </a:extLst>
          </p:cNvPr>
          <p:cNvGrpSpPr/>
          <p:nvPr/>
        </p:nvGrpSpPr>
        <p:grpSpPr>
          <a:xfrm>
            <a:off x="336018" y="8590316"/>
            <a:ext cx="4187278" cy="439335"/>
            <a:chOff x="450318" y="8590316"/>
            <a:chExt cx="4187278" cy="439335"/>
          </a:xfrm>
        </p:grpSpPr>
        <p:sp>
          <p:nvSpPr>
            <p:cNvPr id="43" name="Shape 41"/>
            <p:cNvSpPr/>
            <p:nvPr/>
          </p:nvSpPr>
          <p:spPr>
            <a:xfrm>
              <a:off x="450318" y="8590316"/>
              <a:ext cx="4187278" cy="439335"/>
            </a:xfrm>
            <a:prstGeom prst="roundRect">
              <a:avLst>
                <a:gd name="adj" fmla="val 7285"/>
              </a:avLst>
            </a:prstGeom>
            <a:solidFill>
              <a:srgbClr val="E37222">
                <a:alpha val="10000"/>
              </a:srgbClr>
            </a:solidFill>
            <a:ln w="10160">
              <a:solidFill>
                <a:srgbClr val="E37222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450318" y="8590316"/>
              <a:ext cx="45720" cy="439335"/>
            </a:xfrm>
            <a:prstGeom prst="rect">
              <a:avLst/>
            </a:prstGeom>
            <a:solidFill>
              <a:srgbClr val="E37222"/>
            </a:solidFill>
            <a:ln w="12700">
              <a:solidFill>
                <a:srgbClr val="E37222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45" name="Text 43"/>
            <p:cNvSpPr txBox="1"/>
            <p:nvPr/>
          </p:nvSpPr>
          <p:spPr>
            <a:xfrm>
              <a:off x="528042" y="8622320"/>
              <a:ext cx="4031830" cy="3707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E37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NA REINCIDÊNCIA</a:t>
              </a:r>
              <a:endParaRPr lang="pt-BR" sz="1600" noProof="0" dirty="0"/>
            </a:p>
          </p:txBody>
        </p:sp>
      </p:grpSp>
      <p:sp>
        <p:nvSpPr>
          <p:cNvPr id="46" name="Text 44"/>
          <p:cNvSpPr txBox="1"/>
          <p:nvPr/>
        </p:nvSpPr>
        <p:spPr>
          <a:xfrm>
            <a:off x="4955218" y="9226126"/>
            <a:ext cx="2132950" cy="476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1200" noProof="0" dirty="0">
                <a:solidFill>
                  <a:srgbClr val="303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 sempre os normativos de SSMA aplicáveis no SISPAV.</a:t>
            </a:r>
            <a:endParaRPr lang="pt-BR" sz="1200" noProof="0" dirty="0"/>
          </a:p>
        </p:txBody>
      </p:sp>
      <p:sp>
        <p:nvSpPr>
          <p:cNvPr id="47" name="Text 45"/>
          <p:cNvSpPr txBox="1"/>
          <p:nvPr/>
        </p:nvSpPr>
        <p:spPr>
          <a:xfrm>
            <a:off x="336018" y="9102803"/>
            <a:ext cx="4031830" cy="672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trate um desvio recorrente como ocorrência isolada. Registre o histórico e reporte a situação ao Gestor de Contratos para tratativa.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8" name="Shape 46"/>
          <p:cNvSpPr/>
          <p:nvPr/>
        </p:nvSpPr>
        <p:spPr>
          <a:xfrm>
            <a:off x="320040" y="10232136"/>
            <a:ext cx="6922008" cy="1"/>
          </a:xfrm>
          <a:prstGeom prst="line">
            <a:avLst/>
          </a:prstGeom>
          <a:noFill/>
          <a:ln w="10160">
            <a:solidFill>
              <a:srgbClr val="D9E5E3"/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51" name="Text 49"/>
          <p:cNvSpPr txBox="1"/>
          <p:nvPr/>
        </p:nvSpPr>
        <p:spPr>
          <a:xfrm>
            <a:off x="6355080" y="1030528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pt-BR" sz="800" b="1" noProof="0" dirty="0">
                <a:solidFill>
                  <a:srgbClr val="667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pt-BR" sz="800" noProof="0" dirty="0"/>
          </a:p>
        </p:txBody>
      </p:sp>
      <p:sp>
        <p:nvSpPr>
          <p:cNvPr id="53" name="Text 26">
            <a:extLst>
              <a:ext uri="{FF2B5EF4-FFF2-40B4-BE49-F238E27FC236}">
                <a16:creationId xmlns:a16="http://schemas.microsoft.com/office/drawing/2014/main" id="{127C1C4D-04A9-44E7-1EE4-EDF7FEA9C7A6}"/>
              </a:ext>
            </a:extLst>
          </p:cNvPr>
          <p:cNvSpPr txBox="1"/>
          <p:nvPr/>
        </p:nvSpPr>
        <p:spPr>
          <a:xfrm>
            <a:off x="1481328" y="10373868"/>
            <a:ext cx="452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9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 de Serviços Operacionais e Segurança Empresarial| Vale S.A.</a:t>
            </a:r>
            <a:endParaRPr lang="pt-BR" sz="9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441E02C9-20C1-17DF-5DAD-861DCDCA7CF9}"/>
              </a:ext>
            </a:extLst>
          </p:cNvPr>
          <p:cNvGrpSpPr/>
          <p:nvPr/>
        </p:nvGrpSpPr>
        <p:grpSpPr>
          <a:xfrm>
            <a:off x="5541633" y="6339430"/>
            <a:ext cx="1037844" cy="369464"/>
            <a:chOff x="382604" y="6496462"/>
            <a:chExt cx="1037844" cy="369464"/>
          </a:xfrm>
        </p:grpSpPr>
        <p:sp>
          <p:nvSpPr>
            <p:cNvPr id="58" name="Shape 33">
              <a:extLst>
                <a:ext uri="{FF2B5EF4-FFF2-40B4-BE49-F238E27FC236}">
                  <a16:creationId xmlns:a16="http://schemas.microsoft.com/office/drawing/2014/main" id="{F12A0ED5-4880-B82C-893B-46A8E0CCD1EB}"/>
                </a:ext>
              </a:extLst>
            </p:cNvPr>
            <p:cNvSpPr/>
            <p:nvPr/>
          </p:nvSpPr>
          <p:spPr>
            <a:xfrm>
              <a:off x="382604" y="6496462"/>
              <a:ext cx="1037844" cy="364598"/>
            </a:xfrm>
            <a:prstGeom prst="roundRect">
              <a:avLst>
                <a:gd name="adj" fmla="val 10032"/>
              </a:avLst>
            </a:prstGeom>
            <a:solidFill>
              <a:srgbClr val="F1C7D4"/>
            </a:solidFill>
            <a:ln w="12700">
              <a:solidFill>
                <a:srgbClr val="C0305E"/>
              </a:solidFill>
              <a:prstDash val="solid"/>
            </a:ln>
          </p:spPr>
          <p:txBody>
            <a:bodyPr/>
            <a:lstStyle/>
            <a:p>
              <a:endParaRPr lang="pt-BR" sz="2000" noProof="0" dirty="0"/>
            </a:p>
          </p:txBody>
        </p:sp>
        <p:sp>
          <p:nvSpPr>
            <p:cNvPr id="59" name="Shape 34">
              <a:extLst>
                <a:ext uri="{FF2B5EF4-FFF2-40B4-BE49-F238E27FC236}">
                  <a16:creationId xmlns:a16="http://schemas.microsoft.com/office/drawing/2014/main" id="{4B7370C7-985E-CD6D-0C69-AB9B7C4D22A2}"/>
                </a:ext>
              </a:extLst>
            </p:cNvPr>
            <p:cNvSpPr/>
            <p:nvPr/>
          </p:nvSpPr>
          <p:spPr>
            <a:xfrm>
              <a:off x="382604" y="6496462"/>
              <a:ext cx="50292" cy="364598"/>
            </a:xfrm>
            <a:prstGeom prst="rect">
              <a:avLst/>
            </a:prstGeom>
            <a:solidFill>
              <a:srgbClr val="C0305E"/>
            </a:solidFill>
            <a:ln w="12700">
              <a:solidFill>
                <a:srgbClr val="C0305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pt-BR" sz="2000" noProof="0" dirty="0"/>
            </a:p>
          </p:txBody>
        </p:sp>
        <p:sp>
          <p:nvSpPr>
            <p:cNvPr id="60" name="Text 35">
              <a:extLst>
                <a:ext uri="{FF2B5EF4-FFF2-40B4-BE49-F238E27FC236}">
                  <a16:creationId xmlns:a16="http://schemas.microsoft.com/office/drawing/2014/main" id="{0D816452-F942-92C5-6121-B263AEA81F19}"/>
                </a:ext>
              </a:extLst>
            </p:cNvPr>
            <p:cNvSpPr txBox="1"/>
            <p:nvPr/>
          </p:nvSpPr>
          <p:spPr>
            <a:xfrm>
              <a:off x="447912" y="6531916"/>
              <a:ext cx="956414" cy="3340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pt-BR" b="1" noProof="0" dirty="0">
                  <a:solidFill>
                    <a:srgbClr val="C0305E"/>
                  </a:solidFill>
                  <a:ea typeface="Calibri" pitchFamily="34" charset="-122"/>
                  <a:cs typeface="Calibri" pitchFamily="34" charset="-120"/>
                </a:rPr>
                <a:t>ATENÇÃO</a:t>
              </a:r>
              <a:endParaRPr lang="pt-BR" noProof="0" dirty="0">
                <a:solidFill>
                  <a:srgbClr val="C0305E"/>
                </a:solidFill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353312"/>
          </a:xfrm>
          <a:prstGeom prst="rect">
            <a:avLst/>
          </a:prstGeom>
          <a:solidFill>
            <a:srgbClr val="007E7A"/>
          </a:solidFill>
          <a:ln w="12700">
            <a:solidFill>
              <a:srgbClr val="007E7A">
                <a:alpha val="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 rot="900000">
            <a:off x="5961888" y="0"/>
            <a:ext cx="1600200" cy="1298448"/>
          </a:xfrm>
          <a:prstGeom prst="arc">
            <a:avLst/>
          </a:prstGeom>
          <a:solidFill>
            <a:srgbClr val="007E7A">
              <a:alpha val="0"/>
            </a:srgbClr>
          </a:solidFill>
          <a:ln w="228600">
            <a:solidFill>
              <a:srgbClr val="0ABB98">
                <a:alpha val="5500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 rot="1500000">
            <a:off x="6355080" y="0"/>
            <a:ext cx="1207008" cy="1207008"/>
          </a:xfrm>
          <a:prstGeom prst="arc">
            <a:avLst/>
          </a:prstGeom>
          <a:solidFill>
            <a:srgbClr val="007E7A">
              <a:alpha val="0"/>
            </a:srgbClr>
          </a:solidFill>
          <a:ln w="139700">
            <a:solidFill>
              <a:srgbClr val="3CB5E5">
                <a:alpha val="6200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420624" y="22860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100" b="1" noProof="0" dirty="0">
                <a:solidFill>
                  <a:srgbClr val="BC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EVIDÊNCIAS</a:t>
            </a:r>
            <a:endParaRPr lang="pt-BR" sz="1100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420624" y="502920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2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comprova a execução?</a:t>
            </a:r>
            <a:endParaRPr lang="pt-BR" sz="2500" noProof="0" dirty="0"/>
          </a:p>
        </p:txBody>
      </p:sp>
      <p:sp>
        <p:nvSpPr>
          <p:cNvPr id="7" name="Shape 5"/>
          <p:cNvSpPr/>
          <p:nvPr/>
        </p:nvSpPr>
        <p:spPr>
          <a:xfrm>
            <a:off x="6793992" y="475488"/>
            <a:ext cx="438912" cy="438912"/>
          </a:xfrm>
          <a:prstGeom prst="ellipse">
            <a:avLst/>
          </a:prstGeom>
          <a:solidFill>
            <a:srgbClr val="FFFFFF">
              <a:alpha val="18000"/>
            </a:srgbClr>
          </a:solidFill>
          <a:ln w="15240">
            <a:solidFill>
              <a:srgbClr val="FFFFFF">
                <a:alpha val="7500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6793992" y="4754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pt-BR" sz="1200" noProof="0" dirty="0"/>
          </a:p>
        </p:txBody>
      </p:sp>
      <p:sp>
        <p:nvSpPr>
          <p:cNvPr id="9" name="Shape 7"/>
          <p:cNvSpPr/>
          <p:nvPr/>
        </p:nvSpPr>
        <p:spPr>
          <a:xfrm>
            <a:off x="0" y="1353312"/>
            <a:ext cx="7562088" cy="8805672"/>
          </a:xfrm>
          <a:prstGeom prst="rect">
            <a:avLst/>
          </a:prstGeom>
          <a:solidFill>
            <a:srgbClr val="F7FAF9"/>
          </a:solidFill>
          <a:ln w="12700">
            <a:solidFill>
              <a:srgbClr val="F7FAF9">
                <a:alpha val="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274320" y="1581912"/>
            <a:ext cx="3456432" cy="8193024"/>
          </a:xfrm>
          <a:prstGeom prst="roundRect">
            <a:avLst>
              <a:gd name="adj" fmla="val 1323"/>
            </a:avLst>
          </a:prstGeom>
          <a:solidFill>
            <a:srgbClr val="FFFFFF"/>
          </a:solidFill>
          <a:ln w="8890">
            <a:solidFill>
              <a:srgbClr val="E4EFED"/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11" name="Shape 9"/>
          <p:cNvSpPr/>
          <p:nvPr/>
        </p:nvSpPr>
        <p:spPr>
          <a:xfrm>
            <a:off x="3813180" y="1581912"/>
            <a:ext cx="3456432" cy="8193024"/>
          </a:xfrm>
          <a:prstGeom prst="roundRect">
            <a:avLst>
              <a:gd name="adj" fmla="val 1323"/>
            </a:avLst>
          </a:prstGeom>
          <a:solidFill>
            <a:srgbClr val="F1F8F7"/>
          </a:solidFill>
          <a:ln w="8890">
            <a:solidFill>
              <a:srgbClr val="E4EFED"/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12" name="Shape 10"/>
          <p:cNvSpPr/>
          <p:nvPr/>
        </p:nvSpPr>
        <p:spPr>
          <a:xfrm>
            <a:off x="6080760" y="8183880"/>
            <a:ext cx="1783080" cy="1783080"/>
          </a:xfrm>
          <a:prstGeom prst="ellipse">
            <a:avLst/>
          </a:prstGeom>
          <a:solidFill>
            <a:srgbClr val="FFFFFF">
              <a:alpha val="0"/>
            </a:srgbClr>
          </a:solidFill>
          <a:ln w="63500">
            <a:solidFill>
              <a:srgbClr val="0ABB98">
                <a:alpha val="2200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6281928" y="836676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3900" b="1" noProof="0" dirty="0">
                <a:solidFill>
                  <a:srgbClr val="DC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pt-BR" sz="3900" noProof="0" dirty="0"/>
          </a:p>
        </p:txBody>
      </p:sp>
      <p:sp>
        <p:nvSpPr>
          <p:cNvPr id="14" name="Text 12"/>
          <p:cNvSpPr txBox="1"/>
          <p:nvPr/>
        </p:nvSpPr>
        <p:spPr>
          <a:xfrm>
            <a:off x="387729" y="1670579"/>
            <a:ext cx="6836031" cy="485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1400" b="1" noProof="0" dirty="0">
                <a:solidFill>
                  <a:srgbClr val="303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evidência deve permitir comprovar, de forma clara e rastreável, que o serviço foi executado conforme o contratado.</a:t>
            </a:r>
            <a:endParaRPr lang="pt-BR" sz="1400" b="1" noProof="0" dirty="0"/>
          </a:p>
        </p:txBody>
      </p:sp>
      <p:sp>
        <p:nvSpPr>
          <p:cNvPr id="17" name="Text 15"/>
          <p:cNvSpPr txBox="1"/>
          <p:nvPr/>
        </p:nvSpPr>
        <p:spPr>
          <a:xfrm>
            <a:off x="396320" y="2382381"/>
            <a:ext cx="2699886" cy="249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b="1" noProof="0" dirty="0">
                <a:solidFill>
                  <a:srgbClr val="026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boa evidência responde:</a:t>
            </a:r>
            <a:endParaRPr lang="pt-BR" sz="1400" noProof="0" dirty="0">
              <a:solidFill>
                <a:srgbClr val="026766"/>
              </a:solidFill>
            </a:endParaRP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4E3D7F94-BBB6-D6E9-E9B3-26CA3FCEF24C}"/>
              </a:ext>
            </a:extLst>
          </p:cNvPr>
          <p:cNvGrpSpPr/>
          <p:nvPr/>
        </p:nvGrpSpPr>
        <p:grpSpPr>
          <a:xfrm>
            <a:off x="396320" y="2713122"/>
            <a:ext cx="1764000" cy="318235"/>
            <a:chOff x="396320" y="2713122"/>
            <a:chExt cx="1764000" cy="318235"/>
          </a:xfrm>
        </p:grpSpPr>
        <p:grpSp>
          <p:nvGrpSpPr>
            <p:cNvPr id="68" name="Agrupar 67">
              <a:extLst>
                <a:ext uri="{FF2B5EF4-FFF2-40B4-BE49-F238E27FC236}">
                  <a16:creationId xmlns:a16="http://schemas.microsoft.com/office/drawing/2014/main" id="{7412FBCE-55D1-4B64-881A-F51A0F8E6CA7}"/>
                </a:ext>
              </a:extLst>
            </p:cNvPr>
            <p:cNvGrpSpPr/>
            <p:nvPr/>
          </p:nvGrpSpPr>
          <p:grpSpPr>
            <a:xfrm>
              <a:off x="396320" y="2713122"/>
              <a:ext cx="1764000" cy="318235"/>
              <a:chOff x="396320" y="2713122"/>
              <a:chExt cx="1764000" cy="318235"/>
            </a:xfrm>
          </p:grpSpPr>
          <p:sp>
            <p:nvSpPr>
              <p:cNvPr id="18" name="Shape 16"/>
              <p:cNvSpPr/>
              <p:nvPr/>
            </p:nvSpPr>
            <p:spPr>
              <a:xfrm>
                <a:off x="396320" y="2713122"/>
                <a:ext cx="1764000" cy="318235"/>
              </a:xfrm>
              <a:prstGeom prst="roundRect">
                <a:avLst>
                  <a:gd name="adj" fmla="val 10057"/>
                </a:avLst>
              </a:prstGeom>
              <a:solidFill>
                <a:srgbClr val="0ABB98">
                  <a:alpha val="10000"/>
                </a:srgbClr>
              </a:solidFill>
              <a:ln w="10160">
                <a:solidFill>
                  <a:srgbClr val="0ABB98">
                    <a:alpha val="28000"/>
                  </a:srgbClr>
                </a:solidFill>
                <a:prstDash val="solid"/>
              </a:ln>
            </p:spPr>
            <p:txBody>
              <a:bodyPr>
                <a:noAutofit/>
              </a:bodyPr>
              <a:lstStyle/>
              <a:p>
                <a:endParaRPr lang="pt-BR" sz="1600" noProof="0" dirty="0"/>
              </a:p>
            </p:txBody>
          </p:sp>
          <p:sp>
            <p:nvSpPr>
              <p:cNvPr id="19" name="Shape 17"/>
              <p:cNvSpPr/>
              <p:nvPr/>
            </p:nvSpPr>
            <p:spPr>
              <a:xfrm>
                <a:off x="396320" y="2713122"/>
                <a:ext cx="45720" cy="318235"/>
              </a:xfrm>
              <a:prstGeom prst="rect">
                <a:avLst/>
              </a:prstGeom>
              <a:solidFill>
                <a:srgbClr val="0ABB98"/>
              </a:solidFill>
              <a:ln w="12700">
                <a:solidFill>
                  <a:srgbClr val="0ABB98">
                    <a:alpha val="0"/>
                  </a:srgbClr>
                </a:solidFill>
                <a:prstDash val="solid"/>
              </a:ln>
            </p:spPr>
            <p:txBody>
              <a:bodyPr>
                <a:noAutofit/>
              </a:bodyPr>
              <a:lstStyle/>
              <a:p>
                <a:endParaRPr lang="pt-BR" sz="1600" noProof="0" dirty="0"/>
              </a:p>
            </p:txBody>
          </p:sp>
        </p:grpSp>
        <p:sp>
          <p:nvSpPr>
            <p:cNvPr id="20" name="Text 18"/>
            <p:cNvSpPr txBox="1"/>
            <p:nvPr/>
          </p:nvSpPr>
          <p:spPr>
            <a:xfrm>
              <a:off x="474044" y="2745126"/>
              <a:ext cx="1492708" cy="2570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0ABB9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 QUÊ?</a:t>
              </a:r>
              <a:endParaRPr lang="pt-BR" sz="1600" noProof="0" dirty="0"/>
            </a:p>
          </p:txBody>
        </p:sp>
      </p:grpSp>
      <p:grpSp>
        <p:nvGrpSpPr>
          <p:cNvPr id="71" name="Agrupar 70">
            <a:extLst>
              <a:ext uri="{FF2B5EF4-FFF2-40B4-BE49-F238E27FC236}">
                <a16:creationId xmlns:a16="http://schemas.microsoft.com/office/drawing/2014/main" id="{74B2D0B2-787A-7A71-2D73-BEF35EC41799}"/>
              </a:ext>
            </a:extLst>
          </p:cNvPr>
          <p:cNvGrpSpPr/>
          <p:nvPr/>
        </p:nvGrpSpPr>
        <p:grpSpPr>
          <a:xfrm>
            <a:off x="2689550" y="2713122"/>
            <a:ext cx="1764000" cy="318235"/>
            <a:chOff x="2655225" y="2713122"/>
            <a:chExt cx="1764000" cy="318235"/>
          </a:xfrm>
        </p:grpSpPr>
        <p:sp>
          <p:nvSpPr>
            <p:cNvPr id="21" name="Shape 19"/>
            <p:cNvSpPr/>
            <p:nvPr/>
          </p:nvSpPr>
          <p:spPr>
            <a:xfrm>
              <a:off x="2655225" y="2713122"/>
              <a:ext cx="1764000" cy="318235"/>
            </a:xfrm>
            <a:prstGeom prst="roundRect">
              <a:avLst>
                <a:gd name="adj" fmla="val 10057"/>
              </a:avLst>
            </a:prstGeom>
            <a:solidFill>
              <a:srgbClr val="E37222">
                <a:alpha val="10000"/>
              </a:srgbClr>
            </a:solidFill>
            <a:ln w="10160">
              <a:solidFill>
                <a:srgbClr val="E37222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2655225" y="2713122"/>
              <a:ext cx="45720" cy="318235"/>
            </a:xfrm>
            <a:prstGeom prst="rect">
              <a:avLst/>
            </a:prstGeom>
            <a:solidFill>
              <a:srgbClr val="E37222"/>
            </a:solidFill>
            <a:ln w="12700">
              <a:solidFill>
                <a:srgbClr val="E37222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23" name="Text 21"/>
            <p:cNvSpPr txBox="1"/>
            <p:nvPr/>
          </p:nvSpPr>
          <p:spPr>
            <a:xfrm>
              <a:off x="2732949" y="2745126"/>
              <a:ext cx="1610932" cy="2496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E37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ONDE?</a:t>
              </a:r>
              <a:endParaRPr lang="pt-BR" sz="1600" noProof="0" dirty="0"/>
            </a:p>
          </p:txBody>
        </p: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EB4D63C1-8ED2-FA24-486A-6921535634E7}"/>
              </a:ext>
            </a:extLst>
          </p:cNvPr>
          <p:cNvGrpSpPr/>
          <p:nvPr/>
        </p:nvGrpSpPr>
        <p:grpSpPr>
          <a:xfrm>
            <a:off x="4982779" y="2713122"/>
            <a:ext cx="1764000" cy="318235"/>
            <a:chOff x="4563145" y="2713122"/>
            <a:chExt cx="1764000" cy="318235"/>
          </a:xfrm>
        </p:grpSpPr>
        <p:sp>
          <p:nvSpPr>
            <p:cNvPr id="24" name="Shape 22"/>
            <p:cNvSpPr/>
            <p:nvPr/>
          </p:nvSpPr>
          <p:spPr>
            <a:xfrm>
              <a:off x="4563145" y="2713122"/>
              <a:ext cx="1764000" cy="318235"/>
            </a:xfrm>
            <a:prstGeom prst="roundRect">
              <a:avLst>
                <a:gd name="adj" fmla="val 10057"/>
              </a:avLst>
            </a:prstGeom>
            <a:solidFill>
              <a:srgbClr val="C0305E">
                <a:alpha val="10000"/>
              </a:srgbClr>
            </a:solidFill>
            <a:ln w="10160">
              <a:solidFill>
                <a:srgbClr val="C0305E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4563145" y="2713122"/>
              <a:ext cx="45720" cy="318235"/>
            </a:xfrm>
            <a:prstGeom prst="rect">
              <a:avLst/>
            </a:prstGeom>
            <a:solidFill>
              <a:srgbClr val="C0305E"/>
            </a:solidFill>
            <a:ln w="12700">
              <a:solidFill>
                <a:srgbClr val="C0305E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26" name="Text 24"/>
            <p:cNvSpPr txBox="1"/>
            <p:nvPr/>
          </p:nvSpPr>
          <p:spPr>
            <a:xfrm>
              <a:off x="4640870" y="2745126"/>
              <a:ext cx="1515702" cy="2496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C030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QUANDO?</a:t>
              </a:r>
              <a:endParaRPr lang="pt-BR" sz="1600" noProof="0" dirty="0"/>
            </a:p>
          </p:txBody>
        </p:sp>
      </p:grpSp>
      <p:sp>
        <p:nvSpPr>
          <p:cNvPr id="27" name="Text 25"/>
          <p:cNvSpPr txBox="1"/>
          <p:nvPr/>
        </p:nvSpPr>
        <p:spPr>
          <a:xfrm>
            <a:off x="396320" y="3097191"/>
            <a:ext cx="1889919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rgbClr val="303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serviço foi realizado?</a:t>
            </a:r>
            <a:endParaRPr lang="pt-BR" sz="1400" noProof="0" dirty="0"/>
          </a:p>
        </p:txBody>
      </p:sp>
      <p:sp>
        <p:nvSpPr>
          <p:cNvPr id="28" name="Text 26"/>
          <p:cNvSpPr txBox="1"/>
          <p:nvPr/>
        </p:nvSpPr>
        <p:spPr>
          <a:xfrm>
            <a:off x="2689550" y="3097191"/>
            <a:ext cx="1574934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rgbClr val="303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qual local, ativo ou frente de serviço?</a:t>
            </a:r>
            <a:endParaRPr lang="pt-BR" sz="1400" noProof="0" dirty="0"/>
          </a:p>
        </p:txBody>
      </p:sp>
      <p:sp>
        <p:nvSpPr>
          <p:cNvPr id="29" name="Text 27"/>
          <p:cNvSpPr txBox="1"/>
          <p:nvPr/>
        </p:nvSpPr>
        <p:spPr>
          <a:xfrm>
            <a:off x="4982779" y="3097191"/>
            <a:ext cx="2069913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rgbClr val="303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data ou período da execução?</a:t>
            </a:r>
            <a:endParaRPr lang="pt-BR" sz="1400" noProof="0" dirty="0"/>
          </a:p>
        </p:txBody>
      </p:sp>
      <p:grpSp>
        <p:nvGrpSpPr>
          <p:cNvPr id="73" name="Agrupar 72">
            <a:extLst>
              <a:ext uri="{FF2B5EF4-FFF2-40B4-BE49-F238E27FC236}">
                <a16:creationId xmlns:a16="http://schemas.microsoft.com/office/drawing/2014/main" id="{F97E3F62-46C4-6A6E-891A-EDE8C39D608D}"/>
              </a:ext>
            </a:extLst>
          </p:cNvPr>
          <p:cNvGrpSpPr/>
          <p:nvPr/>
        </p:nvGrpSpPr>
        <p:grpSpPr>
          <a:xfrm>
            <a:off x="961853" y="3828286"/>
            <a:ext cx="2081366" cy="318235"/>
            <a:chOff x="1548272" y="4058488"/>
            <a:chExt cx="2081366" cy="318235"/>
          </a:xfrm>
        </p:grpSpPr>
        <p:sp>
          <p:nvSpPr>
            <p:cNvPr id="30" name="Shape 28"/>
            <p:cNvSpPr/>
            <p:nvPr/>
          </p:nvSpPr>
          <p:spPr>
            <a:xfrm>
              <a:off x="1548272" y="4058488"/>
              <a:ext cx="2081366" cy="318235"/>
            </a:xfrm>
            <a:prstGeom prst="roundRect">
              <a:avLst>
                <a:gd name="adj" fmla="val 10057"/>
              </a:avLst>
            </a:prstGeom>
            <a:solidFill>
              <a:srgbClr val="0ABB98">
                <a:alpha val="10000"/>
              </a:srgbClr>
            </a:solidFill>
            <a:ln w="10160">
              <a:solidFill>
                <a:srgbClr val="0ABB98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1548272" y="4058488"/>
              <a:ext cx="45720" cy="318235"/>
            </a:xfrm>
            <a:prstGeom prst="rect">
              <a:avLst/>
            </a:prstGeom>
            <a:solidFill>
              <a:srgbClr val="0ABB98"/>
            </a:solidFill>
            <a:ln w="12700">
              <a:solidFill>
                <a:srgbClr val="0ABB98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32" name="Text 30"/>
            <p:cNvSpPr txBox="1"/>
            <p:nvPr/>
          </p:nvSpPr>
          <p:spPr>
            <a:xfrm>
              <a:off x="1625996" y="4090492"/>
              <a:ext cx="1925918" cy="2496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0ABB9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QUANTO?</a:t>
              </a:r>
              <a:endParaRPr lang="pt-BR" sz="1600" noProof="0" dirty="0"/>
            </a:p>
          </p:txBody>
        </p:sp>
      </p:grpSp>
      <p:grpSp>
        <p:nvGrpSpPr>
          <p:cNvPr id="74" name="Agrupar 73">
            <a:extLst>
              <a:ext uri="{FF2B5EF4-FFF2-40B4-BE49-F238E27FC236}">
                <a16:creationId xmlns:a16="http://schemas.microsoft.com/office/drawing/2014/main" id="{E9A10B55-28B5-363D-F593-E5E86F628D22}"/>
              </a:ext>
            </a:extLst>
          </p:cNvPr>
          <p:cNvGrpSpPr/>
          <p:nvPr/>
        </p:nvGrpSpPr>
        <p:grpSpPr>
          <a:xfrm>
            <a:off x="4455583" y="3848938"/>
            <a:ext cx="2183635" cy="318235"/>
            <a:chOff x="3816176" y="4058488"/>
            <a:chExt cx="2183635" cy="318235"/>
          </a:xfrm>
        </p:grpSpPr>
        <p:sp>
          <p:nvSpPr>
            <p:cNvPr id="33" name="Shape 31"/>
            <p:cNvSpPr/>
            <p:nvPr/>
          </p:nvSpPr>
          <p:spPr>
            <a:xfrm>
              <a:off x="3816176" y="4058488"/>
              <a:ext cx="2080800" cy="318235"/>
            </a:xfrm>
            <a:prstGeom prst="roundRect">
              <a:avLst>
                <a:gd name="adj" fmla="val 10057"/>
              </a:avLst>
            </a:prstGeom>
            <a:solidFill>
              <a:srgbClr val="E37222">
                <a:alpha val="10000"/>
              </a:srgbClr>
            </a:solidFill>
            <a:ln w="10160">
              <a:solidFill>
                <a:srgbClr val="E37222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3816176" y="4058488"/>
              <a:ext cx="45720" cy="318235"/>
            </a:xfrm>
            <a:prstGeom prst="rect">
              <a:avLst/>
            </a:prstGeom>
            <a:solidFill>
              <a:srgbClr val="E37222"/>
            </a:solidFill>
            <a:ln w="12700">
              <a:solidFill>
                <a:srgbClr val="E37222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35" name="Text 33"/>
            <p:cNvSpPr txBox="1"/>
            <p:nvPr/>
          </p:nvSpPr>
          <p:spPr>
            <a:xfrm>
              <a:off x="3893900" y="4090492"/>
              <a:ext cx="2105911" cy="2496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E37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COMO?</a:t>
              </a:r>
              <a:endParaRPr lang="pt-BR" sz="1600" noProof="0" dirty="0"/>
            </a:p>
          </p:txBody>
        </p:sp>
      </p:grpSp>
      <p:sp>
        <p:nvSpPr>
          <p:cNvPr id="36" name="Text 34"/>
          <p:cNvSpPr txBox="1"/>
          <p:nvPr/>
        </p:nvSpPr>
        <p:spPr>
          <a:xfrm>
            <a:off x="961853" y="4214030"/>
            <a:ext cx="1889919" cy="750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rgbClr val="303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quantidade, volume ou unidade executada, quando aplicável?</a:t>
            </a:r>
            <a:endParaRPr lang="pt-BR" sz="1400" noProof="0" dirty="0"/>
          </a:p>
        </p:txBody>
      </p:sp>
      <p:sp>
        <p:nvSpPr>
          <p:cNvPr id="37" name="Text 35"/>
          <p:cNvSpPr txBox="1"/>
          <p:nvPr/>
        </p:nvSpPr>
        <p:spPr>
          <a:xfrm>
            <a:off x="4455583" y="4214030"/>
            <a:ext cx="2069913" cy="790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rgbClr val="303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registro comprova o atendimento ao padrão previsto?</a:t>
            </a:r>
            <a:endParaRPr lang="pt-BR" sz="1400" noProof="0" dirty="0"/>
          </a:p>
        </p:txBody>
      </p:sp>
      <p:grpSp>
        <p:nvGrpSpPr>
          <p:cNvPr id="75" name="Agrupar 74">
            <a:extLst>
              <a:ext uri="{FF2B5EF4-FFF2-40B4-BE49-F238E27FC236}">
                <a16:creationId xmlns:a16="http://schemas.microsoft.com/office/drawing/2014/main" id="{D084C842-08CA-6A0F-CA9B-BF7FCDA3F8B9}"/>
              </a:ext>
            </a:extLst>
          </p:cNvPr>
          <p:cNvGrpSpPr/>
          <p:nvPr/>
        </p:nvGrpSpPr>
        <p:grpSpPr>
          <a:xfrm>
            <a:off x="392663" y="5209229"/>
            <a:ext cx="6392185" cy="373714"/>
            <a:chOff x="450318" y="5570290"/>
            <a:chExt cx="6392185" cy="373714"/>
          </a:xfrm>
        </p:grpSpPr>
        <p:sp>
          <p:nvSpPr>
            <p:cNvPr id="38" name="Shape 36"/>
            <p:cNvSpPr/>
            <p:nvPr/>
          </p:nvSpPr>
          <p:spPr>
            <a:xfrm>
              <a:off x="450318" y="5570290"/>
              <a:ext cx="6392185" cy="373714"/>
            </a:xfrm>
            <a:prstGeom prst="roundRect">
              <a:avLst>
                <a:gd name="adj" fmla="val 8564"/>
              </a:avLst>
            </a:prstGeom>
            <a:solidFill>
              <a:srgbClr val="007E7A">
                <a:alpha val="10000"/>
              </a:srgbClr>
            </a:solidFill>
            <a:ln w="10160">
              <a:solidFill>
                <a:srgbClr val="007E7A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450318" y="5570290"/>
              <a:ext cx="45720" cy="373714"/>
            </a:xfrm>
            <a:prstGeom prst="rect">
              <a:avLst/>
            </a:prstGeom>
            <a:solidFill>
              <a:srgbClr val="007E7A"/>
            </a:solidFill>
            <a:ln w="12700">
              <a:solidFill>
                <a:srgbClr val="007E7A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40" name="Text 38"/>
            <p:cNvSpPr txBox="1"/>
            <p:nvPr/>
          </p:nvSpPr>
          <p:spPr>
            <a:xfrm>
              <a:off x="528042" y="5602294"/>
              <a:ext cx="6236737" cy="3051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007E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EXEMPLOS DE EVIDÊNCIAS</a:t>
              </a:r>
              <a:endParaRPr lang="pt-BR" sz="1600" noProof="0" dirty="0"/>
            </a:p>
          </p:txBody>
        </p:sp>
      </p:grpSp>
      <p:sp>
        <p:nvSpPr>
          <p:cNvPr id="41" name="Text 39"/>
          <p:cNvSpPr txBox="1"/>
          <p:nvPr/>
        </p:nvSpPr>
        <p:spPr>
          <a:xfrm>
            <a:off x="392663" y="5693346"/>
            <a:ext cx="6236737" cy="610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rgbClr val="303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• Ordem de Serviço • RDO • Checklist • Relatório de inspeção • Registro sistêmico • Medições de campo • Atas das Reuniões de Performance</a:t>
            </a:r>
            <a:endParaRPr lang="pt-BR" sz="1400" noProof="0" dirty="0"/>
          </a:p>
        </p:txBody>
      </p:sp>
      <p:grpSp>
        <p:nvGrpSpPr>
          <p:cNvPr id="76" name="Agrupar 75">
            <a:extLst>
              <a:ext uri="{FF2B5EF4-FFF2-40B4-BE49-F238E27FC236}">
                <a16:creationId xmlns:a16="http://schemas.microsoft.com/office/drawing/2014/main" id="{B48511BA-CC18-821F-6A47-7F9DFAE9813D}"/>
              </a:ext>
            </a:extLst>
          </p:cNvPr>
          <p:cNvGrpSpPr/>
          <p:nvPr/>
        </p:nvGrpSpPr>
        <p:grpSpPr>
          <a:xfrm>
            <a:off x="484873" y="6600495"/>
            <a:ext cx="3035327" cy="373714"/>
            <a:chOff x="450318" y="6943395"/>
            <a:chExt cx="3035327" cy="373714"/>
          </a:xfrm>
        </p:grpSpPr>
        <p:sp>
          <p:nvSpPr>
            <p:cNvPr id="42" name="Shape 40"/>
            <p:cNvSpPr/>
            <p:nvPr/>
          </p:nvSpPr>
          <p:spPr>
            <a:xfrm>
              <a:off x="450318" y="6943395"/>
              <a:ext cx="3035327" cy="373714"/>
            </a:xfrm>
            <a:prstGeom prst="roundRect">
              <a:avLst>
                <a:gd name="adj" fmla="val 8564"/>
              </a:avLst>
            </a:prstGeom>
            <a:solidFill>
              <a:srgbClr val="0ABB98">
                <a:alpha val="10000"/>
              </a:srgbClr>
            </a:solidFill>
            <a:ln w="10160">
              <a:solidFill>
                <a:srgbClr val="0ABB98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450318" y="6943395"/>
              <a:ext cx="45720" cy="373714"/>
            </a:xfrm>
            <a:prstGeom prst="rect">
              <a:avLst/>
            </a:prstGeom>
            <a:solidFill>
              <a:srgbClr val="0ABB98"/>
            </a:solidFill>
            <a:ln w="12700">
              <a:solidFill>
                <a:srgbClr val="0ABB98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44" name="Text 42"/>
            <p:cNvSpPr txBox="1"/>
            <p:nvPr/>
          </p:nvSpPr>
          <p:spPr>
            <a:xfrm>
              <a:off x="528042" y="6975399"/>
              <a:ext cx="2879879" cy="3051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0ABB9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EVIDÊNCIA ADEQUADA</a:t>
              </a:r>
              <a:endParaRPr lang="pt-BR" sz="1600" noProof="0" dirty="0"/>
            </a:p>
          </p:txBody>
        </p:sp>
      </p:grpSp>
      <p:grpSp>
        <p:nvGrpSpPr>
          <p:cNvPr id="77" name="Agrupar 76">
            <a:extLst>
              <a:ext uri="{FF2B5EF4-FFF2-40B4-BE49-F238E27FC236}">
                <a16:creationId xmlns:a16="http://schemas.microsoft.com/office/drawing/2014/main" id="{EF7574DE-C332-7AB9-41A9-034D4A564425}"/>
              </a:ext>
            </a:extLst>
          </p:cNvPr>
          <p:cNvGrpSpPr/>
          <p:nvPr/>
        </p:nvGrpSpPr>
        <p:grpSpPr>
          <a:xfrm>
            <a:off x="4023733" y="6600495"/>
            <a:ext cx="3035327" cy="373714"/>
            <a:chOff x="3807177" y="6943395"/>
            <a:chExt cx="3035327" cy="373714"/>
          </a:xfrm>
        </p:grpSpPr>
        <p:sp>
          <p:nvSpPr>
            <p:cNvPr id="45" name="Shape 43"/>
            <p:cNvSpPr/>
            <p:nvPr/>
          </p:nvSpPr>
          <p:spPr>
            <a:xfrm>
              <a:off x="3807177" y="6943395"/>
              <a:ext cx="3035327" cy="373714"/>
            </a:xfrm>
            <a:prstGeom prst="roundRect">
              <a:avLst>
                <a:gd name="adj" fmla="val 8564"/>
              </a:avLst>
            </a:prstGeom>
            <a:solidFill>
              <a:srgbClr val="E37222">
                <a:alpha val="10000"/>
              </a:srgbClr>
            </a:solidFill>
            <a:ln w="10160">
              <a:solidFill>
                <a:srgbClr val="E37222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3807177" y="6943395"/>
              <a:ext cx="45720" cy="373714"/>
            </a:xfrm>
            <a:prstGeom prst="rect">
              <a:avLst/>
            </a:prstGeom>
            <a:solidFill>
              <a:srgbClr val="E37222"/>
            </a:solidFill>
            <a:ln w="12700">
              <a:solidFill>
                <a:srgbClr val="E37222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47" name="Text 45"/>
            <p:cNvSpPr txBox="1"/>
            <p:nvPr/>
          </p:nvSpPr>
          <p:spPr>
            <a:xfrm>
              <a:off x="3884901" y="6975399"/>
              <a:ext cx="2879879" cy="3051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E37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EVIDÊNCIA INSUFICIENTE</a:t>
              </a:r>
              <a:endParaRPr lang="pt-BR" sz="1600" noProof="0" dirty="0"/>
            </a:p>
          </p:txBody>
        </p:sp>
      </p:grpSp>
      <p:sp>
        <p:nvSpPr>
          <p:cNvPr id="48" name="Text 46"/>
          <p:cNvSpPr txBox="1"/>
          <p:nvPr/>
        </p:nvSpPr>
        <p:spPr>
          <a:xfrm>
            <a:off x="510089" y="7028311"/>
            <a:ext cx="2879879" cy="610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1400" noProof="0" dirty="0">
                <a:solidFill>
                  <a:srgbClr val="303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Identificável • Objetiva • Relacionada ao serviço • Rastreável • Compatível com o executado</a:t>
            </a:r>
            <a:endParaRPr lang="pt-BR" sz="1400" noProof="0" dirty="0"/>
          </a:p>
        </p:txBody>
      </p:sp>
      <p:sp>
        <p:nvSpPr>
          <p:cNvPr id="49" name="Text 47"/>
          <p:cNvSpPr txBox="1"/>
          <p:nvPr/>
        </p:nvSpPr>
        <p:spPr>
          <a:xfrm>
            <a:off x="4023733" y="7028311"/>
            <a:ext cx="2879879" cy="943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1400" noProof="0" dirty="0">
                <a:solidFill>
                  <a:srgbClr val="303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sem identificação • Registro sem data ou local • Informação genérica • Documento que não comprova o serviço medido</a:t>
            </a:r>
            <a:endParaRPr lang="pt-BR" sz="1400" noProof="0" dirty="0"/>
          </a:p>
        </p:txBody>
      </p:sp>
      <p:sp>
        <p:nvSpPr>
          <p:cNvPr id="56" name="Text 54"/>
          <p:cNvSpPr txBox="1"/>
          <p:nvPr/>
        </p:nvSpPr>
        <p:spPr>
          <a:xfrm>
            <a:off x="542590" y="9126090"/>
            <a:ext cx="2087912" cy="249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b="1" noProof="0" dirty="0">
                <a:solidFill>
                  <a:srgbClr val="0267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Boa prática</a:t>
            </a:r>
            <a:endParaRPr lang="pt-BR" sz="1400" b="1" noProof="0" dirty="0">
              <a:solidFill>
                <a:srgbClr val="0267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7" name="Text 55"/>
          <p:cNvSpPr txBox="1"/>
          <p:nvPr/>
        </p:nvSpPr>
        <p:spPr>
          <a:xfrm>
            <a:off x="492042" y="8110993"/>
            <a:ext cx="6499603" cy="743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1500" b="1" noProof="0" dirty="0">
                <a:solidFill>
                  <a:srgbClr val="303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imprescindível o registro formal das verificações realizadas, incluindo evidências da execução, pendências, não conformidades e comunicações, garantindo rastreabilidade.</a:t>
            </a:r>
            <a:endParaRPr lang="pt-BR" sz="1500" b="1" noProof="0" dirty="0"/>
          </a:p>
        </p:txBody>
      </p:sp>
      <p:sp>
        <p:nvSpPr>
          <p:cNvPr id="58" name="Text 56"/>
          <p:cNvSpPr txBox="1"/>
          <p:nvPr/>
        </p:nvSpPr>
        <p:spPr>
          <a:xfrm>
            <a:off x="542590" y="9332656"/>
            <a:ext cx="6499603" cy="372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200" noProof="0" dirty="0">
                <a:solidFill>
                  <a:srgbClr val="303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dependa exclusivamente da informação produzida pela contratada. Confronte a evidência com aquilo que foi observado e verificado pela fiscalização.</a:t>
            </a:r>
            <a:endParaRPr lang="pt-BR" sz="1200" noProof="0" dirty="0"/>
          </a:p>
        </p:txBody>
      </p:sp>
      <p:sp>
        <p:nvSpPr>
          <p:cNvPr id="59" name="Shape 57"/>
          <p:cNvSpPr/>
          <p:nvPr/>
        </p:nvSpPr>
        <p:spPr>
          <a:xfrm>
            <a:off x="320040" y="10232136"/>
            <a:ext cx="6922008" cy="1"/>
          </a:xfrm>
          <a:prstGeom prst="line">
            <a:avLst/>
          </a:prstGeom>
          <a:noFill/>
          <a:ln w="10160">
            <a:solidFill>
              <a:srgbClr val="D9E5E3"/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62" name="Text 60"/>
          <p:cNvSpPr txBox="1"/>
          <p:nvPr/>
        </p:nvSpPr>
        <p:spPr>
          <a:xfrm>
            <a:off x="6355080" y="1030528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pt-BR" sz="800" b="1" noProof="0" dirty="0">
                <a:solidFill>
                  <a:srgbClr val="667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pt-BR" sz="800" noProof="0" dirty="0"/>
          </a:p>
        </p:txBody>
      </p:sp>
      <p:sp>
        <p:nvSpPr>
          <p:cNvPr id="64" name="Text 26">
            <a:extLst>
              <a:ext uri="{FF2B5EF4-FFF2-40B4-BE49-F238E27FC236}">
                <a16:creationId xmlns:a16="http://schemas.microsoft.com/office/drawing/2014/main" id="{12E80ADF-7573-D615-B214-A7E40B070924}"/>
              </a:ext>
            </a:extLst>
          </p:cNvPr>
          <p:cNvSpPr txBox="1"/>
          <p:nvPr/>
        </p:nvSpPr>
        <p:spPr>
          <a:xfrm>
            <a:off x="1481328" y="10373868"/>
            <a:ext cx="452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9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 de Serviços Operacionais e Segurança Empresarial| Vale S.A.</a:t>
            </a:r>
            <a:endParaRPr lang="pt-BR" sz="9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353312"/>
          </a:xfrm>
          <a:prstGeom prst="rect">
            <a:avLst/>
          </a:prstGeom>
          <a:solidFill>
            <a:srgbClr val="007E7A"/>
          </a:solidFill>
          <a:ln w="12700">
            <a:solidFill>
              <a:srgbClr val="007E7A">
                <a:alpha val="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 rot="900000">
            <a:off x="5961888" y="0"/>
            <a:ext cx="1600200" cy="1298448"/>
          </a:xfrm>
          <a:prstGeom prst="arc">
            <a:avLst/>
          </a:prstGeom>
          <a:solidFill>
            <a:srgbClr val="007E7A">
              <a:alpha val="0"/>
            </a:srgbClr>
          </a:solidFill>
          <a:ln w="228600">
            <a:solidFill>
              <a:srgbClr val="0ABB98">
                <a:alpha val="5500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 rot="1500000">
            <a:off x="6355080" y="0"/>
            <a:ext cx="1207008" cy="1207008"/>
          </a:xfrm>
          <a:prstGeom prst="arc">
            <a:avLst/>
          </a:prstGeom>
          <a:solidFill>
            <a:srgbClr val="007E7A">
              <a:alpha val="0"/>
            </a:srgbClr>
          </a:solidFill>
          <a:ln w="139700">
            <a:solidFill>
              <a:srgbClr val="3CB5E5">
                <a:alpha val="6200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420624" y="22860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100" b="1" noProof="0" dirty="0">
                <a:solidFill>
                  <a:srgbClr val="BC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MEDIÇÃO E SLA</a:t>
            </a:r>
            <a:endParaRPr lang="pt-BR" sz="1100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420624" y="502920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2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× Executado × Evidência</a:t>
            </a:r>
            <a:endParaRPr lang="pt-BR" sz="2500" noProof="0" dirty="0"/>
          </a:p>
        </p:txBody>
      </p:sp>
      <p:sp>
        <p:nvSpPr>
          <p:cNvPr id="7" name="Shape 5"/>
          <p:cNvSpPr/>
          <p:nvPr/>
        </p:nvSpPr>
        <p:spPr>
          <a:xfrm>
            <a:off x="6793992" y="475488"/>
            <a:ext cx="438912" cy="438912"/>
          </a:xfrm>
          <a:prstGeom prst="ellipse">
            <a:avLst/>
          </a:prstGeom>
          <a:solidFill>
            <a:srgbClr val="FFFFFF">
              <a:alpha val="18000"/>
            </a:srgbClr>
          </a:solidFill>
          <a:ln w="15240">
            <a:solidFill>
              <a:srgbClr val="FFFFFF">
                <a:alpha val="7500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6793992" y="4754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pt-BR" sz="1200" noProof="0" dirty="0"/>
          </a:p>
        </p:txBody>
      </p:sp>
      <p:sp>
        <p:nvSpPr>
          <p:cNvPr id="9" name="Shape 7"/>
          <p:cNvSpPr/>
          <p:nvPr/>
        </p:nvSpPr>
        <p:spPr>
          <a:xfrm>
            <a:off x="0" y="1353312"/>
            <a:ext cx="7562088" cy="8805672"/>
          </a:xfrm>
          <a:prstGeom prst="rect">
            <a:avLst/>
          </a:prstGeom>
          <a:solidFill>
            <a:srgbClr val="F7FAF9"/>
          </a:solidFill>
          <a:ln w="12700">
            <a:solidFill>
              <a:srgbClr val="F7FAF9">
                <a:alpha val="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274320" y="1581912"/>
            <a:ext cx="3456432" cy="8193024"/>
          </a:xfrm>
          <a:prstGeom prst="roundRect">
            <a:avLst>
              <a:gd name="adj" fmla="val 1323"/>
            </a:avLst>
          </a:prstGeom>
          <a:solidFill>
            <a:srgbClr val="FFFFFF"/>
          </a:solidFill>
          <a:ln w="8890">
            <a:solidFill>
              <a:srgbClr val="E4EFED"/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11" name="Shape 9"/>
          <p:cNvSpPr/>
          <p:nvPr/>
        </p:nvSpPr>
        <p:spPr>
          <a:xfrm>
            <a:off x="3822192" y="1581912"/>
            <a:ext cx="3456432" cy="8193024"/>
          </a:xfrm>
          <a:prstGeom prst="roundRect">
            <a:avLst>
              <a:gd name="adj" fmla="val 1323"/>
            </a:avLst>
          </a:prstGeom>
          <a:solidFill>
            <a:srgbClr val="F1F8F7"/>
          </a:solidFill>
          <a:ln w="8890">
            <a:solidFill>
              <a:srgbClr val="E4EFED"/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12" name="Shape 10"/>
          <p:cNvSpPr/>
          <p:nvPr/>
        </p:nvSpPr>
        <p:spPr>
          <a:xfrm>
            <a:off x="6080760" y="8183880"/>
            <a:ext cx="1783080" cy="1783080"/>
          </a:xfrm>
          <a:prstGeom prst="ellipse">
            <a:avLst/>
          </a:prstGeom>
          <a:solidFill>
            <a:srgbClr val="FFFFFF">
              <a:alpha val="0"/>
            </a:srgbClr>
          </a:solidFill>
          <a:ln w="63500">
            <a:solidFill>
              <a:srgbClr val="0ABB98">
                <a:alpha val="2200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6281928" y="836676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3900" b="1" noProof="0" dirty="0">
                <a:solidFill>
                  <a:srgbClr val="DC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pt-BR" sz="3900" noProof="0" dirty="0"/>
          </a:p>
        </p:txBody>
      </p:sp>
      <p:sp>
        <p:nvSpPr>
          <p:cNvPr id="14" name="Text 12"/>
          <p:cNvSpPr txBox="1"/>
          <p:nvPr/>
        </p:nvSpPr>
        <p:spPr>
          <a:xfrm>
            <a:off x="402047" y="1689353"/>
            <a:ext cx="6821713" cy="3847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14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validação técnica da medição deve confirmar que o que está sendo medido corresponde ao serviço efetivamente executado e comprovado.</a:t>
            </a:r>
            <a:endParaRPr lang="pt-BR" sz="1400" b="1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2" name="Agrupar 51">
            <a:extLst>
              <a:ext uri="{FF2B5EF4-FFF2-40B4-BE49-F238E27FC236}">
                <a16:creationId xmlns:a16="http://schemas.microsoft.com/office/drawing/2014/main" id="{3E5B4CC7-824A-5A85-09CA-CC657EB7FC8C}"/>
              </a:ext>
            </a:extLst>
          </p:cNvPr>
          <p:cNvGrpSpPr/>
          <p:nvPr/>
        </p:nvGrpSpPr>
        <p:grpSpPr>
          <a:xfrm>
            <a:off x="657309" y="2418660"/>
            <a:ext cx="1433394" cy="310896"/>
            <a:chOff x="657309" y="2686458"/>
            <a:chExt cx="1433394" cy="310896"/>
          </a:xfrm>
        </p:grpSpPr>
        <p:sp>
          <p:nvSpPr>
            <p:cNvPr id="15" name="Shape 13"/>
            <p:cNvSpPr/>
            <p:nvPr/>
          </p:nvSpPr>
          <p:spPr>
            <a:xfrm>
              <a:off x="657309" y="2686458"/>
              <a:ext cx="1433394" cy="310896"/>
            </a:xfrm>
            <a:prstGeom prst="roundRect">
              <a:avLst>
                <a:gd name="adj" fmla="val 10294"/>
              </a:avLst>
            </a:prstGeom>
            <a:solidFill>
              <a:srgbClr val="3CB5E5">
                <a:alpha val="10000"/>
              </a:srgbClr>
            </a:solidFill>
            <a:ln w="10160">
              <a:solidFill>
                <a:srgbClr val="3CB5E5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657309" y="2686458"/>
              <a:ext cx="45720" cy="310896"/>
            </a:xfrm>
            <a:prstGeom prst="rect">
              <a:avLst/>
            </a:prstGeom>
            <a:solidFill>
              <a:srgbClr val="3CB5E5"/>
            </a:solidFill>
            <a:ln w="12700">
              <a:solidFill>
                <a:srgbClr val="3CB5E5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17" name="Text 15"/>
            <p:cNvSpPr txBox="1"/>
            <p:nvPr/>
          </p:nvSpPr>
          <p:spPr>
            <a:xfrm>
              <a:off x="735033" y="2740661"/>
              <a:ext cx="1277946" cy="2024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220" b="1" noProof="0" dirty="0">
                  <a:solidFill>
                    <a:srgbClr val="3CB5E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1. CONTRATO</a:t>
              </a:r>
              <a:endParaRPr lang="pt-BR" sz="1220" noProof="0" dirty="0"/>
            </a:p>
          </p:txBody>
        </p:sp>
      </p:grpSp>
      <p:grpSp>
        <p:nvGrpSpPr>
          <p:cNvPr id="53" name="Agrupar 52">
            <a:extLst>
              <a:ext uri="{FF2B5EF4-FFF2-40B4-BE49-F238E27FC236}">
                <a16:creationId xmlns:a16="http://schemas.microsoft.com/office/drawing/2014/main" id="{1E0C5BB4-259F-8BC3-B0F7-2621D1C48897}"/>
              </a:ext>
            </a:extLst>
          </p:cNvPr>
          <p:cNvGrpSpPr/>
          <p:nvPr/>
        </p:nvGrpSpPr>
        <p:grpSpPr>
          <a:xfrm>
            <a:off x="3057513" y="2418660"/>
            <a:ext cx="1433394" cy="310896"/>
            <a:chOff x="2772220" y="2686458"/>
            <a:chExt cx="1433394" cy="310896"/>
          </a:xfrm>
        </p:grpSpPr>
        <p:sp>
          <p:nvSpPr>
            <p:cNvPr id="18" name="Shape 16"/>
            <p:cNvSpPr/>
            <p:nvPr/>
          </p:nvSpPr>
          <p:spPr>
            <a:xfrm>
              <a:off x="2772220" y="2686458"/>
              <a:ext cx="1433394" cy="310896"/>
            </a:xfrm>
            <a:prstGeom prst="roundRect">
              <a:avLst>
                <a:gd name="adj" fmla="val 10294"/>
              </a:avLst>
            </a:prstGeom>
            <a:solidFill>
              <a:srgbClr val="0ABB98">
                <a:alpha val="10000"/>
              </a:srgbClr>
            </a:solidFill>
            <a:ln w="10160">
              <a:solidFill>
                <a:srgbClr val="0ABB98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2772220" y="2686458"/>
              <a:ext cx="45720" cy="310896"/>
            </a:xfrm>
            <a:prstGeom prst="rect">
              <a:avLst/>
            </a:prstGeom>
            <a:solidFill>
              <a:srgbClr val="0ABB98"/>
            </a:solidFill>
            <a:ln w="12700">
              <a:solidFill>
                <a:srgbClr val="0ABB98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20" name="Text 18"/>
            <p:cNvSpPr txBox="1"/>
            <p:nvPr/>
          </p:nvSpPr>
          <p:spPr>
            <a:xfrm>
              <a:off x="2849944" y="2740661"/>
              <a:ext cx="1277946" cy="2024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220" b="1" noProof="0" dirty="0">
                  <a:solidFill>
                    <a:srgbClr val="0ABB9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2. EXECUTADO</a:t>
              </a:r>
              <a:endParaRPr lang="pt-BR" sz="1220" noProof="0" dirty="0"/>
            </a:p>
          </p:txBody>
        </p:sp>
      </p:grp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7CFEFAC3-D40D-FE3F-370D-B1A6BD19F1DE}"/>
              </a:ext>
            </a:extLst>
          </p:cNvPr>
          <p:cNvGrpSpPr/>
          <p:nvPr/>
        </p:nvGrpSpPr>
        <p:grpSpPr>
          <a:xfrm>
            <a:off x="5457717" y="2418660"/>
            <a:ext cx="1433394" cy="310896"/>
            <a:chOff x="4887130" y="2686458"/>
            <a:chExt cx="1433394" cy="310896"/>
          </a:xfrm>
        </p:grpSpPr>
        <p:sp>
          <p:nvSpPr>
            <p:cNvPr id="21" name="Shape 19"/>
            <p:cNvSpPr/>
            <p:nvPr/>
          </p:nvSpPr>
          <p:spPr>
            <a:xfrm>
              <a:off x="4887130" y="2686458"/>
              <a:ext cx="1433394" cy="310896"/>
            </a:xfrm>
            <a:prstGeom prst="roundRect">
              <a:avLst>
                <a:gd name="adj" fmla="val 10294"/>
              </a:avLst>
            </a:prstGeom>
            <a:solidFill>
              <a:srgbClr val="E37222">
                <a:alpha val="10000"/>
              </a:srgbClr>
            </a:solidFill>
            <a:ln w="10160">
              <a:solidFill>
                <a:srgbClr val="E37222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4887130" y="2686458"/>
              <a:ext cx="45720" cy="310896"/>
            </a:xfrm>
            <a:prstGeom prst="rect">
              <a:avLst/>
            </a:prstGeom>
            <a:solidFill>
              <a:srgbClr val="E37222"/>
            </a:solidFill>
            <a:ln w="12700">
              <a:solidFill>
                <a:srgbClr val="E37222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23" name="Text 21"/>
            <p:cNvSpPr txBox="1"/>
            <p:nvPr/>
          </p:nvSpPr>
          <p:spPr>
            <a:xfrm>
              <a:off x="4964854" y="2740661"/>
              <a:ext cx="1277946" cy="2024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220" b="1" noProof="0" dirty="0">
                  <a:solidFill>
                    <a:srgbClr val="E37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3. EVIDÊNCIA</a:t>
              </a:r>
              <a:endParaRPr lang="pt-BR" sz="1220" noProof="0" dirty="0"/>
            </a:p>
          </p:txBody>
        </p:sp>
      </p:grpSp>
      <p:sp>
        <p:nvSpPr>
          <p:cNvPr id="24" name="Text 22"/>
          <p:cNvSpPr txBox="1"/>
          <p:nvPr/>
        </p:nvSpPr>
        <p:spPr>
          <a:xfrm>
            <a:off x="680169" y="2767603"/>
            <a:ext cx="1664746" cy="896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rgbClr val="303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serviço está previsto no contrato, QQP, OS ou documento aplicável?</a:t>
            </a:r>
            <a:endParaRPr lang="pt-BR" sz="1400" noProof="0" dirty="0"/>
          </a:p>
        </p:txBody>
      </p:sp>
      <p:sp>
        <p:nvSpPr>
          <p:cNvPr id="25" name="Text 23"/>
          <p:cNvSpPr txBox="1"/>
          <p:nvPr/>
        </p:nvSpPr>
        <p:spPr>
          <a:xfrm>
            <a:off x="3026664" y="2767603"/>
            <a:ext cx="1691640" cy="1174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rgbClr val="303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quantidade e a qualidade informadas correspondem ao que foi realizado em campo?</a:t>
            </a:r>
            <a:endParaRPr lang="pt-BR" sz="1400" noProof="0" dirty="0"/>
          </a:p>
        </p:txBody>
      </p:sp>
      <p:sp>
        <p:nvSpPr>
          <p:cNvPr id="26" name="Text 24"/>
          <p:cNvSpPr txBox="1"/>
          <p:nvPr/>
        </p:nvSpPr>
        <p:spPr>
          <a:xfrm>
            <a:off x="5440439" y="2767603"/>
            <a:ext cx="1691640" cy="770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rgbClr val="303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comprovação suficiente e rastreável da execução?</a:t>
            </a:r>
            <a:endParaRPr lang="pt-BR" sz="1400" noProof="0" dirty="0"/>
          </a:p>
        </p:txBody>
      </p: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3635E646-C6B3-9589-C740-07B11FC905F0}"/>
              </a:ext>
            </a:extLst>
          </p:cNvPr>
          <p:cNvGrpSpPr/>
          <p:nvPr/>
        </p:nvGrpSpPr>
        <p:grpSpPr>
          <a:xfrm>
            <a:off x="2136291" y="4011751"/>
            <a:ext cx="3090263" cy="347472"/>
            <a:chOff x="2367454" y="4257725"/>
            <a:chExt cx="3090263" cy="347472"/>
          </a:xfrm>
        </p:grpSpPr>
        <p:sp>
          <p:nvSpPr>
            <p:cNvPr id="27" name="Shape 25"/>
            <p:cNvSpPr/>
            <p:nvPr/>
          </p:nvSpPr>
          <p:spPr>
            <a:xfrm>
              <a:off x="2367454" y="4257725"/>
              <a:ext cx="2927764" cy="347472"/>
            </a:xfrm>
            <a:prstGeom prst="roundRect">
              <a:avLst>
                <a:gd name="adj" fmla="val 10526"/>
              </a:avLst>
            </a:prstGeom>
            <a:solidFill>
              <a:srgbClr val="FFF2E8"/>
            </a:solidFill>
            <a:ln w="12700">
              <a:solidFill>
                <a:srgbClr val="E37222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2367775" y="4257725"/>
              <a:ext cx="50292" cy="347472"/>
            </a:xfrm>
            <a:prstGeom prst="rect">
              <a:avLst/>
            </a:prstGeom>
            <a:solidFill>
              <a:srgbClr val="E37222"/>
            </a:solidFill>
            <a:ln w="12700">
              <a:solidFill>
                <a:srgbClr val="E37222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29" name="Text 27"/>
            <p:cNvSpPr txBox="1"/>
            <p:nvPr/>
          </p:nvSpPr>
          <p:spPr>
            <a:xfrm>
              <a:off x="2431535" y="4318534"/>
              <a:ext cx="3026182" cy="2258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400" b="1" noProof="0" dirty="0">
                  <a:solidFill>
                    <a:srgbClr val="E37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OS TRÊS PRECISAM ESTAR ADERENTES</a:t>
              </a:r>
              <a:endParaRPr lang="pt-BR" sz="1400" noProof="0" dirty="0"/>
            </a:p>
          </p:txBody>
        </p:sp>
      </p:grp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B7D604F7-CBCC-1FD1-E6C7-0EB4DB50B477}"/>
              </a:ext>
            </a:extLst>
          </p:cNvPr>
          <p:cNvGrpSpPr/>
          <p:nvPr/>
        </p:nvGrpSpPr>
        <p:grpSpPr>
          <a:xfrm>
            <a:off x="412555" y="4566415"/>
            <a:ext cx="6392185" cy="310896"/>
            <a:chOff x="450318" y="4832864"/>
            <a:chExt cx="6392185" cy="310896"/>
          </a:xfrm>
        </p:grpSpPr>
        <p:sp>
          <p:nvSpPr>
            <p:cNvPr id="30" name="Shape 28"/>
            <p:cNvSpPr/>
            <p:nvPr/>
          </p:nvSpPr>
          <p:spPr>
            <a:xfrm>
              <a:off x="450318" y="4832864"/>
              <a:ext cx="6392185" cy="310896"/>
            </a:xfrm>
            <a:prstGeom prst="roundRect">
              <a:avLst>
                <a:gd name="adj" fmla="val 10294"/>
              </a:avLst>
            </a:prstGeom>
            <a:solidFill>
              <a:srgbClr val="0ABB98">
                <a:alpha val="10000"/>
              </a:srgbClr>
            </a:solidFill>
            <a:ln w="10160">
              <a:solidFill>
                <a:srgbClr val="0ABB98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450318" y="4832864"/>
              <a:ext cx="45720" cy="310896"/>
            </a:xfrm>
            <a:prstGeom prst="rect">
              <a:avLst/>
            </a:prstGeom>
            <a:solidFill>
              <a:srgbClr val="0ABB98"/>
            </a:solidFill>
            <a:ln w="12700">
              <a:solidFill>
                <a:srgbClr val="0ABB98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32" name="Text 30"/>
            <p:cNvSpPr txBox="1"/>
            <p:nvPr/>
          </p:nvSpPr>
          <p:spPr>
            <a:xfrm>
              <a:off x="528042" y="4864868"/>
              <a:ext cx="6236737" cy="222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0ABB9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QUANTITATIVOS</a:t>
              </a:r>
              <a:endParaRPr lang="pt-BR" sz="1600" noProof="0" dirty="0"/>
            </a:p>
          </p:txBody>
        </p:sp>
      </p:grpSp>
      <p:sp>
        <p:nvSpPr>
          <p:cNvPr id="33" name="Text 31"/>
          <p:cNvSpPr txBox="1"/>
          <p:nvPr/>
        </p:nvSpPr>
        <p:spPr>
          <a:xfrm>
            <a:off x="412555" y="4868999"/>
            <a:ext cx="6236737" cy="263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rgbClr val="303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volume informado é compatível com o executado?</a:t>
            </a:r>
            <a:endParaRPr lang="pt-BR" sz="1400" noProof="0" dirty="0"/>
          </a:p>
        </p:txBody>
      </p: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5D5EE83B-AAB8-16B2-90AE-5BDB1E8C914A}"/>
              </a:ext>
            </a:extLst>
          </p:cNvPr>
          <p:cNvGrpSpPr/>
          <p:nvPr/>
        </p:nvGrpSpPr>
        <p:grpSpPr>
          <a:xfrm>
            <a:off x="412555" y="5222569"/>
            <a:ext cx="6392185" cy="310896"/>
            <a:chOff x="450318" y="5622579"/>
            <a:chExt cx="6392185" cy="310896"/>
          </a:xfrm>
        </p:grpSpPr>
        <p:sp>
          <p:nvSpPr>
            <p:cNvPr id="34" name="Shape 32"/>
            <p:cNvSpPr/>
            <p:nvPr/>
          </p:nvSpPr>
          <p:spPr>
            <a:xfrm>
              <a:off x="450318" y="5622579"/>
              <a:ext cx="6392185" cy="310896"/>
            </a:xfrm>
            <a:prstGeom prst="roundRect">
              <a:avLst>
                <a:gd name="adj" fmla="val 10294"/>
              </a:avLst>
            </a:prstGeom>
            <a:solidFill>
              <a:srgbClr val="C0305E">
                <a:alpha val="10000"/>
              </a:srgbClr>
            </a:solidFill>
            <a:ln w="10160">
              <a:solidFill>
                <a:srgbClr val="C0305E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450318" y="5622579"/>
              <a:ext cx="45720" cy="310896"/>
            </a:xfrm>
            <a:prstGeom prst="rect">
              <a:avLst/>
            </a:prstGeom>
            <a:solidFill>
              <a:srgbClr val="C0305E"/>
            </a:solidFill>
            <a:ln w="12700">
              <a:solidFill>
                <a:srgbClr val="C0305E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36" name="Text 34"/>
            <p:cNvSpPr txBox="1"/>
            <p:nvPr/>
          </p:nvSpPr>
          <p:spPr>
            <a:xfrm>
              <a:off x="528042" y="5654583"/>
              <a:ext cx="6236737" cy="222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C030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MEMÓRIA DE CÁLCULO</a:t>
              </a:r>
              <a:endParaRPr lang="pt-BR" sz="1600" noProof="0" dirty="0"/>
            </a:p>
          </p:txBody>
        </p:sp>
      </p:grpSp>
      <p:sp>
        <p:nvSpPr>
          <p:cNvPr id="37" name="Text 35"/>
          <p:cNvSpPr txBox="1"/>
          <p:nvPr/>
        </p:nvSpPr>
        <p:spPr>
          <a:xfrm>
            <a:off x="412555" y="5543981"/>
            <a:ext cx="6236737" cy="263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rgbClr val="303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critérios utilizados estão corretos e compreensíveis?</a:t>
            </a:r>
            <a:endParaRPr lang="pt-BR" sz="1400" noProof="0" dirty="0"/>
          </a:p>
        </p:txBody>
      </p:sp>
      <p:grpSp>
        <p:nvGrpSpPr>
          <p:cNvPr id="60" name="Agrupar 59">
            <a:extLst>
              <a:ext uri="{FF2B5EF4-FFF2-40B4-BE49-F238E27FC236}">
                <a16:creationId xmlns:a16="http://schemas.microsoft.com/office/drawing/2014/main" id="{939E8EE3-8E02-9A42-8676-8FE6BA586798}"/>
              </a:ext>
            </a:extLst>
          </p:cNvPr>
          <p:cNvGrpSpPr/>
          <p:nvPr/>
        </p:nvGrpSpPr>
        <p:grpSpPr>
          <a:xfrm>
            <a:off x="412555" y="5937557"/>
            <a:ext cx="6392185" cy="310896"/>
            <a:chOff x="450318" y="6412295"/>
            <a:chExt cx="6392185" cy="310896"/>
          </a:xfrm>
        </p:grpSpPr>
        <p:sp>
          <p:nvSpPr>
            <p:cNvPr id="38" name="Shape 36"/>
            <p:cNvSpPr/>
            <p:nvPr/>
          </p:nvSpPr>
          <p:spPr>
            <a:xfrm>
              <a:off x="450318" y="6412295"/>
              <a:ext cx="6392185" cy="310896"/>
            </a:xfrm>
            <a:prstGeom prst="roundRect">
              <a:avLst>
                <a:gd name="adj" fmla="val 10294"/>
              </a:avLst>
            </a:prstGeom>
            <a:solidFill>
              <a:srgbClr val="007E7A">
                <a:alpha val="10000"/>
              </a:srgbClr>
            </a:solidFill>
            <a:ln w="10160">
              <a:solidFill>
                <a:srgbClr val="007E7A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450318" y="6412295"/>
              <a:ext cx="45720" cy="310896"/>
            </a:xfrm>
            <a:prstGeom prst="rect">
              <a:avLst/>
            </a:prstGeom>
            <a:solidFill>
              <a:srgbClr val="007E7A"/>
            </a:solidFill>
            <a:ln w="12700">
              <a:solidFill>
                <a:srgbClr val="007E7A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40" name="Text 38"/>
            <p:cNvSpPr txBox="1"/>
            <p:nvPr/>
          </p:nvSpPr>
          <p:spPr>
            <a:xfrm>
              <a:off x="528042" y="6444299"/>
              <a:ext cx="6236737" cy="222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007E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SLA</a:t>
              </a:r>
              <a:endParaRPr lang="pt-BR" sz="1600" noProof="0" dirty="0"/>
            </a:p>
          </p:txBody>
        </p:sp>
      </p:grpSp>
      <p:sp>
        <p:nvSpPr>
          <p:cNvPr id="41" name="Text 39"/>
          <p:cNvSpPr txBox="1"/>
          <p:nvPr/>
        </p:nvSpPr>
        <p:spPr>
          <a:xfrm>
            <a:off x="412555" y="6295597"/>
            <a:ext cx="6236737" cy="263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rgbClr val="303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níveis de serviço foram atingidos e estão suportados por evidências?</a:t>
            </a:r>
            <a:endParaRPr lang="pt-BR" sz="1400" noProof="0" dirty="0"/>
          </a:p>
        </p:txBody>
      </p:sp>
      <p:grpSp>
        <p:nvGrpSpPr>
          <p:cNvPr id="61" name="Agrupar 60">
            <a:extLst>
              <a:ext uri="{FF2B5EF4-FFF2-40B4-BE49-F238E27FC236}">
                <a16:creationId xmlns:a16="http://schemas.microsoft.com/office/drawing/2014/main" id="{28A4E74F-16AE-13CC-7759-93F832425B4A}"/>
              </a:ext>
            </a:extLst>
          </p:cNvPr>
          <p:cNvGrpSpPr/>
          <p:nvPr/>
        </p:nvGrpSpPr>
        <p:grpSpPr>
          <a:xfrm>
            <a:off x="412555" y="6630274"/>
            <a:ext cx="6392185" cy="310896"/>
            <a:chOff x="450318" y="7202011"/>
            <a:chExt cx="6392185" cy="310896"/>
          </a:xfrm>
        </p:grpSpPr>
        <p:sp>
          <p:nvSpPr>
            <p:cNvPr id="42" name="Shape 40"/>
            <p:cNvSpPr/>
            <p:nvPr/>
          </p:nvSpPr>
          <p:spPr>
            <a:xfrm>
              <a:off x="450318" y="7202011"/>
              <a:ext cx="6392185" cy="310896"/>
            </a:xfrm>
            <a:prstGeom prst="roundRect">
              <a:avLst>
                <a:gd name="adj" fmla="val 10294"/>
              </a:avLst>
            </a:prstGeom>
            <a:solidFill>
              <a:srgbClr val="0ABB98">
                <a:alpha val="10000"/>
              </a:srgbClr>
            </a:solidFill>
            <a:ln w="10160">
              <a:solidFill>
                <a:srgbClr val="0ABB98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450318" y="7202011"/>
              <a:ext cx="45720" cy="310896"/>
            </a:xfrm>
            <a:prstGeom prst="rect">
              <a:avLst/>
            </a:prstGeom>
            <a:solidFill>
              <a:srgbClr val="0ABB98"/>
            </a:solidFill>
            <a:ln w="12700">
              <a:solidFill>
                <a:srgbClr val="0ABB98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44" name="Text 42"/>
            <p:cNvSpPr txBox="1"/>
            <p:nvPr/>
          </p:nvSpPr>
          <p:spPr>
            <a:xfrm>
              <a:off x="528042" y="7234015"/>
              <a:ext cx="6236737" cy="222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0ABB9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DIVERGÊNCIAS</a:t>
              </a:r>
              <a:endParaRPr lang="pt-BR" sz="1600" noProof="0" dirty="0"/>
            </a:p>
          </p:txBody>
        </p:sp>
      </p:grpSp>
      <p:sp>
        <p:nvSpPr>
          <p:cNvPr id="45" name="Text 43"/>
          <p:cNvSpPr txBox="1"/>
          <p:nvPr/>
        </p:nvSpPr>
        <p:spPr>
          <a:xfrm>
            <a:off x="412555" y="7011711"/>
            <a:ext cx="6236737" cy="263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rgbClr val="303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Diferenças entre medição, contrato e campo foram tratadas antes da aprovação?</a:t>
            </a:r>
            <a:endParaRPr lang="pt-BR" sz="1400" noProof="0" dirty="0"/>
          </a:p>
        </p:txBody>
      </p:sp>
      <p:sp>
        <p:nvSpPr>
          <p:cNvPr id="46" name="Text 44"/>
          <p:cNvSpPr txBox="1"/>
          <p:nvPr/>
        </p:nvSpPr>
        <p:spPr>
          <a:xfrm>
            <a:off x="432896" y="7459035"/>
            <a:ext cx="6699183" cy="545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1400" b="1" noProof="0" dirty="0">
                <a:solidFill>
                  <a:srgbClr val="026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de responsabilidade do fiscal aferir e aprovar tecnicamente o Boletim de Medição, garantindo a medição de acordo com o executado nos contratos.</a:t>
            </a:r>
            <a:endParaRPr lang="pt-BR" sz="1400" b="1" noProof="0" dirty="0">
              <a:solidFill>
                <a:srgbClr val="026766"/>
              </a:solidFill>
            </a:endParaRPr>
          </a:p>
        </p:txBody>
      </p:sp>
      <p:grpSp>
        <p:nvGrpSpPr>
          <p:cNvPr id="62" name="Agrupar 61">
            <a:extLst>
              <a:ext uri="{FF2B5EF4-FFF2-40B4-BE49-F238E27FC236}">
                <a16:creationId xmlns:a16="http://schemas.microsoft.com/office/drawing/2014/main" id="{BC58512B-42F3-4BD3-9390-1EB35B07D3A3}"/>
              </a:ext>
            </a:extLst>
          </p:cNvPr>
          <p:cNvGrpSpPr/>
          <p:nvPr/>
        </p:nvGrpSpPr>
        <p:grpSpPr>
          <a:xfrm>
            <a:off x="412555" y="8246985"/>
            <a:ext cx="1037844" cy="347472"/>
            <a:chOff x="382604" y="8611285"/>
            <a:chExt cx="1037844" cy="347472"/>
          </a:xfrm>
        </p:grpSpPr>
        <p:sp>
          <p:nvSpPr>
            <p:cNvPr id="47" name="Shape 45"/>
            <p:cNvSpPr/>
            <p:nvPr/>
          </p:nvSpPr>
          <p:spPr>
            <a:xfrm>
              <a:off x="382604" y="8611285"/>
              <a:ext cx="1037844" cy="347472"/>
            </a:xfrm>
            <a:prstGeom prst="roundRect">
              <a:avLst>
                <a:gd name="adj" fmla="val 10526"/>
              </a:avLst>
            </a:prstGeom>
            <a:solidFill>
              <a:srgbClr val="FFF2E8"/>
            </a:solidFill>
            <a:ln w="12700">
              <a:solidFill>
                <a:srgbClr val="E37222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382604" y="8611285"/>
              <a:ext cx="50292" cy="347472"/>
            </a:xfrm>
            <a:prstGeom prst="rect">
              <a:avLst/>
            </a:prstGeom>
            <a:solidFill>
              <a:srgbClr val="E37222"/>
            </a:solidFill>
            <a:ln w="12700">
              <a:solidFill>
                <a:srgbClr val="E37222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49" name="Text 47"/>
            <p:cNvSpPr txBox="1"/>
            <p:nvPr/>
          </p:nvSpPr>
          <p:spPr>
            <a:xfrm>
              <a:off x="474044" y="8661577"/>
              <a:ext cx="854964" cy="222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pt-BR" sz="1160" b="1" noProof="0" dirty="0">
                  <a:solidFill>
                    <a:srgbClr val="E37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ATENÇÃO</a:t>
              </a:r>
              <a:endParaRPr lang="pt-BR" sz="1160" noProof="0" dirty="0"/>
            </a:p>
          </p:txBody>
        </p:sp>
      </p:grpSp>
      <p:sp>
        <p:nvSpPr>
          <p:cNvPr id="50" name="Text 48"/>
          <p:cNvSpPr txBox="1"/>
          <p:nvPr/>
        </p:nvSpPr>
        <p:spPr>
          <a:xfrm>
            <a:off x="512865" y="8621672"/>
            <a:ext cx="6600075" cy="15704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b="1" noProof="0" dirty="0">
                <a:solidFill>
                  <a:srgbClr val="303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valide tecnicamente aquilo que não consegue comprovar. </a:t>
            </a:r>
          </a:p>
          <a:p>
            <a:pPr marL="0" indent="0" algn="l">
              <a:lnSpc>
                <a:spcPct val="100000"/>
              </a:lnSpc>
              <a:buNone/>
            </a:pPr>
            <a:endParaRPr lang="pt-BR" sz="1400" b="1" noProof="0" dirty="0">
              <a:solidFill>
                <a:srgbClr val="3038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pt-BR" sz="1400" noProof="0" dirty="0">
                <a:solidFill>
                  <a:srgbClr val="303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medição dos serviços é um dos momentos de maior exposição a fragilidades, como falta de evidências, serviços ou valores divergentes, não aplicação de SLA, quantidades incompatíveis e medições indevidas.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pt-BR" sz="1400" noProof="0" dirty="0">
              <a:solidFill>
                <a:srgbClr val="3038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pt-BR" sz="1400" b="1" noProof="0" dirty="0">
                <a:solidFill>
                  <a:srgbClr val="303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dúvida, sinalize a divergência antes da aprovação.</a:t>
            </a:r>
            <a:endParaRPr lang="pt-BR" sz="1400" b="1" noProof="0" dirty="0"/>
          </a:p>
        </p:txBody>
      </p:sp>
      <p:sp>
        <p:nvSpPr>
          <p:cNvPr id="51" name="Shape 49"/>
          <p:cNvSpPr/>
          <p:nvPr/>
        </p:nvSpPr>
        <p:spPr>
          <a:xfrm>
            <a:off x="320040" y="10232136"/>
            <a:ext cx="6922008" cy="1"/>
          </a:xfrm>
          <a:prstGeom prst="line">
            <a:avLst/>
          </a:prstGeom>
          <a:noFill/>
          <a:ln w="10160">
            <a:solidFill>
              <a:srgbClr val="D9E5E3"/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54" name="Text 52"/>
          <p:cNvSpPr txBox="1"/>
          <p:nvPr/>
        </p:nvSpPr>
        <p:spPr>
          <a:xfrm>
            <a:off x="6355080" y="1030528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pt-BR" sz="800" b="1" noProof="0" dirty="0">
                <a:solidFill>
                  <a:srgbClr val="667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pt-BR" sz="800" noProof="0" dirty="0"/>
          </a:p>
        </p:txBody>
      </p:sp>
      <p:sp>
        <p:nvSpPr>
          <p:cNvPr id="56" name="Text 26">
            <a:extLst>
              <a:ext uri="{FF2B5EF4-FFF2-40B4-BE49-F238E27FC236}">
                <a16:creationId xmlns:a16="http://schemas.microsoft.com/office/drawing/2014/main" id="{3EA25420-028A-29AB-F330-64D595E395FB}"/>
              </a:ext>
            </a:extLst>
          </p:cNvPr>
          <p:cNvSpPr txBox="1"/>
          <p:nvPr/>
        </p:nvSpPr>
        <p:spPr>
          <a:xfrm>
            <a:off x="1481328" y="10373868"/>
            <a:ext cx="452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9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 de Serviços Operacionais e Segurança Empresarial| Vale S.A.</a:t>
            </a:r>
            <a:endParaRPr lang="pt-BR" sz="9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353312"/>
          </a:xfrm>
          <a:prstGeom prst="rect">
            <a:avLst/>
          </a:prstGeom>
          <a:solidFill>
            <a:srgbClr val="007E7A"/>
          </a:solidFill>
          <a:ln w="12700">
            <a:solidFill>
              <a:srgbClr val="007E7A">
                <a:alpha val="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 rot="900000">
            <a:off x="5961888" y="0"/>
            <a:ext cx="1600200" cy="1298448"/>
          </a:xfrm>
          <a:prstGeom prst="arc">
            <a:avLst/>
          </a:prstGeom>
          <a:solidFill>
            <a:srgbClr val="007E7A">
              <a:alpha val="0"/>
            </a:srgbClr>
          </a:solidFill>
          <a:ln w="228600">
            <a:solidFill>
              <a:srgbClr val="0ABB98">
                <a:alpha val="5500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 rot="1500000">
            <a:off x="6355080" y="0"/>
            <a:ext cx="1207008" cy="1207008"/>
          </a:xfrm>
          <a:prstGeom prst="arc">
            <a:avLst/>
          </a:prstGeom>
          <a:solidFill>
            <a:srgbClr val="007E7A">
              <a:alpha val="0"/>
            </a:srgbClr>
          </a:solidFill>
          <a:ln w="139700">
            <a:solidFill>
              <a:srgbClr val="3CB5E5">
                <a:alpha val="6200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420624" y="22860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100" b="1" noProof="0" dirty="0">
                <a:solidFill>
                  <a:srgbClr val="BC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DESVIOS E NÃO CONFORMIDADES</a:t>
            </a:r>
            <a:endParaRPr lang="pt-BR" sz="1100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420624" y="502920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2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Identifique, registre e escale</a:t>
            </a:r>
            <a:endParaRPr lang="pt-BR" sz="2500" noProof="0" dirty="0"/>
          </a:p>
        </p:txBody>
      </p:sp>
      <p:sp>
        <p:nvSpPr>
          <p:cNvPr id="7" name="Shape 5"/>
          <p:cNvSpPr/>
          <p:nvPr/>
        </p:nvSpPr>
        <p:spPr>
          <a:xfrm>
            <a:off x="6793992" y="475488"/>
            <a:ext cx="438912" cy="438912"/>
          </a:xfrm>
          <a:prstGeom prst="ellipse">
            <a:avLst/>
          </a:prstGeom>
          <a:solidFill>
            <a:srgbClr val="FFFFFF">
              <a:alpha val="18000"/>
            </a:srgbClr>
          </a:solidFill>
          <a:ln w="15240">
            <a:solidFill>
              <a:srgbClr val="FFFFFF">
                <a:alpha val="7500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6793992" y="4754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pt-BR" sz="1200" noProof="0" dirty="0"/>
          </a:p>
        </p:txBody>
      </p:sp>
      <p:sp>
        <p:nvSpPr>
          <p:cNvPr id="9" name="Shape 7"/>
          <p:cNvSpPr/>
          <p:nvPr/>
        </p:nvSpPr>
        <p:spPr>
          <a:xfrm>
            <a:off x="0" y="1353312"/>
            <a:ext cx="7562088" cy="8805672"/>
          </a:xfrm>
          <a:prstGeom prst="rect">
            <a:avLst/>
          </a:prstGeom>
          <a:solidFill>
            <a:srgbClr val="F7FAF9"/>
          </a:solidFill>
          <a:ln w="12700">
            <a:solidFill>
              <a:srgbClr val="F7FAF9">
                <a:alpha val="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274320" y="1581912"/>
            <a:ext cx="3456432" cy="8193024"/>
          </a:xfrm>
          <a:prstGeom prst="roundRect">
            <a:avLst>
              <a:gd name="adj" fmla="val 1323"/>
            </a:avLst>
          </a:prstGeom>
          <a:solidFill>
            <a:srgbClr val="FFFFFF"/>
          </a:solidFill>
          <a:ln w="8890">
            <a:solidFill>
              <a:srgbClr val="E4EFED"/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11" name="Shape 9"/>
          <p:cNvSpPr/>
          <p:nvPr/>
        </p:nvSpPr>
        <p:spPr>
          <a:xfrm>
            <a:off x="3822192" y="1581912"/>
            <a:ext cx="3456432" cy="8193024"/>
          </a:xfrm>
          <a:prstGeom prst="roundRect">
            <a:avLst>
              <a:gd name="adj" fmla="val 1323"/>
            </a:avLst>
          </a:prstGeom>
          <a:solidFill>
            <a:srgbClr val="F1F8F7"/>
          </a:solidFill>
          <a:ln w="8890">
            <a:solidFill>
              <a:srgbClr val="E4EFED"/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12" name="Shape 10"/>
          <p:cNvSpPr/>
          <p:nvPr/>
        </p:nvSpPr>
        <p:spPr>
          <a:xfrm>
            <a:off x="6080760" y="8183880"/>
            <a:ext cx="1783080" cy="1783080"/>
          </a:xfrm>
          <a:prstGeom prst="ellipse">
            <a:avLst/>
          </a:prstGeom>
          <a:solidFill>
            <a:srgbClr val="FFFFFF">
              <a:alpha val="0"/>
            </a:srgbClr>
          </a:solidFill>
          <a:ln w="63500">
            <a:solidFill>
              <a:srgbClr val="0ABB98">
                <a:alpha val="2200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6281928" y="836676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3900" b="1" noProof="0" dirty="0">
                <a:solidFill>
                  <a:srgbClr val="DC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pt-BR" sz="3900" noProof="0" dirty="0"/>
          </a:p>
        </p:txBody>
      </p:sp>
      <p:sp>
        <p:nvSpPr>
          <p:cNvPr id="14" name="Text 12"/>
          <p:cNvSpPr txBox="1"/>
          <p:nvPr/>
        </p:nvSpPr>
        <p:spPr>
          <a:xfrm>
            <a:off x="402047" y="1650252"/>
            <a:ext cx="6389731" cy="374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desvio só pode ser tratado adequadamente quando está claramente identificado, registrado e evidenciado.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402047" y="2292142"/>
            <a:ext cx="899962" cy="3209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2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pt-BR" sz="1200" b="1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EE77B095-2DC4-F02A-ED5D-CEB4F913F66B}"/>
              </a:ext>
            </a:extLst>
          </p:cNvPr>
          <p:cNvGrpSpPr/>
          <p:nvPr/>
        </p:nvGrpSpPr>
        <p:grpSpPr>
          <a:xfrm>
            <a:off x="670259" y="2260138"/>
            <a:ext cx="5402227" cy="362780"/>
            <a:chOff x="670259" y="2356390"/>
            <a:chExt cx="5402227" cy="362780"/>
          </a:xfrm>
        </p:grpSpPr>
        <p:sp>
          <p:nvSpPr>
            <p:cNvPr id="16" name="Shape 14"/>
            <p:cNvSpPr/>
            <p:nvPr/>
          </p:nvSpPr>
          <p:spPr>
            <a:xfrm>
              <a:off x="670259" y="2356390"/>
              <a:ext cx="5402227" cy="362780"/>
            </a:xfrm>
            <a:prstGeom prst="roundRect">
              <a:avLst>
                <a:gd name="adj" fmla="val 8822"/>
              </a:avLst>
            </a:prstGeom>
            <a:solidFill>
              <a:srgbClr val="0ABB98">
                <a:alpha val="10000"/>
              </a:srgbClr>
            </a:solidFill>
            <a:ln w="10160">
              <a:solidFill>
                <a:srgbClr val="0ABB98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670259" y="2356390"/>
              <a:ext cx="45720" cy="362780"/>
            </a:xfrm>
            <a:prstGeom prst="rect">
              <a:avLst/>
            </a:prstGeom>
            <a:solidFill>
              <a:srgbClr val="0ABB98"/>
            </a:solidFill>
            <a:ln w="12700">
              <a:solidFill>
                <a:srgbClr val="0ABB98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18" name="Text 16"/>
            <p:cNvSpPr txBox="1"/>
            <p:nvPr/>
          </p:nvSpPr>
          <p:spPr>
            <a:xfrm>
              <a:off x="747983" y="2388394"/>
              <a:ext cx="5246779" cy="294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0ABB9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IDENTIFIQUE</a:t>
              </a:r>
              <a:endParaRPr lang="pt-BR" sz="1600" noProof="0" dirty="0"/>
            </a:p>
          </p:txBody>
        </p:sp>
      </p:grpSp>
      <p:sp>
        <p:nvSpPr>
          <p:cNvPr id="19" name="Text 17"/>
          <p:cNvSpPr txBox="1"/>
          <p:nvPr/>
        </p:nvSpPr>
        <p:spPr>
          <a:xfrm>
            <a:off x="670259" y="2679952"/>
            <a:ext cx="5246779" cy="401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 executado com o escopo, os requisitos, o SLA e as condições previstas para o serviço.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402047" y="3295148"/>
            <a:ext cx="899962" cy="3209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2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pt-BR" sz="1200" b="1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0" name="Agrupar 49">
            <a:extLst>
              <a:ext uri="{FF2B5EF4-FFF2-40B4-BE49-F238E27FC236}">
                <a16:creationId xmlns:a16="http://schemas.microsoft.com/office/drawing/2014/main" id="{6430B058-3DAB-A205-21CA-21D8284F7EA0}"/>
              </a:ext>
            </a:extLst>
          </p:cNvPr>
          <p:cNvGrpSpPr/>
          <p:nvPr/>
        </p:nvGrpSpPr>
        <p:grpSpPr>
          <a:xfrm>
            <a:off x="670259" y="3263144"/>
            <a:ext cx="5402227" cy="362780"/>
            <a:chOff x="670259" y="3519816"/>
            <a:chExt cx="5402227" cy="362780"/>
          </a:xfrm>
        </p:grpSpPr>
        <p:sp>
          <p:nvSpPr>
            <p:cNvPr id="21" name="Shape 19"/>
            <p:cNvSpPr/>
            <p:nvPr/>
          </p:nvSpPr>
          <p:spPr>
            <a:xfrm>
              <a:off x="670259" y="3519816"/>
              <a:ext cx="5402227" cy="362780"/>
            </a:xfrm>
            <a:prstGeom prst="roundRect">
              <a:avLst>
                <a:gd name="adj" fmla="val 8822"/>
              </a:avLst>
            </a:prstGeom>
            <a:solidFill>
              <a:srgbClr val="EDB111">
                <a:alpha val="10000"/>
              </a:srgbClr>
            </a:solidFill>
            <a:ln w="10160">
              <a:solidFill>
                <a:srgbClr val="EDB111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670259" y="3519816"/>
              <a:ext cx="45720" cy="362780"/>
            </a:xfrm>
            <a:prstGeom prst="rect">
              <a:avLst/>
            </a:prstGeom>
            <a:solidFill>
              <a:srgbClr val="EDB111"/>
            </a:solidFill>
            <a:ln w="12700">
              <a:solidFill>
                <a:srgbClr val="EDB111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23" name="Text 21"/>
            <p:cNvSpPr txBox="1"/>
            <p:nvPr/>
          </p:nvSpPr>
          <p:spPr>
            <a:xfrm>
              <a:off x="747983" y="3551820"/>
              <a:ext cx="5246779" cy="294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EDB1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REGISTRE</a:t>
              </a:r>
              <a:endParaRPr lang="pt-BR" sz="1600" noProof="0" dirty="0"/>
            </a:p>
          </p:txBody>
        </p:sp>
      </p:grpSp>
      <p:sp>
        <p:nvSpPr>
          <p:cNvPr id="24" name="Text 22"/>
          <p:cNvSpPr txBox="1"/>
          <p:nvPr/>
        </p:nvSpPr>
        <p:spPr>
          <a:xfrm>
            <a:off x="670259" y="3685077"/>
            <a:ext cx="5246779" cy="401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Descreva de forma objetiva o que foi identificado, incluindo data, local, serviço e condição encontrada.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402047" y="4298152"/>
            <a:ext cx="899962" cy="3209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2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pt-BR" sz="1200" b="1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2" name="Agrupar 51">
            <a:extLst>
              <a:ext uri="{FF2B5EF4-FFF2-40B4-BE49-F238E27FC236}">
                <a16:creationId xmlns:a16="http://schemas.microsoft.com/office/drawing/2014/main" id="{21B42209-AFD1-EEFF-82A7-22108833F3F2}"/>
              </a:ext>
            </a:extLst>
          </p:cNvPr>
          <p:cNvGrpSpPr/>
          <p:nvPr/>
        </p:nvGrpSpPr>
        <p:grpSpPr>
          <a:xfrm>
            <a:off x="670259" y="4266150"/>
            <a:ext cx="5402227" cy="362780"/>
            <a:chOff x="670259" y="4683242"/>
            <a:chExt cx="5402227" cy="362780"/>
          </a:xfrm>
        </p:grpSpPr>
        <p:sp>
          <p:nvSpPr>
            <p:cNvPr id="26" name="Shape 24"/>
            <p:cNvSpPr/>
            <p:nvPr/>
          </p:nvSpPr>
          <p:spPr>
            <a:xfrm>
              <a:off x="670259" y="4683242"/>
              <a:ext cx="5402227" cy="362780"/>
            </a:xfrm>
            <a:prstGeom prst="roundRect">
              <a:avLst>
                <a:gd name="adj" fmla="val 8822"/>
              </a:avLst>
            </a:prstGeom>
            <a:solidFill>
              <a:srgbClr val="0ABB98">
                <a:alpha val="10000"/>
              </a:srgbClr>
            </a:solidFill>
            <a:ln w="10160">
              <a:solidFill>
                <a:srgbClr val="0ABB98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670259" y="4683242"/>
              <a:ext cx="45720" cy="362780"/>
            </a:xfrm>
            <a:prstGeom prst="rect">
              <a:avLst/>
            </a:prstGeom>
            <a:solidFill>
              <a:srgbClr val="0ABB98"/>
            </a:solidFill>
            <a:ln w="12700">
              <a:solidFill>
                <a:srgbClr val="0ABB98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28" name="Text 26"/>
            <p:cNvSpPr txBox="1"/>
            <p:nvPr/>
          </p:nvSpPr>
          <p:spPr>
            <a:xfrm>
              <a:off x="747983" y="4715246"/>
              <a:ext cx="5246779" cy="294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0ABB9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EVIDENCIE</a:t>
              </a:r>
              <a:endParaRPr lang="pt-BR" sz="1600" noProof="0" dirty="0"/>
            </a:p>
          </p:txBody>
        </p:sp>
      </p:grpSp>
      <p:sp>
        <p:nvSpPr>
          <p:cNvPr id="29" name="Text 27"/>
          <p:cNvSpPr txBox="1"/>
          <p:nvPr/>
        </p:nvSpPr>
        <p:spPr>
          <a:xfrm>
            <a:off x="670259" y="4668992"/>
            <a:ext cx="5246779" cy="401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Inclua fotos, registros de campo, documentos ou outras evidências que sustentem o desvio.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402047" y="5269075"/>
            <a:ext cx="899962" cy="3209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2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pt-BR" sz="1200" b="1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4" name="Agrupar 53">
            <a:extLst>
              <a:ext uri="{FF2B5EF4-FFF2-40B4-BE49-F238E27FC236}">
                <a16:creationId xmlns:a16="http://schemas.microsoft.com/office/drawing/2014/main" id="{29CBF920-C146-586D-0AB1-5170E2452C1F}"/>
              </a:ext>
            </a:extLst>
          </p:cNvPr>
          <p:cNvGrpSpPr/>
          <p:nvPr/>
        </p:nvGrpSpPr>
        <p:grpSpPr>
          <a:xfrm>
            <a:off x="670259" y="5237070"/>
            <a:ext cx="5402227" cy="362780"/>
            <a:chOff x="670259" y="5846666"/>
            <a:chExt cx="5402227" cy="362780"/>
          </a:xfrm>
        </p:grpSpPr>
        <p:sp>
          <p:nvSpPr>
            <p:cNvPr id="31" name="Shape 29"/>
            <p:cNvSpPr/>
            <p:nvPr/>
          </p:nvSpPr>
          <p:spPr>
            <a:xfrm>
              <a:off x="670259" y="5846666"/>
              <a:ext cx="5402227" cy="362780"/>
            </a:xfrm>
            <a:prstGeom prst="roundRect">
              <a:avLst>
                <a:gd name="adj" fmla="val 8822"/>
              </a:avLst>
            </a:prstGeom>
            <a:solidFill>
              <a:srgbClr val="EDB111">
                <a:alpha val="10000"/>
              </a:srgbClr>
            </a:solidFill>
            <a:ln w="10160">
              <a:solidFill>
                <a:srgbClr val="EDB111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670259" y="5846666"/>
              <a:ext cx="45720" cy="362780"/>
            </a:xfrm>
            <a:prstGeom prst="rect">
              <a:avLst/>
            </a:prstGeom>
            <a:solidFill>
              <a:srgbClr val="EDB111"/>
            </a:solidFill>
            <a:ln w="12700">
              <a:solidFill>
                <a:srgbClr val="EDB111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33" name="Text 31"/>
            <p:cNvSpPr txBox="1"/>
            <p:nvPr/>
          </p:nvSpPr>
          <p:spPr>
            <a:xfrm>
              <a:off x="747983" y="5878670"/>
              <a:ext cx="5246779" cy="294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EDB1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COMUNIQUE</a:t>
              </a:r>
              <a:endParaRPr lang="pt-BR" sz="1600" noProof="0" dirty="0"/>
            </a:p>
          </p:txBody>
        </p:sp>
      </p:grpSp>
      <p:sp>
        <p:nvSpPr>
          <p:cNvPr id="34" name="Text 32"/>
          <p:cNvSpPr txBox="1"/>
          <p:nvPr/>
        </p:nvSpPr>
        <p:spPr>
          <a:xfrm>
            <a:off x="670259" y="5624871"/>
            <a:ext cx="5246779" cy="401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ao Gestor de Contratos e acione as interfaces necessárias conforme a natureza e criticidade da ocorrência.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402047" y="6207913"/>
            <a:ext cx="899962" cy="3209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2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pt-BR" sz="1200" b="1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958C6116-821B-1F6E-1CF1-97DF1C2D0AA2}"/>
              </a:ext>
            </a:extLst>
          </p:cNvPr>
          <p:cNvGrpSpPr/>
          <p:nvPr/>
        </p:nvGrpSpPr>
        <p:grpSpPr>
          <a:xfrm>
            <a:off x="670259" y="6175909"/>
            <a:ext cx="5402227" cy="362780"/>
            <a:chOff x="670259" y="7010093"/>
            <a:chExt cx="5402227" cy="362780"/>
          </a:xfrm>
        </p:grpSpPr>
        <p:sp>
          <p:nvSpPr>
            <p:cNvPr id="36" name="Shape 34"/>
            <p:cNvSpPr/>
            <p:nvPr/>
          </p:nvSpPr>
          <p:spPr>
            <a:xfrm>
              <a:off x="670259" y="7010093"/>
              <a:ext cx="5402227" cy="362780"/>
            </a:xfrm>
            <a:prstGeom prst="roundRect">
              <a:avLst>
                <a:gd name="adj" fmla="val 8822"/>
              </a:avLst>
            </a:prstGeom>
            <a:solidFill>
              <a:srgbClr val="0ABB98">
                <a:alpha val="10000"/>
              </a:srgbClr>
            </a:solidFill>
            <a:ln w="10160">
              <a:solidFill>
                <a:srgbClr val="0ABB98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670259" y="7010093"/>
              <a:ext cx="45720" cy="362780"/>
            </a:xfrm>
            <a:prstGeom prst="rect">
              <a:avLst/>
            </a:prstGeom>
            <a:solidFill>
              <a:srgbClr val="0ABB98"/>
            </a:solidFill>
            <a:ln w="12700">
              <a:solidFill>
                <a:srgbClr val="0ABB98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38" name="Text 36"/>
            <p:cNvSpPr txBox="1"/>
            <p:nvPr/>
          </p:nvSpPr>
          <p:spPr>
            <a:xfrm>
              <a:off x="747983" y="7042097"/>
              <a:ext cx="5246779" cy="294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0ABB9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ACOMPANHE</a:t>
              </a:r>
              <a:endParaRPr lang="pt-BR" sz="1600" noProof="0" dirty="0"/>
            </a:p>
          </p:txBody>
        </p:sp>
      </p:grpSp>
      <p:sp>
        <p:nvSpPr>
          <p:cNvPr id="39" name="Text 37"/>
          <p:cNvSpPr txBox="1"/>
          <p:nvPr/>
        </p:nvSpPr>
        <p:spPr>
          <a:xfrm>
            <a:off x="670259" y="6612605"/>
            <a:ext cx="5246779" cy="401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 se o desvio foi tratado e registre reincidências ou pendências.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60" name="Agrupar 59">
            <a:extLst>
              <a:ext uri="{FF2B5EF4-FFF2-40B4-BE49-F238E27FC236}">
                <a16:creationId xmlns:a16="http://schemas.microsoft.com/office/drawing/2014/main" id="{2B17A60B-2178-57A3-B98C-74D42AA6E8A3}"/>
              </a:ext>
            </a:extLst>
          </p:cNvPr>
          <p:cNvGrpSpPr/>
          <p:nvPr/>
        </p:nvGrpSpPr>
        <p:grpSpPr>
          <a:xfrm>
            <a:off x="479771" y="8493697"/>
            <a:ext cx="1037844" cy="394784"/>
            <a:chOff x="479771" y="8525781"/>
            <a:chExt cx="1037844" cy="394784"/>
          </a:xfrm>
        </p:grpSpPr>
        <p:sp>
          <p:nvSpPr>
            <p:cNvPr id="40" name="Shape 38"/>
            <p:cNvSpPr/>
            <p:nvPr/>
          </p:nvSpPr>
          <p:spPr>
            <a:xfrm>
              <a:off x="479771" y="8525781"/>
              <a:ext cx="1037844" cy="394784"/>
            </a:xfrm>
            <a:prstGeom prst="roundRect">
              <a:avLst>
                <a:gd name="adj" fmla="val 9265"/>
              </a:avLst>
            </a:prstGeom>
            <a:solidFill>
              <a:srgbClr val="FFF2E8"/>
            </a:solidFill>
            <a:ln w="12700">
              <a:solidFill>
                <a:srgbClr val="E37222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400" noProof="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479771" y="8525781"/>
              <a:ext cx="50292" cy="394784"/>
            </a:xfrm>
            <a:prstGeom prst="rect">
              <a:avLst/>
            </a:prstGeom>
            <a:solidFill>
              <a:srgbClr val="E37222"/>
            </a:solidFill>
            <a:ln w="12700">
              <a:solidFill>
                <a:srgbClr val="E37222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400" noProof="0" dirty="0"/>
            </a:p>
          </p:txBody>
        </p:sp>
        <p:sp>
          <p:nvSpPr>
            <p:cNvPr id="42" name="Text 40"/>
            <p:cNvSpPr txBox="1"/>
            <p:nvPr/>
          </p:nvSpPr>
          <p:spPr>
            <a:xfrm>
              <a:off x="571211" y="8576073"/>
              <a:ext cx="854964" cy="294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400" b="1" noProof="0" dirty="0">
                  <a:solidFill>
                    <a:srgbClr val="E37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ATENÇÃO</a:t>
              </a:r>
              <a:endParaRPr lang="pt-BR" sz="1400" noProof="0" dirty="0"/>
            </a:p>
          </p:txBody>
        </p:sp>
      </p:grpSp>
      <p:sp>
        <p:nvSpPr>
          <p:cNvPr id="46" name="Text 44"/>
          <p:cNvSpPr txBox="1"/>
          <p:nvPr/>
        </p:nvSpPr>
        <p:spPr>
          <a:xfrm>
            <a:off x="351153" y="7791551"/>
            <a:ext cx="6888489" cy="548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à segurança • Impacto operacional relevante • Serviço fora do escopo • Reincidência • Não atendimento de SLA • Potencial de perda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Text 45"/>
          <p:cNvSpPr txBox="1"/>
          <p:nvPr/>
        </p:nvSpPr>
        <p:spPr>
          <a:xfrm>
            <a:off x="491626" y="8919338"/>
            <a:ext cx="6642843" cy="91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14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Fiscal não deve autorizar informalmente alterações de escopo, condições comerciais ou serviços não previstos.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 à Fiscalização registrar a condição encontrada, fornecer os subsídios técnicos e acompanhar a tratativa.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8" name="Shape 46"/>
          <p:cNvSpPr/>
          <p:nvPr/>
        </p:nvSpPr>
        <p:spPr>
          <a:xfrm>
            <a:off x="320040" y="10232136"/>
            <a:ext cx="6922008" cy="1"/>
          </a:xfrm>
          <a:prstGeom prst="line">
            <a:avLst/>
          </a:prstGeom>
          <a:noFill/>
          <a:ln w="10160">
            <a:solidFill>
              <a:srgbClr val="D9E5E3"/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51" name="Text 49"/>
          <p:cNvSpPr txBox="1"/>
          <p:nvPr/>
        </p:nvSpPr>
        <p:spPr>
          <a:xfrm>
            <a:off x="6355080" y="1030528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pt-BR" sz="800" b="1" noProof="0" dirty="0">
                <a:solidFill>
                  <a:srgbClr val="667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pt-BR" sz="800" noProof="0" dirty="0"/>
          </a:p>
        </p:txBody>
      </p:sp>
      <p:sp>
        <p:nvSpPr>
          <p:cNvPr id="53" name="Text 26">
            <a:extLst>
              <a:ext uri="{FF2B5EF4-FFF2-40B4-BE49-F238E27FC236}">
                <a16:creationId xmlns:a16="http://schemas.microsoft.com/office/drawing/2014/main" id="{BDF5C24F-DD24-AC80-4F11-34D72296EEA2}"/>
              </a:ext>
            </a:extLst>
          </p:cNvPr>
          <p:cNvSpPr txBox="1"/>
          <p:nvPr/>
        </p:nvSpPr>
        <p:spPr>
          <a:xfrm>
            <a:off x="1481328" y="10373868"/>
            <a:ext cx="452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9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 de Serviços Operacionais e Segurança Empresarial| Vale S.A.</a:t>
            </a:r>
            <a:endParaRPr lang="pt-BR" sz="9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6" name="Agrupar 55">
            <a:extLst>
              <a:ext uri="{FF2B5EF4-FFF2-40B4-BE49-F238E27FC236}">
                <a16:creationId xmlns:a16="http://schemas.microsoft.com/office/drawing/2014/main" id="{C5F1339D-6C4E-B2DE-5232-55BE6A55DDC8}"/>
              </a:ext>
            </a:extLst>
          </p:cNvPr>
          <p:cNvGrpSpPr/>
          <p:nvPr/>
        </p:nvGrpSpPr>
        <p:grpSpPr>
          <a:xfrm>
            <a:off x="420624" y="7310574"/>
            <a:ext cx="4187278" cy="439335"/>
            <a:chOff x="450318" y="5624278"/>
            <a:chExt cx="4187278" cy="439335"/>
          </a:xfrm>
        </p:grpSpPr>
        <p:sp>
          <p:nvSpPr>
            <p:cNvPr id="57" name="Shape 25">
              <a:extLst>
                <a:ext uri="{FF2B5EF4-FFF2-40B4-BE49-F238E27FC236}">
                  <a16:creationId xmlns:a16="http://schemas.microsoft.com/office/drawing/2014/main" id="{50053BE4-6917-88C0-BF1A-EE9896E15FB8}"/>
                </a:ext>
              </a:extLst>
            </p:cNvPr>
            <p:cNvSpPr/>
            <p:nvPr/>
          </p:nvSpPr>
          <p:spPr>
            <a:xfrm>
              <a:off x="450318" y="5624278"/>
              <a:ext cx="4187278" cy="439335"/>
            </a:xfrm>
            <a:prstGeom prst="roundRect">
              <a:avLst>
                <a:gd name="adj" fmla="val 7285"/>
              </a:avLst>
            </a:prstGeom>
            <a:solidFill>
              <a:srgbClr val="3CB5E5">
                <a:alpha val="10000"/>
              </a:srgbClr>
            </a:solidFill>
            <a:ln w="10160">
              <a:solidFill>
                <a:srgbClr val="3CB5E5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58" name="Shape 26">
              <a:extLst>
                <a:ext uri="{FF2B5EF4-FFF2-40B4-BE49-F238E27FC236}">
                  <a16:creationId xmlns:a16="http://schemas.microsoft.com/office/drawing/2014/main" id="{E0AB032D-932C-D9FE-86B0-CB4228B1459A}"/>
                </a:ext>
              </a:extLst>
            </p:cNvPr>
            <p:cNvSpPr/>
            <p:nvPr/>
          </p:nvSpPr>
          <p:spPr>
            <a:xfrm>
              <a:off x="450318" y="5624278"/>
              <a:ext cx="45720" cy="439335"/>
            </a:xfrm>
            <a:prstGeom prst="rect">
              <a:avLst/>
            </a:prstGeom>
            <a:solidFill>
              <a:srgbClr val="3CB5E5"/>
            </a:solidFill>
            <a:ln w="12700">
              <a:solidFill>
                <a:srgbClr val="3CB5E5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59" name="Text 27">
              <a:extLst>
                <a:ext uri="{FF2B5EF4-FFF2-40B4-BE49-F238E27FC236}">
                  <a16:creationId xmlns:a16="http://schemas.microsoft.com/office/drawing/2014/main" id="{F20230E7-B536-F7AF-C9EE-E0904E3A7E0F}"/>
                </a:ext>
              </a:extLst>
            </p:cNvPr>
            <p:cNvSpPr txBox="1"/>
            <p:nvPr/>
          </p:nvSpPr>
          <p:spPr>
            <a:xfrm>
              <a:off x="528042" y="5656282"/>
              <a:ext cx="4031830" cy="3707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400" b="1" noProof="0" dirty="0">
                  <a:solidFill>
                    <a:srgbClr val="3CB5E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ESCALONE IMEDIATAMENTE QUANDO HOUVER:</a:t>
              </a:r>
              <a:endParaRPr lang="pt-BR" sz="1400" noProof="0" dirty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353312"/>
          </a:xfrm>
          <a:prstGeom prst="rect">
            <a:avLst/>
          </a:prstGeom>
          <a:solidFill>
            <a:srgbClr val="007E7A"/>
          </a:solidFill>
          <a:ln w="12700">
            <a:solidFill>
              <a:srgbClr val="007E7A">
                <a:alpha val="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 rot="900000">
            <a:off x="5961888" y="0"/>
            <a:ext cx="1600200" cy="1298448"/>
          </a:xfrm>
          <a:prstGeom prst="arc">
            <a:avLst/>
          </a:prstGeom>
          <a:solidFill>
            <a:srgbClr val="007E7A">
              <a:alpha val="0"/>
            </a:srgbClr>
          </a:solidFill>
          <a:ln w="228600">
            <a:solidFill>
              <a:srgbClr val="0ABB98">
                <a:alpha val="5500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 rot="1500000">
            <a:off x="6355080" y="0"/>
            <a:ext cx="1207008" cy="1207008"/>
          </a:xfrm>
          <a:prstGeom prst="arc">
            <a:avLst/>
          </a:prstGeom>
          <a:solidFill>
            <a:srgbClr val="007E7A">
              <a:alpha val="0"/>
            </a:srgbClr>
          </a:solidFill>
          <a:ln w="139700">
            <a:solidFill>
              <a:srgbClr val="3CB5E5">
                <a:alpha val="6200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420624" y="22860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100" b="1" noProof="0" dirty="0">
                <a:solidFill>
                  <a:srgbClr val="BC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DIÁRIO DE BORDO DO FISCAL</a:t>
            </a:r>
            <a:endParaRPr lang="pt-BR" sz="1100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420624" y="502920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2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rotina de fiscalização</a:t>
            </a:r>
            <a:endParaRPr lang="pt-BR" sz="2500" noProof="0" dirty="0"/>
          </a:p>
        </p:txBody>
      </p:sp>
      <p:sp>
        <p:nvSpPr>
          <p:cNvPr id="7" name="Shape 5"/>
          <p:cNvSpPr/>
          <p:nvPr/>
        </p:nvSpPr>
        <p:spPr>
          <a:xfrm>
            <a:off x="6793992" y="475488"/>
            <a:ext cx="438912" cy="438912"/>
          </a:xfrm>
          <a:prstGeom prst="ellipse">
            <a:avLst/>
          </a:prstGeom>
          <a:solidFill>
            <a:srgbClr val="FFFFFF">
              <a:alpha val="18000"/>
            </a:srgbClr>
          </a:solidFill>
          <a:ln w="15240">
            <a:solidFill>
              <a:srgbClr val="FFFFFF">
                <a:alpha val="7500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6793992" y="4754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pt-BR" sz="1200" noProof="0" dirty="0"/>
          </a:p>
        </p:txBody>
      </p:sp>
      <p:sp>
        <p:nvSpPr>
          <p:cNvPr id="9" name="Shape 7"/>
          <p:cNvSpPr/>
          <p:nvPr/>
        </p:nvSpPr>
        <p:spPr>
          <a:xfrm>
            <a:off x="0" y="1353312"/>
            <a:ext cx="7562088" cy="8805672"/>
          </a:xfrm>
          <a:prstGeom prst="rect">
            <a:avLst/>
          </a:prstGeom>
          <a:solidFill>
            <a:srgbClr val="F7FAF9"/>
          </a:solidFill>
          <a:ln w="12700">
            <a:solidFill>
              <a:srgbClr val="F7FAF9">
                <a:alpha val="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274320" y="1581912"/>
            <a:ext cx="3456432" cy="8193024"/>
          </a:xfrm>
          <a:prstGeom prst="roundRect">
            <a:avLst>
              <a:gd name="adj" fmla="val 1323"/>
            </a:avLst>
          </a:prstGeom>
          <a:solidFill>
            <a:srgbClr val="FFFFFF"/>
          </a:solidFill>
          <a:ln w="8890">
            <a:solidFill>
              <a:srgbClr val="E4EFED"/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11" name="Shape 9"/>
          <p:cNvSpPr/>
          <p:nvPr/>
        </p:nvSpPr>
        <p:spPr>
          <a:xfrm>
            <a:off x="3822192" y="1581912"/>
            <a:ext cx="3456432" cy="8193024"/>
          </a:xfrm>
          <a:prstGeom prst="roundRect">
            <a:avLst>
              <a:gd name="adj" fmla="val 1323"/>
            </a:avLst>
          </a:prstGeom>
          <a:solidFill>
            <a:srgbClr val="F1F8F7"/>
          </a:solidFill>
          <a:ln w="8890">
            <a:solidFill>
              <a:srgbClr val="E4EFED"/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12" name="Shape 10"/>
          <p:cNvSpPr/>
          <p:nvPr/>
        </p:nvSpPr>
        <p:spPr>
          <a:xfrm>
            <a:off x="6080760" y="8183880"/>
            <a:ext cx="1783080" cy="1783080"/>
          </a:xfrm>
          <a:prstGeom prst="ellipse">
            <a:avLst/>
          </a:prstGeom>
          <a:solidFill>
            <a:srgbClr val="FFFFFF">
              <a:alpha val="0"/>
            </a:srgbClr>
          </a:solidFill>
          <a:ln w="63500">
            <a:solidFill>
              <a:srgbClr val="0ABB98">
                <a:alpha val="2200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6281928" y="836676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3900" b="1" noProof="0" dirty="0">
                <a:solidFill>
                  <a:srgbClr val="DC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pt-BR" sz="3900" noProof="0" dirty="0"/>
          </a:p>
        </p:txBody>
      </p:sp>
      <p:sp>
        <p:nvSpPr>
          <p:cNvPr id="14" name="Text 12"/>
          <p:cNvSpPr txBox="1"/>
          <p:nvPr/>
        </p:nvSpPr>
        <p:spPr>
          <a:xfrm>
            <a:off x="402047" y="1746504"/>
            <a:ext cx="6707157" cy="746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14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Diário de Bordo organiza as rotinas mínimas do Fiscal e deve ser utilizado como referência para planejamento da agenda, frequência das atividades, aplicabilidade e produtos esperados.</a:t>
            </a:r>
            <a:endParaRPr lang="pt-BR" sz="1400" b="1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3" name="Agrupar 52">
            <a:extLst>
              <a:ext uri="{FF2B5EF4-FFF2-40B4-BE49-F238E27FC236}">
                <a16:creationId xmlns:a16="http://schemas.microsoft.com/office/drawing/2014/main" id="{922E8BF6-DD4D-B2EE-ABF6-8DF9A447D739}"/>
              </a:ext>
            </a:extLst>
          </p:cNvPr>
          <p:cNvGrpSpPr/>
          <p:nvPr/>
        </p:nvGrpSpPr>
        <p:grpSpPr>
          <a:xfrm>
            <a:off x="450318" y="2991274"/>
            <a:ext cx="3107324" cy="375890"/>
            <a:chOff x="450318" y="2636430"/>
            <a:chExt cx="3107324" cy="375890"/>
          </a:xfrm>
        </p:grpSpPr>
        <p:sp>
          <p:nvSpPr>
            <p:cNvPr id="15" name="Shape 13"/>
            <p:cNvSpPr/>
            <p:nvPr/>
          </p:nvSpPr>
          <p:spPr>
            <a:xfrm>
              <a:off x="450318" y="2636430"/>
              <a:ext cx="3107324" cy="375890"/>
            </a:xfrm>
            <a:prstGeom prst="roundRect">
              <a:avLst>
                <a:gd name="adj" fmla="val 8514"/>
              </a:avLst>
            </a:prstGeom>
            <a:solidFill>
              <a:srgbClr val="3CB5E5">
                <a:alpha val="10000"/>
              </a:srgbClr>
            </a:solidFill>
            <a:ln w="10160">
              <a:solidFill>
                <a:srgbClr val="3CB5E5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450318" y="2636430"/>
              <a:ext cx="45720" cy="375890"/>
            </a:xfrm>
            <a:prstGeom prst="rect">
              <a:avLst/>
            </a:prstGeom>
            <a:solidFill>
              <a:srgbClr val="3CB5E5"/>
            </a:solidFill>
            <a:ln w="12700">
              <a:solidFill>
                <a:srgbClr val="3CB5E5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17" name="Text 15"/>
            <p:cNvSpPr txBox="1"/>
            <p:nvPr/>
          </p:nvSpPr>
          <p:spPr>
            <a:xfrm>
              <a:off x="528042" y="2668434"/>
              <a:ext cx="2951876" cy="3073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3CB5E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CAMPO</a:t>
              </a:r>
              <a:endParaRPr lang="pt-BR" sz="1600" noProof="0" dirty="0"/>
            </a:p>
          </p:txBody>
        </p:sp>
      </p:grpSp>
      <p:grpSp>
        <p:nvGrpSpPr>
          <p:cNvPr id="56" name="Agrupar 55">
            <a:extLst>
              <a:ext uri="{FF2B5EF4-FFF2-40B4-BE49-F238E27FC236}">
                <a16:creationId xmlns:a16="http://schemas.microsoft.com/office/drawing/2014/main" id="{4EE7A037-6DA9-EDEA-6998-34AFFE7B1066}"/>
              </a:ext>
            </a:extLst>
          </p:cNvPr>
          <p:cNvGrpSpPr/>
          <p:nvPr/>
        </p:nvGrpSpPr>
        <p:grpSpPr>
          <a:xfrm>
            <a:off x="4001880" y="2991274"/>
            <a:ext cx="3107324" cy="375890"/>
            <a:chOff x="3735180" y="2636430"/>
            <a:chExt cx="3107324" cy="375890"/>
          </a:xfrm>
        </p:grpSpPr>
        <p:sp>
          <p:nvSpPr>
            <p:cNvPr id="18" name="Shape 16"/>
            <p:cNvSpPr/>
            <p:nvPr/>
          </p:nvSpPr>
          <p:spPr>
            <a:xfrm>
              <a:off x="3735180" y="2636430"/>
              <a:ext cx="3107324" cy="375890"/>
            </a:xfrm>
            <a:prstGeom prst="roundRect">
              <a:avLst>
                <a:gd name="adj" fmla="val 8514"/>
              </a:avLst>
            </a:prstGeom>
            <a:solidFill>
              <a:srgbClr val="0ABB98">
                <a:alpha val="10000"/>
              </a:srgbClr>
            </a:solidFill>
            <a:ln w="10160">
              <a:solidFill>
                <a:srgbClr val="0ABB98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3735180" y="2636430"/>
              <a:ext cx="45720" cy="375890"/>
            </a:xfrm>
            <a:prstGeom prst="rect">
              <a:avLst/>
            </a:prstGeom>
            <a:solidFill>
              <a:srgbClr val="0ABB98"/>
            </a:solidFill>
            <a:ln w="12700">
              <a:solidFill>
                <a:srgbClr val="0ABB98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20" name="Text 18"/>
            <p:cNvSpPr txBox="1"/>
            <p:nvPr/>
          </p:nvSpPr>
          <p:spPr>
            <a:xfrm>
              <a:off x="3812904" y="2668434"/>
              <a:ext cx="2951876" cy="3073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0ABB9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SEGURANÇA</a:t>
              </a:r>
              <a:endParaRPr lang="pt-BR" sz="1600" noProof="0" dirty="0"/>
            </a:p>
          </p:txBody>
        </p:sp>
      </p:grpSp>
      <p:sp>
        <p:nvSpPr>
          <p:cNvPr id="21" name="Text 19"/>
          <p:cNvSpPr txBox="1"/>
          <p:nvPr/>
        </p:nvSpPr>
        <p:spPr>
          <a:xfrm>
            <a:off x="450318" y="3477658"/>
            <a:ext cx="2951876" cy="524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Gemba | Fiscalização em Campo | Inspeção 5S | Check de Campo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4001880" y="3477659"/>
            <a:ext cx="2951876" cy="586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 Jornada | Reunião mensal de SSMA | Reflexão de Segurança | PAR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4" name="Agrupar 53">
            <a:extLst>
              <a:ext uri="{FF2B5EF4-FFF2-40B4-BE49-F238E27FC236}">
                <a16:creationId xmlns:a16="http://schemas.microsoft.com/office/drawing/2014/main" id="{F0DEF9E9-D1ED-09B7-E155-499196F739A1}"/>
              </a:ext>
            </a:extLst>
          </p:cNvPr>
          <p:cNvGrpSpPr/>
          <p:nvPr/>
        </p:nvGrpSpPr>
        <p:grpSpPr>
          <a:xfrm>
            <a:off x="450318" y="4347982"/>
            <a:ext cx="3107324" cy="375890"/>
            <a:chOff x="450318" y="4661883"/>
            <a:chExt cx="3107324" cy="375890"/>
          </a:xfrm>
        </p:grpSpPr>
        <p:sp>
          <p:nvSpPr>
            <p:cNvPr id="23" name="Shape 21"/>
            <p:cNvSpPr/>
            <p:nvPr/>
          </p:nvSpPr>
          <p:spPr>
            <a:xfrm>
              <a:off x="450318" y="4661883"/>
              <a:ext cx="3107324" cy="375890"/>
            </a:xfrm>
            <a:prstGeom prst="roundRect">
              <a:avLst>
                <a:gd name="adj" fmla="val 8514"/>
              </a:avLst>
            </a:prstGeom>
            <a:solidFill>
              <a:srgbClr val="EDB111">
                <a:alpha val="10000"/>
              </a:srgbClr>
            </a:solidFill>
            <a:ln w="10160">
              <a:solidFill>
                <a:srgbClr val="EDB111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450318" y="4661883"/>
              <a:ext cx="45720" cy="375890"/>
            </a:xfrm>
            <a:prstGeom prst="rect">
              <a:avLst/>
            </a:prstGeom>
            <a:solidFill>
              <a:srgbClr val="EDB111"/>
            </a:solidFill>
            <a:ln w="12700">
              <a:solidFill>
                <a:srgbClr val="EDB111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25" name="Text 23"/>
            <p:cNvSpPr txBox="1"/>
            <p:nvPr/>
          </p:nvSpPr>
          <p:spPr>
            <a:xfrm>
              <a:off x="528042" y="4693887"/>
              <a:ext cx="2951876" cy="3073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EDB1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GESTÃO DA ROTINA</a:t>
              </a:r>
              <a:endParaRPr lang="pt-BR" sz="1600" noProof="0" dirty="0"/>
            </a:p>
          </p:txBody>
        </p:sp>
      </p:grp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9447218D-C794-DDDC-F4C7-D60129D820F9}"/>
              </a:ext>
            </a:extLst>
          </p:cNvPr>
          <p:cNvGrpSpPr/>
          <p:nvPr/>
        </p:nvGrpSpPr>
        <p:grpSpPr>
          <a:xfrm>
            <a:off x="4001880" y="4347982"/>
            <a:ext cx="3107324" cy="375890"/>
            <a:chOff x="3735180" y="4661883"/>
            <a:chExt cx="3107324" cy="375890"/>
          </a:xfrm>
        </p:grpSpPr>
        <p:sp>
          <p:nvSpPr>
            <p:cNvPr id="26" name="Shape 24"/>
            <p:cNvSpPr/>
            <p:nvPr/>
          </p:nvSpPr>
          <p:spPr>
            <a:xfrm>
              <a:off x="3735180" y="4661883"/>
              <a:ext cx="3107324" cy="375890"/>
            </a:xfrm>
            <a:prstGeom prst="roundRect">
              <a:avLst>
                <a:gd name="adj" fmla="val 8514"/>
              </a:avLst>
            </a:prstGeom>
            <a:solidFill>
              <a:srgbClr val="007E7A">
                <a:alpha val="10000"/>
              </a:srgbClr>
            </a:solidFill>
            <a:ln w="10160">
              <a:solidFill>
                <a:srgbClr val="007E7A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3735180" y="4661883"/>
              <a:ext cx="45720" cy="375890"/>
            </a:xfrm>
            <a:prstGeom prst="rect">
              <a:avLst/>
            </a:prstGeom>
            <a:solidFill>
              <a:srgbClr val="007E7A"/>
            </a:solidFill>
            <a:ln w="12700">
              <a:solidFill>
                <a:srgbClr val="007E7A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28" name="Text 26"/>
            <p:cNvSpPr txBox="1"/>
            <p:nvPr/>
          </p:nvSpPr>
          <p:spPr>
            <a:xfrm>
              <a:off x="3812904" y="4693887"/>
              <a:ext cx="2951876" cy="3073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007E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FECHAMENTO E PLANEJAMENTO</a:t>
              </a:r>
              <a:endParaRPr lang="pt-BR" sz="1600" noProof="0" dirty="0"/>
            </a:p>
          </p:txBody>
        </p:sp>
      </p:grpSp>
      <p:sp>
        <p:nvSpPr>
          <p:cNvPr id="29" name="Text 27"/>
          <p:cNvSpPr txBox="1"/>
          <p:nvPr/>
        </p:nvSpPr>
        <p:spPr>
          <a:xfrm>
            <a:off x="450318" y="4824095"/>
            <a:ext cx="2951876" cy="1025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FMDS da Coordenação | RP da Coordenação | Reunião 1:1 | Spot Zone Gestão de Contratos e Núcleo de Performance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4001880" y="4824095"/>
            <a:ext cx="2951876" cy="748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 Fechamento Operacional | Medição | Reunião S+1 PCM, quando aplicável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E2C14B2B-F365-4811-7FDC-C382A6E86B44}"/>
              </a:ext>
            </a:extLst>
          </p:cNvPr>
          <p:cNvGrpSpPr/>
          <p:nvPr/>
        </p:nvGrpSpPr>
        <p:grpSpPr>
          <a:xfrm>
            <a:off x="402047" y="8025501"/>
            <a:ext cx="1742213" cy="407894"/>
            <a:chOff x="3667465" y="6724923"/>
            <a:chExt cx="1742213" cy="407894"/>
          </a:xfrm>
        </p:grpSpPr>
        <p:sp>
          <p:nvSpPr>
            <p:cNvPr id="34" name="Shape 32"/>
            <p:cNvSpPr/>
            <p:nvPr/>
          </p:nvSpPr>
          <p:spPr>
            <a:xfrm>
              <a:off x="3667465" y="6724923"/>
              <a:ext cx="1742213" cy="407894"/>
            </a:xfrm>
            <a:prstGeom prst="roundRect">
              <a:avLst>
                <a:gd name="adj" fmla="val 8967"/>
              </a:avLst>
            </a:prstGeom>
            <a:solidFill>
              <a:srgbClr val="FFF2E8"/>
            </a:solidFill>
            <a:ln w="12700">
              <a:solidFill>
                <a:srgbClr val="E37222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3667466" y="6724923"/>
              <a:ext cx="50292" cy="407894"/>
            </a:xfrm>
            <a:prstGeom prst="rect">
              <a:avLst/>
            </a:prstGeom>
            <a:solidFill>
              <a:srgbClr val="E37222"/>
            </a:solidFill>
            <a:ln w="12700">
              <a:solidFill>
                <a:srgbClr val="E37222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36" name="Text 34"/>
            <p:cNvSpPr txBox="1"/>
            <p:nvPr/>
          </p:nvSpPr>
          <p:spPr>
            <a:xfrm>
              <a:off x="3776905" y="6773679"/>
              <a:ext cx="1632773" cy="296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400" b="1" noProof="0" dirty="0">
                  <a:solidFill>
                    <a:srgbClr val="E37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MATERIAL DE APOIO</a:t>
              </a:r>
              <a:endParaRPr lang="pt-BR" sz="1400" noProof="0" dirty="0"/>
            </a:p>
          </p:txBody>
        </p:sp>
      </p:grpSp>
      <p:sp>
        <p:nvSpPr>
          <p:cNvPr id="38" name="Text 36"/>
          <p:cNvSpPr txBox="1"/>
          <p:nvPr/>
        </p:nvSpPr>
        <p:spPr>
          <a:xfrm>
            <a:off x="513315" y="6122472"/>
            <a:ext cx="6571100" cy="545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14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rotinas devem ser realizadas conforme a frequência e a aplicabilidade definidas no Diário de Bordo.</a:t>
            </a:r>
            <a:endParaRPr lang="pt-BR" sz="1400" b="1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" name="Text 37"/>
          <p:cNvSpPr txBox="1"/>
          <p:nvPr/>
        </p:nvSpPr>
        <p:spPr>
          <a:xfrm>
            <a:off x="402048" y="9291930"/>
            <a:ext cx="5286965" cy="483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pt-BR" sz="1200" i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 o arquivo anexo para verificar a agenda de referência, objetivo, aplicabilidade e produto esperado de cada rotina.</a:t>
            </a:r>
            <a:endParaRPr lang="pt-BR" sz="1200" i="1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60" name="Agrupar 59">
            <a:extLst>
              <a:ext uri="{FF2B5EF4-FFF2-40B4-BE49-F238E27FC236}">
                <a16:creationId xmlns:a16="http://schemas.microsoft.com/office/drawing/2014/main" id="{9C883630-C900-1D62-49EB-86469B1F7646}"/>
              </a:ext>
            </a:extLst>
          </p:cNvPr>
          <p:cNvGrpSpPr/>
          <p:nvPr/>
        </p:nvGrpSpPr>
        <p:grpSpPr>
          <a:xfrm>
            <a:off x="513315" y="6896056"/>
            <a:ext cx="1010412" cy="347953"/>
            <a:chOff x="513315" y="9271535"/>
            <a:chExt cx="1010412" cy="347953"/>
          </a:xfrm>
        </p:grpSpPr>
        <p:sp>
          <p:nvSpPr>
            <p:cNvPr id="40" name="Shape 38"/>
            <p:cNvSpPr/>
            <p:nvPr/>
          </p:nvSpPr>
          <p:spPr>
            <a:xfrm>
              <a:off x="513315" y="9271535"/>
              <a:ext cx="1010412" cy="347953"/>
            </a:xfrm>
            <a:prstGeom prst="roundRect">
              <a:avLst>
                <a:gd name="adj" fmla="val 9198"/>
              </a:avLst>
            </a:prstGeom>
            <a:solidFill>
              <a:srgbClr val="0ABB98">
                <a:alpha val="10000"/>
              </a:srgbClr>
            </a:solidFill>
            <a:ln w="10160">
              <a:solidFill>
                <a:srgbClr val="0ABB98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513315" y="9271535"/>
              <a:ext cx="45720" cy="347953"/>
            </a:xfrm>
            <a:prstGeom prst="rect">
              <a:avLst/>
            </a:prstGeom>
            <a:solidFill>
              <a:srgbClr val="0ABB98"/>
            </a:solidFill>
            <a:ln w="12700">
              <a:solidFill>
                <a:srgbClr val="0ABB98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42" name="Text 40"/>
            <p:cNvSpPr txBox="1"/>
            <p:nvPr/>
          </p:nvSpPr>
          <p:spPr>
            <a:xfrm>
              <a:off x="591039" y="9303539"/>
              <a:ext cx="854964" cy="2793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0ABB9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Planejar</a:t>
              </a:r>
              <a:endParaRPr lang="pt-BR" sz="1600" noProof="0" dirty="0"/>
            </a:p>
          </p:txBody>
        </p:sp>
      </p:grpSp>
      <p:grpSp>
        <p:nvGrpSpPr>
          <p:cNvPr id="61" name="Agrupar 60">
            <a:extLst>
              <a:ext uri="{FF2B5EF4-FFF2-40B4-BE49-F238E27FC236}">
                <a16:creationId xmlns:a16="http://schemas.microsoft.com/office/drawing/2014/main" id="{9720E505-D013-B8E3-DFF8-4812C249965F}"/>
              </a:ext>
            </a:extLst>
          </p:cNvPr>
          <p:cNvGrpSpPr/>
          <p:nvPr/>
        </p:nvGrpSpPr>
        <p:grpSpPr>
          <a:xfrm>
            <a:off x="2284649" y="6896056"/>
            <a:ext cx="1010412" cy="347953"/>
            <a:chOff x="2016252" y="9271535"/>
            <a:chExt cx="1010412" cy="347953"/>
          </a:xfrm>
        </p:grpSpPr>
        <p:sp>
          <p:nvSpPr>
            <p:cNvPr id="43" name="Shape 41"/>
            <p:cNvSpPr/>
            <p:nvPr/>
          </p:nvSpPr>
          <p:spPr>
            <a:xfrm>
              <a:off x="2016252" y="9271535"/>
              <a:ext cx="1010412" cy="347953"/>
            </a:xfrm>
            <a:prstGeom prst="roundRect">
              <a:avLst>
                <a:gd name="adj" fmla="val 9198"/>
              </a:avLst>
            </a:prstGeom>
            <a:solidFill>
              <a:srgbClr val="E37222">
                <a:alpha val="10000"/>
              </a:srgbClr>
            </a:solidFill>
            <a:ln w="10160">
              <a:solidFill>
                <a:srgbClr val="E37222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2016252" y="9271535"/>
              <a:ext cx="45720" cy="347953"/>
            </a:xfrm>
            <a:prstGeom prst="rect">
              <a:avLst/>
            </a:prstGeom>
            <a:solidFill>
              <a:srgbClr val="E37222"/>
            </a:solidFill>
            <a:ln w="12700">
              <a:solidFill>
                <a:srgbClr val="E37222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45" name="Text 43"/>
            <p:cNvSpPr txBox="1"/>
            <p:nvPr/>
          </p:nvSpPr>
          <p:spPr>
            <a:xfrm>
              <a:off x="2093976" y="9303539"/>
              <a:ext cx="854964" cy="2793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E37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Executar</a:t>
              </a:r>
              <a:endParaRPr lang="pt-BR" sz="1600" noProof="0" dirty="0"/>
            </a:p>
          </p:txBody>
        </p:sp>
      </p:grpSp>
      <p:grpSp>
        <p:nvGrpSpPr>
          <p:cNvPr id="62" name="Agrupar 61">
            <a:extLst>
              <a:ext uri="{FF2B5EF4-FFF2-40B4-BE49-F238E27FC236}">
                <a16:creationId xmlns:a16="http://schemas.microsoft.com/office/drawing/2014/main" id="{C92BB6EE-8370-AC9D-21D6-C9BEBD9C06EE}"/>
              </a:ext>
            </a:extLst>
          </p:cNvPr>
          <p:cNvGrpSpPr/>
          <p:nvPr/>
        </p:nvGrpSpPr>
        <p:grpSpPr>
          <a:xfrm>
            <a:off x="4055983" y="6896056"/>
            <a:ext cx="1010412" cy="347953"/>
            <a:chOff x="3519189" y="9271535"/>
            <a:chExt cx="1010412" cy="347953"/>
          </a:xfrm>
        </p:grpSpPr>
        <p:sp>
          <p:nvSpPr>
            <p:cNvPr id="46" name="Shape 44"/>
            <p:cNvSpPr/>
            <p:nvPr/>
          </p:nvSpPr>
          <p:spPr>
            <a:xfrm>
              <a:off x="3519189" y="9271535"/>
              <a:ext cx="1010412" cy="347953"/>
            </a:xfrm>
            <a:prstGeom prst="roundRect">
              <a:avLst>
                <a:gd name="adj" fmla="val 9198"/>
              </a:avLst>
            </a:prstGeom>
            <a:solidFill>
              <a:srgbClr val="C0305E">
                <a:alpha val="10000"/>
              </a:srgbClr>
            </a:solidFill>
            <a:ln w="10160">
              <a:solidFill>
                <a:srgbClr val="C0305E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3519189" y="9271535"/>
              <a:ext cx="45720" cy="347953"/>
            </a:xfrm>
            <a:prstGeom prst="rect">
              <a:avLst/>
            </a:prstGeom>
            <a:solidFill>
              <a:srgbClr val="C0305E"/>
            </a:solidFill>
            <a:ln w="12700">
              <a:solidFill>
                <a:srgbClr val="C0305E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48" name="Text 46"/>
            <p:cNvSpPr txBox="1"/>
            <p:nvPr/>
          </p:nvSpPr>
          <p:spPr>
            <a:xfrm>
              <a:off x="3596913" y="9303539"/>
              <a:ext cx="854964" cy="2793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C030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Registrar</a:t>
              </a:r>
              <a:endParaRPr lang="pt-BR" sz="1600" noProof="0" dirty="0"/>
            </a:p>
          </p:txBody>
        </p:sp>
      </p:grpSp>
      <p:grpSp>
        <p:nvGrpSpPr>
          <p:cNvPr id="64" name="Agrupar 63">
            <a:extLst>
              <a:ext uri="{FF2B5EF4-FFF2-40B4-BE49-F238E27FC236}">
                <a16:creationId xmlns:a16="http://schemas.microsoft.com/office/drawing/2014/main" id="{5611D24E-E2FA-B8CA-2645-2572B730C7B0}"/>
              </a:ext>
            </a:extLst>
          </p:cNvPr>
          <p:cNvGrpSpPr/>
          <p:nvPr/>
        </p:nvGrpSpPr>
        <p:grpSpPr>
          <a:xfrm>
            <a:off x="5827316" y="6896056"/>
            <a:ext cx="1257099" cy="347953"/>
            <a:chOff x="5975804" y="9251095"/>
            <a:chExt cx="1257099" cy="347953"/>
          </a:xfrm>
        </p:grpSpPr>
        <p:sp>
          <p:nvSpPr>
            <p:cNvPr id="49" name="Shape 47"/>
            <p:cNvSpPr/>
            <p:nvPr/>
          </p:nvSpPr>
          <p:spPr>
            <a:xfrm>
              <a:off x="5975804" y="9251095"/>
              <a:ext cx="1257099" cy="347953"/>
            </a:xfrm>
            <a:prstGeom prst="roundRect">
              <a:avLst>
                <a:gd name="adj" fmla="val 9198"/>
              </a:avLst>
            </a:prstGeom>
            <a:solidFill>
              <a:srgbClr val="EDB111">
                <a:alpha val="10000"/>
              </a:srgbClr>
            </a:solidFill>
            <a:ln w="10160">
              <a:solidFill>
                <a:srgbClr val="EDB111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50" name="Shape 48"/>
            <p:cNvSpPr/>
            <p:nvPr/>
          </p:nvSpPr>
          <p:spPr>
            <a:xfrm>
              <a:off x="5975805" y="9251095"/>
              <a:ext cx="45720" cy="347953"/>
            </a:xfrm>
            <a:prstGeom prst="rect">
              <a:avLst/>
            </a:prstGeom>
            <a:solidFill>
              <a:srgbClr val="EDB111"/>
            </a:solidFill>
            <a:ln w="12700">
              <a:solidFill>
                <a:srgbClr val="EDB111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sz="1600" noProof="0" dirty="0"/>
            </a:p>
          </p:txBody>
        </p:sp>
        <p:sp>
          <p:nvSpPr>
            <p:cNvPr id="51" name="Text 49"/>
            <p:cNvSpPr txBox="1"/>
            <p:nvPr/>
          </p:nvSpPr>
          <p:spPr>
            <a:xfrm>
              <a:off x="6053528" y="9283099"/>
              <a:ext cx="1149014" cy="2083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EDB1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Acompanhar</a:t>
              </a:r>
              <a:endParaRPr lang="pt-BR" sz="1600" noProof="0" dirty="0"/>
            </a:p>
          </p:txBody>
        </p:sp>
      </p:grpSp>
      <p:sp>
        <p:nvSpPr>
          <p:cNvPr id="52" name="Shape 50"/>
          <p:cNvSpPr/>
          <p:nvPr/>
        </p:nvSpPr>
        <p:spPr>
          <a:xfrm>
            <a:off x="320040" y="10232136"/>
            <a:ext cx="6922008" cy="1"/>
          </a:xfrm>
          <a:prstGeom prst="line">
            <a:avLst/>
          </a:prstGeom>
          <a:noFill/>
          <a:ln w="10160">
            <a:solidFill>
              <a:srgbClr val="D9E5E3"/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55" name="Text 53"/>
          <p:cNvSpPr txBox="1"/>
          <p:nvPr/>
        </p:nvSpPr>
        <p:spPr>
          <a:xfrm>
            <a:off x="6355080" y="1030528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pt-BR" sz="800" b="1" noProof="0" dirty="0">
                <a:solidFill>
                  <a:srgbClr val="667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pt-BR" sz="800" noProof="0" dirty="0"/>
          </a:p>
        </p:txBody>
      </p:sp>
      <p:sp>
        <p:nvSpPr>
          <p:cNvPr id="57" name="Text 26">
            <a:extLst>
              <a:ext uri="{FF2B5EF4-FFF2-40B4-BE49-F238E27FC236}">
                <a16:creationId xmlns:a16="http://schemas.microsoft.com/office/drawing/2014/main" id="{FAB68B98-CB86-44EB-4F43-5DFFBDDCF350}"/>
              </a:ext>
            </a:extLst>
          </p:cNvPr>
          <p:cNvSpPr txBox="1"/>
          <p:nvPr/>
        </p:nvSpPr>
        <p:spPr>
          <a:xfrm>
            <a:off x="1481328" y="10373868"/>
            <a:ext cx="452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9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 de Serviços Operacionais e Segurança Empresarial| Vale S.A.</a:t>
            </a:r>
            <a:endParaRPr lang="pt-BR" sz="9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353312"/>
          </a:xfrm>
          <a:prstGeom prst="rect">
            <a:avLst/>
          </a:prstGeom>
          <a:solidFill>
            <a:srgbClr val="007E7A"/>
          </a:solidFill>
          <a:ln w="12700">
            <a:solidFill>
              <a:srgbClr val="007E7A">
                <a:alpha val="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 rot="900000">
            <a:off x="5961888" y="0"/>
            <a:ext cx="1600200" cy="1298448"/>
          </a:xfrm>
          <a:prstGeom prst="arc">
            <a:avLst/>
          </a:prstGeom>
          <a:solidFill>
            <a:srgbClr val="007E7A">
              <a:alpha val="0"/>
            </a:srgbClr>
          </a:solidFill>
          <a:ln w="228600">
            <a:solidFill>
              <a:srgbClr val="0ABB98">
                <a:alpha val="5500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 rot="1500000">
            <a:off x="6355080" y="0"/>
            <a:ext cx="1207008" cy="1207008"/>
          </a:xfrm>
          <a:prstGeom prst="arc">
            <a:avLst/>
          </a:prstGeom>
          <a:solidFill>
            <a:srgbClr val="007E7A">
              <a:alpha val="0"/>
            </a:srgbClr>
          </a:solidFill>
          <a:ln w="139700">
            <a:solidFill>
              <a:srgbClr val="3CB5E5">
                <a:alpha val="6200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420624" y="22860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100" b="1" noProof="0" dirty="0">
                <a:solidFill>
                  <a:srgbClr val="BC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DESMOBILIZAÇÃO E ENCERRAMENTO</a:t>
            </a:r>
            <a:endParaRPr lang="pt-BR" sz="1100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420624" y="502920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2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Fechar sem pendências</a:t>
            </a:r>
            <a:endParaRPr lang="pt-BR" sz="2500" noProof="0" dirty="0"/>
          </a:p>
        </p:txBody>
      </p:sp>
      <p:sp>
        <p:nvSpPr>
          <p:cNvPr id="7" name="Shape 5"/>
          <p:cNvSpPr/>
          <p:nvPr/>
        </p:nvSpPr>
        <p:spPr>
          <a:xfrm>
            <a:off x="6793992" y="475488"/>
            <a:ext cx="438912" cy="438912"/>
          </a:xfrm>
          <a:prstGeom prst="ellipse">
            <a:avLst/>
          </a:prstGeom>
          <a:solidFill>
            <a:srgbClr val="FFFFFF">
              <a:alpha val="18000"/>
            </a:srgbClr>
          </a:solidFill>
          <a:ln w="15240">
            <a:solidFill>
              <a:srgbClr val="FFFFFF">
                <a:alpha val="7500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6793992" y="4754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pt-BR" sz="1200" noProof="0" dirty="0"/>
          </a:p>
        </p:txBody>
      </p:sp>
      <p:sp>
        <p:nvSpPr>
          <p:cNvPr id="9" name="Shape 7"/>
          <p:cNvSpPr/>
          <p:nvPr/>
        </p:nvSpPr>
        <p:spPr>
          <a:xfrm>
            <a:off x="0" y="1353312"/>
            <a:ext cx="7562088" cy="8805672"/>
          </a:xfrm>
          <a:prstGeom prst="rect">
            <a:avLst/>
          </a:prstGeom>
          <a:solidFill>
            <a:srgbClr val="F7FAF9"/>
          </a:solidFill>
          <a:ln w="12700">
            <a:solidFill>
              <a:srgbClr val="F7FAF9">
                <a:alpha val="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274320" y="1581912"/>
            <a:ext cx="3456432" cy="8193024"/>
          </a:xfrm>
          <a:prstGeom prst="roundRect">
            <a:avLst>
              <a:gd name="adj" fmla="val 1323"/>
            </a:avLst>
          </a:prstGeom>
          <a:solidFill>
            <a:srgbClr val="FFFFFF"/>
          </a:solidFill>
          <a:ln w="8890">
            <a:solidFill>
              <a:srgbClr val="E4EFED"/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11" name="Shape 9"/>
          <p:cNvSpPr/>
          <p:nvPr/>
        </p:nvSpPr>
        <p:spPr>
          <a:xfrm>
            <a:off x="3822192" y="1581912"/>
            <a:ext cx="3456432" cy="8193024"/>
          </a:xfrm>
          <a:prstGeom prst="roundRect">
            <a:avLst>
              <a:gd name="adj" fmla="val 1323"/>
            </a:avLst>
          </a:prstGeom>
          <a:solidFill>
            <a:srgbClr val="F1F8F7"/>
          </a:solidFill>
          <a:ln w="8890">
            <a:solidFill>
              <a:srgbClr val="E4EFED"/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12" name="Shape 10"/>
          <p:cNvSpPr/>
          <p:nvPr/>
        </p:nvSpPr>
        <p:spPr>
          <a:xfrm>
            <a:off x="6080760" y="8183880"/>
            <a:ext cx="1783080" cy="1783080"/>
          </a:xfrm>
          <a:prstGeom prst="ellipse">
            <a:avLst/>
          </a:prstGeom>
          <a:solidFill>
            <a:srgbClr val="FFFFFF">
              <a:alpha val="0"/>
            </a:srgbClr>
          </a:solidFill>
          <a:ln w="63500">
            <a:solidFill>
              <a:srgbClr val="0ABB98">
                <a:alpha val="2200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6281928" y="836676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3900" b="1" noProof="0" dirty="0">
                <a:solidFill>
                  <a:srgbClr val="DC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pt-BR" sz="3900" noProof="0" dirty="0"/>
          </a:p>
        </p:txBody>
      </p:sp>
      <p:sp>
        <p:nvSpPr>
          <p:cNvPr id="14" name="Text 12"/>
          <p:cNvSpPr txBox="1"/>
          <p:nvPr/>
        </p:nvSpPr>
        <p:spPr>
          <a:xfrm>
            <a:off x="377983" y="1662280"/>
            <a:ext cx="6821713" cy="6179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1400" b="1" noProof="0" dirty="0">
                <a:solidFill>
                  <a:srgbClr val="303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desmobilização deve ser acompanhada em campo para garantir que o encerramento da execução ocorra de forma organizada e sem pendências operacionais.</a:t>
            </a:r>
            <a:endParaRPr lang="pt-BR" sz="1400" b="1" noProof="0" dirty="0"/>
          </a:p>
        </p:txBody>
      </p: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A2139735-9C01-D37D-A8BC-0D917A924886}"/>
              </a:ext>
            </a:extLst>
          </p:cNvPr>
          <p:cNvGrpSpPr/>
          <p:nvPr/>
        </p:nvGrpSpPr>
        <p:grpSpPr>
          <a:xfrm>
            <a:off x="450318" y="2660713"/>
            <a:ext cx="3143322" cy="440134"/>
            <a:chOff x="450318" y="2829161"/>
            <a:chExt cx="3143322" cy="440134"/>
          </a:xfrm>
        </p:grpSpPr>
        <p:sp>
          <p:nvSpPr>
            <p:cNvPr id="15" name="Shape 13"/>
            <p:cNvSpPr/>
            <p:nvPr/>
          </p:nvSpPr>
          <p:spPr>
            <a:xfrm>
              <a:off x="450318" y="2829161"/>
              <a:ext cx="3143322" cy="440134"/>
            </a:xfrm>
            <a:prstGeom prst="roundRect">
              <a:avLst>
                <a:gd name="adj" fmla="val 7271"/>
              </a:avLst>
            </a:prstGeom>
            <a:solidFill>
              <a:srgbClr val="3CB5E5">
                <a:alpha val="10000"/>
              </a:srgbClr>
            </a:solidFill>
            <a:ln w="10160">
              <a:solidFill>
                <a:srgbClr val="3CB5E5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450318" y="2829161"/>
              <a:ext cx="45720" cy="440134"/>
            </a:xfrm>
            <a:prstGeom prst="rect">
              <a:avLst/>
            </a:prstGeom>
            <a:solidFill>
              <a:srgbClr val="3CB5E5"/>
            </a:solidFill>
            <a:ln w="12700">
              <a:solidFill>
                <a:srgbClr val="3CB5E5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17" name="Text 15"/>
            <p:cNvSpPr txBox="1"/>
            <p:nvPr/>
          </p:nvSpPr>
          <p:spPr>
            <a:xfrm>
              <a:off x="528042" y="2861165"/>
              <a:ext cx="2987874" cy="3715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3CB5E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CANTEIROS E ÁREAS</a:t>
              </a:r>
              <a:endParaRPr lang="pt-BR" sz="1600" noProof="0" dirty="0"/>
            </a:p>
          </p:txBody>
        </p:sp>
      </p:grpSp>
      <p:grpSp>
        <p:nvGrpSpPr>
          <p:cNvPr id="47" name="Agrupar 46">
            <a:extLst>
              <a:ext uri="{FF2B5EF4-FFF2-40B4-BE49-F238E27FC236}">
                <a16:creationId xmlns:a16="http://schemas.microsoft.com/office/drawing/2014/main" id="{D2273C6E-C26A-AC40-BA69-E2A71111BABA}"/>
              </a:ext>
            </a:extLst>
          </p:cNvPr>
          <p:cNvGrpSpPr/>
          <p:nvPr/>
        </p:nvGrpSpPr>
        <p:grpSpPr>
          <a:xfrm>
            <a:off x="3903721" y="2660713"/>
            <a:ext cx="3143322" cy="440134"/>
            <a:chOff x="3699181" y="2829161"/>
            <a:chExt cx="3143322" cy="440134"/>
          </a:xfrm>
        </p:grpSpPr>
        <p:sp>
          <p:nvSpPr>
            <p:cNvPr id="18" name="Shape 16"/>
            <p:cNvSpPr/>
            <p:nvPr/>
          </p:nvSpPr>
          <p:spPr>
            <a:xfrm>
              <a:off x="3699181" y="2829161"/>
              <a:ext cx="3143322" cy="440134"/>
            </a:xfrm>
            <a:prstGeom prst="roundRect">
              <a:avLst>
                <a:gd name="adj" fmla="val 7271"/>
              </a:avLst>
            </a:prstGeom>
            <a:solidFill>
              <a:srgbClr val="0ABB98">
                <a:alpha val="10000"/>
              </a:srgbClr>
            </a:solidFill>
            <a:ln w="10160">
              <a:solidFill>
                <a:srgbClr val="0ABB98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3699181" y="2829161"/>
              <a:ext cx="45720" cy="440134"/>
            </a:xfrm>
            <a:prstGeom prst="rect">
              <a:avLst/>
            </a:prstGeom>
            <a:solidFill>
              <a:srgbClr val="0ABB98"/>
            </a:solidFill>
            <a:ln w="12700">
              <a:solidFill>
                <a:srgbClr val="0ABB98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20" name="Text 18"/>
            <p:cNvSpPr txBox="1"/>
            <p:nvPr/>
          </p:nvSpPr>
          <p:spPr>
            <a:xfrm>
              <a:off x="3776905" y="2861165"/>
              <a:ext cx="2987874" cy="3715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0ABB9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EQUIPAMENTOS E ATIVOS</a:t>
              </a:r>
              <a:endParaRPr lang="pt-BR" sz="1600" noProof="0" dirty="0"/>
            </a:p>
          </p:txBody>
        </p:sp>
      </p:grpSp>
      <p:sp>
        <p:nvSpPr>
          <p:cNvPr id="21" name="Text 19"/>
          <p:cNvSpPr txBox="1"/>
          <p:nvPr/>
        </p:nvSpPr>
        <p:spPr>
          <a:xfrm>
            <a:off x="450318" y="3129288"/>
            <a:ext cx="2987874" cy="776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as condições das áreas utilizadas e a retirada das estruturas temporárias, quando aplicável.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3903721" y="3129288"/>
            <a:ext cx="2987874" cy="918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em campo a retirada, devolução ou destinação dos equipamentos e ativos relacionados ao serviço.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EC6FF47B-4026-4786-86EF-D2FE0DB9F9AE}"/>
              </a:ext>
            </a:extLst>
          </p:cNvPr>
          <p:cNvGrpSpPr/>
          <p:nvPr/>
        </p:nvGrpSpPr>
        <p:grpSpPr>
          <a:xfrm>
            <a:off x="450318" y="4535772"/>
            <a:ext cx="3143322" cy="440134"/>
            <a:chOff x="450318" y="4551820"/>
            <a:chExt cx="3143322" cy="440134"/>
          </a:xfrm>
        </p:grpSpPr>
        <p:sp>
          <p:nvSpPr>
            <p:cNvPr id="23" name="Shape 21"/>
            <p:cNvSpPr/>
            <p:nvPr/>
          </p:nvSpPr>
          <p:spPr>
            <a:xfrm>
              <a:off x="450318" y="4551820"/>
              <a:ext cx="3143322" cy="440134"/>
            </a:xfrm>
            <a:prstGeom prst="roundRect">
              <a:avLst>
                <a:gd name="adj" fmla="val 7271"/>
              </a:avLst>
            </a:prstGeom>
            <a:solidFill>
              <a:srgbClr val="EDB111">
                <a:alpha val="10000"/>
              </a:srgbClr>
            </a:solidFill>
            <a:ln w="10160">
              <a:solidFill>
                <a:srgbClr val="EDB111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450318" y="4551820"/>
              <a:ext cx="45720" cy="440134"/>
            </a:xfrm>
            <a:prstGeom prst="rect">
              <a:avLst/>
            </a:prstGeom>
            <a:solidFill>
              <a:srgbClr val="EDB111"/>
            </a:solidFill>
            <a:ln w="12700">
              <a:solidFill>
                <a:srgbClr val="EDB111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25" name="Text 23"/>
            <p:cNvSpPr txBox="1"/>
            <p:nvPr/>
          </p:nvSpPr>
          <p:spPr>
            <a:xfrm>
              <a:off x="528042" y="4583824"/>
              <a:ext cx="2987874" cy="3715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EDB1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PENDÊNCIAS TÉCNICAS</a:t>
              </a:r>
              <a:endParaRPr lang="pt-BR" sz="1600" noProof="0" dirty="0"/>
            </a:p>
          </p:txBody>
        </p:sp>
      </p:grp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83F33BA2-2D07-38AF-6C59-DCB3F7D8F0BA}"/>
              </a:ext>
            </a:extLst>
          </p:cNvPr>
          <p:cNvGrpSpPr/>
          <p:nvPr/>
        </p:nvGrpSpPr>
        <p:grpSpPr>
          <a:xfrm>
            <a:off x="3903721" y="4535772"/>
            <a:ext cx="3143322" cy="440134"/>
            <a:chOff x="3699181" y="4551820"/>
            <a:chExt cx="3143322" cy="440134"/>
          </a:xfrm>
        </p:grpSpPr>
        <p:sp>
          <p:nvSpPr>
            <p:cNvPr id="26" name="Shape 24"/>
            <p:cNvSpPr/>
            <p:nvPr/>
          </p:nvSpPr>
          <p:spPr>
            <a:xfrm>
              <a:off x="3699181" y="4551820"/>
              <a:ext cx="3143322" cy="440134"/>
            </a:xfrm>
            <a:prstGeom prst="roundRect">
              <a:avLst>
                <a:gd name="adj" fmla="val 7271"/>
              </a:avLst>
            </a:prstGeom>
            <a:solidFill>
              <a:srgbClr val="007E7A">
                <a:alpha val="10000"/>
              </a:srgbClr>
            </a:solidFill>
            <a:ln w="10160">
              <a:solidFill>
                <a:srgbClr val="007E7A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3699181" y="4551820"/>
              <a:ext cx="45720" cy="440134"/>
            </a:xfrm>
            <a:prstGeom prst="rect">
              <a:avLst/>
            </a:prstGeom>
            <a:solidFill>
              <a:srgbClr val="007E7A"/>
            </a:solidFill>
            <a:ln w="12700">
              <a:solidFill>
                <a:srgbClr val="007E7A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28" name="Text 26"/>
            <p:cNvSpPr txBox="1"/>
            <p:nvPr/>
          </p:nvSpPr>
          <p:spPr>
            <a:xfrm>
              <a:off x="3776905" y="4583824"/>
              <a:ext cx="2987874" cy="3715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007E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EVIDÊNCIAS FINAIS</a:t>
              </a:r>
              <a:endParaRPr lang="pt-BR" sz="1600" noProof="0" dirty="0"/>
            </a:p>
          </p:txBody>
        </p:sp>
      </p:grpSp>
      <p:sp>
        <p:nvSpPr>
          <p:cNvPr id="29" name="Text 27"/>
          <p:cNvSpPr txBox="1"/>
          <p:nvPr/>
        </p:nvSpPr>
        <p:spPr>
          <a:xfrm>
            <a:off x="450318" y="5004347"/>
            <a:ext cx="2987874" cy="776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serviços incompletos, correções necessárias ou outras pendências antes do encerramento.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3903721" y="5004347"/>
            <a:ext cx="2987874" cy="776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os registros que comprovem as condições encontradas no encerramento da execução.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2" name="Agrupar 51">
            <a:extLst>
              <a:ext uri="{FF2B5EF4-FFF2-40B4-BE49-F238E27FC236}">
                <a16:creationId xmlns:a16="http://schemas.microsoft.com/office/drawing/2014/main" id="{5C57DA0F-21D1-D956-FE0C-9581A70C3A34}"/>
              </a:ext>
            </a:extLst>
          </p:cNvPr>
          <p:cNvGrpSpPr/>
          <p:nvPr/>
        </p:nvGrpSpPr>
        <p:grpSpPr>
          <a:xfrm>
            <a:off x="450318" y="6372731"/>
            <a:ext cx="3143322" cy="440134"/>
            <a:chOff x="450318" y="6274479"/>
            <a:chExt cx="3143322" cy="440134"/>
          </a:xfrm>
        </p:grpSpPr>
        <p:sp>
          <p:nvSpPr>
            <p:cNvPr id="31" name="Shape 29"/>
            <p:cNvSpPr/>
            <p:nvPr/>
          </p:nvSpPr>
          <p:spPr>
            <a:xfrm>
              <a:off x="450318" y="6274479"/>
              <a:ext cx="3143322" cy="440134"/>
            </a:xfrm>
            <a:prstGeom prst="roundRect">
              <a:avLst>
                <a:gd name="adj" fmla="val 7271"/>
              </a:avLst>
            </a:prstGeom>
            <a:solidFill>
              <a:srgbClr val="E37222">
                <a:alpha val="10000"/>
              </a:srgbClr>
            </a:solidFill>
            <a:ln w="10160">
              <a:solidFill>
                <a:srgbClr val="E37222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450318" y="6274479"/>
              <a:ext cx="45720" cy="440134"/>
            </a:xfrm>
            <a:prstGeom prst="rect">
              <a:avLst/>
            </a:prstGeom>
            <a:solidFill>
              <a:srgbClr val="E37222"/>
            </a:solidFill>
            <a:ln w="12700">
              <a:solidFill>
                <a:srgbClr val="E37222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33" name="Text 31"/>
            <p:cNvSpPr txBox="1"/>
            <p:nvPr/>
          </p:nvSpPr>
          <p:spPr>
            <a:xfrm>
              <a:off x="528042" y="6306483"/>
              <a:ext cx="2987874" cy="3715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E37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COMUNICAÇÃO</a:t>
              </a:r>
              <a:endParaRPr lang="pt-BR" sz="1600" noProof="0" dirty="0"/>
            </a:p>
          </p:txBody>
        </p:sp>
      </p:grpSp>
      <p:grpSp>
        <p:nvGrpSpPr>
          <p:cNvPr id="53" name="Agrupar 52">
            <a:extLst>
              <a:ext uri="{FF2B5EF4-FFF2-40B4-BE49-F238E27FC236}">
                <a16:creationId xmlns:a16="http://schemas.microsoft.com/office/drawing/2014/main" id="{591FEE31-AC98-07E0-520C-09029E4749C4}"/>
              </a:ext>
            </a:extLst>
          </p:cNvPr>
          <p:cNvGrpSpPr/>
          <p:nvPr/>
        </p:nvGrpSpPr>
        <p:grpSpPr>
          <a:xfrm>
            <a:off x="3903721" y="6372731"/>
            <a:ext cx="3143322" cy="440134"/>
            <a:chOff x="3699181" y="6274479"/>
            <a:chExt cx="3143322" cy="440134"/>
          </a:xfrm>
        </p:grpSpPr>
        <p:sp>
          <p:nvSpPr>
            <p:cNvPr id="34" name="Shape 32"/>
            <p:cNvSpPr/>
            <p:nvPr/>
          </p:nvSpPr>
          <p:spPr>
            <a:xfrm>
              <a:off x="3699181" y="6274479"/>
              <a:ext cx="3143322" cy="440134"/>
            </a:xfrm>
            <a:prstGeom prst="roundRect">
              <a:avLst>
                <a:gd name="adj" fmla="val 7271"/>
              </a:avLst>
            </a:prstGeom>
            <a:solidFill>
              <a:srgbClr val="C0305E">
                <a:alpha val="10000"/>
              </a:srgbClr>
            </a:solidFill>
            <a:ln w="10160">
              <a:solidFill>
                <a:srgbClr val="C0305E">
                  <a:alpha val="2800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3699181" y="6274479"/>
              <a:ext cx="45720" cy="440134"/>
            </a:xfrm>
            <a:prstGeom prst="rect">
              <a:avLst/>
            </a:prstGeom>
            <a:solidFill>
              <a:srgbClr val="C0305E"/>
            </a:solidFill>
            <a:ln w="12700">
              <a:solidFill>
                <a:srgbClr val="C0305E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36" name="Text 34"/>
            <p:cNvSpPr txBox="1"/>
            <p:nvPr/>
          </p:nvSpPr>
          <p:spPr>
            <a:xfrm>
              <a:off x="3776905" y="6306483"/>
              <a:ext cx="2987874" cy="3715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600" b="1" noProof="0" dirty="0">
                  <a:solidFill>
                    <a:srgbClr val="C030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LIÇÕES APRENDIDAS</a:t>
              </a:r>
              <a:endParaRPr lang="pt-BR" sz="1600" noProof="0" dirty="0"/>
            </a:p>
          </p:txBody>
        </p:sp>
      </p:grpSp>
      <p:sp>
        <p:nvSpPr>
          <p:cNvPr id="37" name="Text 35"/>
          <p:cNvSpPr txBox="1"/>
          <p:nvPr/>
        </p:nvSpPr>
        <p:spPr>
          <a:xfrm>
            <a:off x="450318" y="6853337"/>
            <a:ext cx="2987874" cy="776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 ao Gestor de Contratos as pendências ou desvios identificados durante a desmobilização.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 38"/>
          <p:cNvSpPr txBox="1"/>
          <p:nvPr/>
        </p:nvSpPr>
        <p:spPr>
          <a:xfrm>
            <a:off x="3903721" y="6853337"/>
            <a:ext cx="2987874" cy="7768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situações relevantes que possam contribuir para melhorar futuras contratações ou execuções.</a:t>
            </a:r>
            <a:endParaRPr lang="pt-BR" sz="1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4" name="Text 42"/>
          <p:cNvSpPr txBox="1"/>
          <p:nvPr/>
        </p:nvSpPr>
        <p:spPr>
          <a:xfrm>
            <a:off x="492043" y="8687805"/>
            <a:ext cx="6555000" cy="895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1600" b="1" noProof="0" dirty="0">
                <a:solidFill>
                  <a:srgbClr val="026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Fiscal acompanha a desmobilização em campo. 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tratativas documentais, financeiras e de encerramento contratual são conduzidas pelo Gestor de Contratos com as demais interfaces aplicáveis.</a:t>
            </a: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5" name="Shape 43"/>
          <p:cNvSpPr/>
          <p:nvPr/>
        </p:nvSpPr>
        <p:spPr>
          <a:xfrm>
            <a:off x="320040" y="10232136"/>
            <a:ext cx="6922008" cy="1"/>
          </a:xfrm>
          <a:prstGeom prst="line">
            <a:avLst/>
          </a:prstGeom>
          <a:noFill/>
          <a:ln w="10160">
            <a:solidFill>
              <a:srgbClr val="D9E5E3"/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48" name="Text 46"/>
          <p:cNvSpPr txBox="1"/>
          <p:nvPr/>
        </p:nvSpPr>
        <p:spPr>
          <a:xfrm>
            <a:off x="6355080" y="1030528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pt-BR" sz="800" b="1" noProof="0" dirty="0">
                <a:solidFill>
                  <a:srgbClr val="667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pt-BR" sz="800" noProof="0" dirty="0"/>
          </a:p>
        </p:txBody>
      </p:sp>
      <p:sp>
        <p:nvSpPr>
          <p:cNvPr id="50" name="Text 26">
            <a:extLst>
              <a:ext uri="{FF2B5EF4-FFF2-40B4-BE49-F238E27FC236}">
                <a16:creationId xmlns:a16="http://schemas.microsoft.com/office/drawing/2014/main" id="{AA29018D-FD4D-1928-3F26-3706910FA731}"/>
              </a:ext>
            </a:extLst>
          </p:cNvPr>
          <p:cNvSpPr txBox="1"/>
          <p:nvPr/>
        </p:nvSpPr>
        <p:spPr>
          <a:xfrm>
            <a:off x="1481328" y="10373868"/>
            <a:ext cx="452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9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 de Serviços Operacionais e Segurança Empresarial| Vale S.A.</a:t>
            </a:r>
            <a:endParaRPr lang="pt-BR" sz="9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353312"/>
          </a:xfrm>
          <a:prstGeom prst="rect">
            <a:avLst/>
          </a:prstGeom>
          <a:solidFill>
            <a:srgbClr val="007E7A"/>
          </a:solidFill>
          <a:ln w="12700">
            <a:solidFill>
              <a:srgbClr val="007E7A">
                <a:alpha val="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 rot="900000">
            <a:off x="5961888" y="0"/>
            <a:ext cx="1600200" cy="1298448"/>
          </a:xfrm>
          <a:prstGeom prst="arc">
            <a:avLst/>
          </a:prstGeom>
          <a:solidFill>
            <a:srgbClr val="007E7A">
              <a:alpha val="0"/>
            </a:srgbClr>
          </a:solidFill>
          <a:ln w="228600">
            <a:solidFill>
              <a:srgbClr val="0ABB98">
                <a:alpha val="5500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 rot="1500000">
            <a:off x="6355080" y="0"/>
            <a:ext cx="1207008" cy="1207008"/>
          </a:xfrm>
          <a:prstGeom prst="arc">
            <a:avLst/>
          </a:prstGeom>
          <a:solidFill>
            <a:srgbClr val="007E7A">
              <a:alpha val="0"/>
            </a:srgbClr>
          </a:solidFill>
          <a:ln w="139700">
            <a:solidFill>
              <a:srgbClr val="3CB5E5">
                <a:alpha val="6200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420624" y="22860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100" b="1" noProof="0" dirty="0">
                <a:solidFill>
                  <a:srgbClr val="BC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RÁPIDA</a:t>
            </a:r>
            <a:endParaRPr lang="pt-BR" sz="1100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420624" y="502920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2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faço quando...?</a:t>
            </a:r>
            <a:endParaRPr lang="pt-BR" sz="2500" noProof="0" dirty="0"/>
          </a:p>
        </p:txBody>
      </p:sp>
      <p:sp>
        <p:nvSpPr>
          <p:cNvPr id="7" name="Shape 5"/>
          <p:cNvSpPr/>
          <p:nvPr/>
        </p:nvSpPr>
        <p:spPr>
          <a:xfrm>
            <a:off x="6793992" y="475488"/>
            <a:ext cx="438912" cy="438912"/>
          </a:xfrm>
          <a:prstGeom prst="ellipse">
            <a:avLst/>
          </a:prstGeom>
          <a:solidFill>
            <a:srgbClr val="FFFFFF">
              <a:alpha val="18000"/>
            </a:srgbClr>
          </a:solidFill>
          <a:ln w="15240">
            <a:solidFill>
              <a:srgbClr val="FFFFFF">
                <a:alpha val="7500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6793992" y="4754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pt-BR" sz="1200" noProof="0" dirty="0"/>
          </a:p>
        </p:txBody>
      </p:sp>
      <p:sp>
        <p:nvSpPr>
          <p:cNvPr id="9" name="Shape 7"/>
          <p:cNvSpPr/>
          <p:nvPr/>
        </p:nvSpPr>
        <p:spPr>
          <a:xfrm>
            <a:off x="0" y="1353312"/>
            <a:ext cx="7562088" cy="8805672"/>
          </a:xfrm>
          <a:prstGeom prst="rect">
            <a:avLst/>
          </a:prstGeom>
          <a:solidFill>
            <a:srgbClr val="F7FAF9"/>
          </a:solidFill>
          <a:ln w="12700">
            <a:solidFill>
              <a:srgbClr val="F7FAF9">
                <a:alpha val="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274320" y="1581912"/>
            <a:ext cx="3456432" cy="8193024"/>
          </a:xfrm>
          <a:prstGeom prst="roundRect">
            <a:avLst>
              <a:gd name="adj" fmla="val 1323"/>
            </a:avLst>
          </a:prstGeom>
          <a:solidFill>
            <a:srgbClr val="FFFFFF"/>
          </a:solidFill>
          <a:ln w="8890">
            <a:solidFill>
              <a:srgbClr val="E4EFED"/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11" name="Shape 9"/>
          <p:cNvSpPr/>
          <p:nvPr/>
        </p:nvSpPr>
        <p:spPr>
          <a:xfrm>
            <a:off x="3822192" y="1581912"/>
            <a:ext cx="3456432" cy="8193024"/>
          </a:xfrm>
          <a:prstGeom prst="roundRect">
            <a:avLst>
              <a:gd name="adj" fmla="val 1323"/>
            </a:avLst>
          </a:prstGeom>
          <a:solidFill>
            <a:srgbClr val="F1F8F7"/>
          </a:solidFill>
          <a:ln w="8890">
            <a:solidFill>
              <a:srgbClr val="E4EFED"/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12" name="Shape 10"/>
          <p:cNvSpPr/>
          <p:nvPr/>
        </p:nvSpPr>
        <p:spPr>
          <a:xfrm>
            <a:off x="6080760" y="8183880"/>
            <a:ext cx="1783080" cy="1783080"/>
          </a:xfrm>
          <a:prstGeom prst="ellipse">
            <a:avLst/>
          </a:prstGeom>
          <a:solidFill>
            <a:srgbClr val="FFFFFF">
              <a:alpha val="0"/>
            </a:srgbClr>
          </a:solidFill>
          <a:ln w="63500">
            <a:solidFill>
              <a:srgbClr val="0ABB98">
                <a:alpha val="2200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6281928" y="836676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3900" b="1" noProof="0" dirty="0">
                <a:solidFill>
                  <a:srgbClr val="DC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pt-BR" sz="3900" noProof="0" dirty="0"/>
          </a:p>
        </p:txBody>
      </p:sp>
      <p:sp>
        <p:nvSpPr>
          <p:cNvPr id="14" name="Text 12"/>
          <p:cNvSpPr txBox="1"/>
          <p:nvPr/>
        </p:nvSpPr>
        <p:spPr>
          <a:xfrm>
            <a:off x="510043" y="1746504"/>
            <a:ext cx="2924877" cy="391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pt-BR" sz="1400" b="1" noProof="0" dirty="0">
                <a:solidFill>
                  <a:srgbClr val="026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serviço foi informado, mas não possui evidência?</a:t>
            </a:r>
            <a:endParaRPr lang="pt-BR" sz="1400" b="1" noProof="0" dirty="0">
              <a:solidFill>
                <a:srgbClr val="026766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3893114" y="1746503"/>
            <a:ext cx="3330646" cy="496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pt-BR" sz="1400" b="1" noProof="0" dirty="0">
                <a:solidFill>
                  <a:srgbClr val="026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quantidade informada não corresponde ao observado em campo?</a:t>
            </a:r>
            <a:endParaRPr lang="pt-BR" sz="1400" b="1" noProof="0" dirty="0">
              <a:solidFill>
                <a:srgbClr val="026766"/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510043" y="2296991"/>
            <a:ext cx="2906878" cy="571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pt-BR" sz="1400" noProof="0" dirty="0">
                <a:solidFill>
                  <a:srgbClr val="303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valide. Solicite a comprovação necessária antes da aprovação técnica.</a:t>
            </a:r>
            <a:endParaRPr lang="pt-BR" sz="1400" noProof="0" dirty="0"/>
          </a:p>
        </p:txBody>
      </p:sp>
      <p:sp>
        <p:nvSpPr>
          <p:cNvPr id="17" name="Text 15"/>
          <p:cNvSpPr txBox="1"/>
          <p:nvPr/>
        </p:nvSpPr>
        <p:spPr>
          <a:xfrm>
            <a:off x="3893114" y="2296991"/>
            <a:ext cx="3330644" cy="571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pt-BR" sz="1400" noProof="0" dirty="0">
                <a:solidFill>
                  <a:srgbClr val="303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Interrompa a validação, registre a divergência e solicite a correção.</a:t>
            </a:r>
            <a:endParaRPr lang="pt-BR" sz="1400" noProof="0" dirty="0"/>
          </a:p>
        </p:txBody>
      </p:sp>
      <p:sp>
        <p:nvSpPr>
          <p:cNvPr id="18" name="Text 16"/>
          <p:cNvSpPr txBox="1"/>
          <p:nvPr/>
        </p:nvSpPr>
        <p:spPr>
          <a:xfrm>
            <a:off x="510043" y="3170403"/>
            <a:ext cx="2924877" cy="391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pt-BR" sz="1400" b="1" noProof="0" dirty="0">
                <a:solidFill>
                  <a:srgbClr val="026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contratada solicita executar uma atividade fora do escopo do contrato?</a:t>
            </a:r>
            <a:endParaRPr lang="pt-BR" sz="1400" b="1" noProof="0" dirty="0">
              <a:solidFill>
                <a:srgbClr val="026766"/>
              </a:solidFill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3893114" y="3170403"/>
            <a:ext cx="3330646" cy="391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pt-BR" sz="1400" b="1" noProof="0" dirty="0">
                <a:solidFill>
                  <a:srgbClr val="026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SLA não foi atendido?</a:t>
            </a:r>
            <a:endParaRPr lang="pt-BR" sz="1400" b="1" noProof="0" dirty="0">
              <a:solidFill>
                <a:srgbClr val="026766"/>
              </a:solidFill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510043" y="3704848"/>
            <a:ext cx="2906878" cy="571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pt-BR" sz="1400" noProof="0" dirty="0">
                <a:solidFill>
                  <a:srgbClr val="303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autorize. Registre a necessidade e acione o Gestor de Contrato.</a:t>
            </a:r>
            <a:endParaRPr lang="pt-BR" sz="1400" noProof="0" dirty="0"/>
          </a:p>
        </p:txBody>
      </p:sp>
      <p:sp>
        <p:nvSpPr>
          <p:cNvPr id="21" name="Text 19"/>
          <p:cNvSpPr txBox="1"/>
          <p:nvPr/>
        </p:nvSpPr>
        <p:spPr>
          <a:xfrm>
            <a:off x="3893113" y="3704848"/>
            <a:ext cx="3330645" cy="571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pt-BR" sz="1400" noProof="0" dirty="0">
                <a:solidFill>
                  <a:srgbClr val="303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a ocorrência e as evidências. Informe o Gestor de Contratos para tratativa.</a:t>
            </a:r>
            <a:endParaRPr lang="pt-BR" sz="1400" noProof="0" dirty="0"/>
          </a:p>
        </p:txBody>
      </p:sp>
      <p:sp>
        <p:nvSpPr>
          <p:cNvPr id="22" name="Text 20"/>
          <p:cNvSpPr txBox="1"/>
          <p:nvPr/>
        </p:nvSpPr>
        <p:spPr>
          <a:xfrm>
            <a:off x="510043" y="4738680"/>
            <a:ext cx="2924877" cy="391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pt-BR" sz="1400" b="1" noProof="0" dirty="0">
                <a:solidFill>
                  <a:srgbClr val="026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 identificada uma condição insegura ou um desvio crítico?</a:t>
            </a:r>
            <a:endParaRPr lang="pt-BR" sz="1400" b="1" noProof="0" dirty="0">
              <a:solidFill>
                <a:srgbClr val="026766"/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3893114" y="4738680"/>
            <a:ext cx="3330644" cy="391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pt-BR" sz="1400" b="1" noProof="0" dirty="0">
                <a:solidFill>
                  <a:srgbClr val="026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desvio está acontecendo novamente?</a:t>
            </a:r>
            <a:endParaRPr lang="pt-BR" sz="1400" b="1" noProof="0" dirty="0">
              <a:solidFill>
                <a:srgbClr val="026766"/>
              </a:solidFill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510043" y="5257083"/>
            <a:ext cx="2906878" cy="571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pt-BR" sz="1400" noProof="0" dirty="0">
                <a:solidFill>
                  <a:srgbClr val="303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Adote o fluxo aplicável à situação e comunique imediatamente as interfaces responsáveis.</a:t>
            </a:r>
            <a:endParaRPr lang="pt-BR" sz="1400" noProof="0" dirty="0"/>
          </a:p>
        </p:txBody>
      </p:sp>
      <p:sp>
        <p:nvSpPr>
          <p:cNvPr id="25" name="Text 23"/>
          <p:cNvSpPr txBox="1"/>
          <p:nvPr/>
        </p:nvSpPr>
        <p:spPr>
          <a:xfrm>
            <a:off x="3893113" y="5257083"/>
            <a:ext cx="3330643" cy="571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pt-BR" sz="1400" noProof="0" dirty="0">
                <a:solidFill>
                  <a:srgbClr val="303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Consolide o histórico, registre a reincidência e reporte para tratativa.</a:t>
            </a:r>
            <a:endParaRPr lang="pt-BR" sz="1400" noProof="0" dirty="0"/>
          </a:p>
        </p:txBody>
      </p:sp>
      <p:sp>
        <p:nvSpPr>
          <p:cNvPr id="26" name="Text 24"/>
          <p:cNvSpPr txBox="1"/>
          <p:nvPr/>
        </p:nvSpPr>
        <p:spPr>
          <a:xfrm>
            <a:off x="510043" y="6258831"/>
            <a:ext cx="2924877" cy="391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pt-BR" sz="1400" b="1" noProof="0" dirty="0">
                <a:solidFill>
                  <a:srgbClr val="026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contratada apresentou um pleito ou questão comercial?</a:t>
            </a:r>
            <a:endParaRPr lang="pt-BR" sz="1400" b="1" noProof="0" dirty="0">
              <a:solidFill>
                <a:srgbClr val="026766"/>
              </a:solidFill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3893114" y="6258831"/>
            <a:ext cx="3330642" cy="391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pt-BR" sz="1400" b="1" noProof="0" dirty="0">
                <a:solidFill>
                  <a:srgbClr val="026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Tenho dúvida sobre quem é responsável por determinada atividade?</a:t>
            </a:r>
            <a:endParaRPr lang="pt-BR" sz="1400" b="1" noProof="0" dirty="0">
              <a:solidFill>
                <a:srgbClr val="026766"/>
              </a:solidFill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510043" y="6729108"/>
            <a:ext cx="2906878" cy="571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pt-BR" sz="1400" noProof="0" dirty="0">
                <a:solidFill>
                  <a:srgbClr val="303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negocie diretamente. Encaminhe ao Gestor de Contratos com os subsídios técnicos necessários.</a:t>
            </a:r>
            <a:endParaRPr lang="pt-BR" sz="1400" noProof="0" dirty="0"/>
          </a:p>
        </p:txBody>
      </p:sp>
      <p:sp>
        <p:nvSpPr>
          <p:cNvPr id="29" name="Text 27"/>
          <p:cNvSpPr txBox="1"/>
          <p:nvPr/>
        </p:nvSpPr>
        <p:spPr>
          <a:xfrm>
            <a:off x="3893113" y="6729108"/>
            <a:ext cx="3330641" cy="571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pt-BR" sz="1400" noProof="0" dirty="0">
                <a:solidFill>
                  <a:srgbClr val="303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 a Matriz RASCI antes de executar ou direcionar a atividade.</a:t>
            </a:r>
            <a:endParaRPr lang="pt-BR" sz="1400" noProof="0" dirty="0"/>
          </a:p>
        </p:txBody>
      </p:sp>
      <p:grpSp>
        <p:nvGrpSpPr>
          <p:cNvPr id="44" name="Agrupar 43">
            <a:extLst>
              <a:ext uri="{FF2B5EF4-FFF2-40B4-BE49-F238E27FC236}">
                <a16:creationId xmlns:a16="http://schemas.microsoft.com/office/drawing/2014/main" id="{52C78D06-5034-0D82-6BEA-351FB8B0441C}"/>
              </a:ext>
            </a:extLst>
          </p:cNvPr>
          <p:cNvGrpSpPr/>
          <p:nvPr/>
        </p:nvGrpSpPr>
        <p:grpSpPr>
          <a:xfrm>
            <a:off x="382604" y="8163881"/>
            <a:ext cx="1510780" cy="431488"/>
            <a:chOff x="382604" y="8163881"/>
            <a:chExt cx="1510780" cy="431488"/>
          </a:xfrm>
        </p:grpSpPr>
        <p:sp>
          <p:nvSpPr>
            <p:cNvPr id="30" name="Shape 28"/>
            <p:cNvSpPr/>
            <p:nvPr/>
          </p:nvSpPr>
          <p:spPr>
            <a:xfrm>
              <a:off x="382604" y="8163881"/>
              <a:ext cx="1510780" cy="431488"/>
            </a:xfrm>
            <a:prstGeom prst="roundRect">
              <a:avLst>
                <a:gd name="adj" fmla="val 8477"/>
              </a:avLst>
            </a:prstGeom>
            <a:solidFill>
              <a:srgbClr val="FFF2E8"/>
            </a:solidFill>
            <a:ln w="12700">
              <a:solidFill>
                <a:srgbClr val="E37222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382604" y="8163881"/>
              <a:ext cx="50292" cy="431488"/>
            </a:xfrm>
            <a:prstGeom prst="rect">
              <a:avLst/>
            </a:prstGeom>
            <a:solidFill>
              <a:srgbClr val="E37222"/>
            </a:solidFill>
            <a:ln w="12700">
              <a:solidFill>
                <a:srgbClr val="E37222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32" name="Text 30"/>
            <p:cNvSpPr txBox="1"/>
            <p:nvPr/>
          </p:nvSpPr>
          <p:spPr>
            <a:xfrm>
              <a:off x="474044" y="8214173"/>
              <a:ext cx="1327564" cy="3309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160" b="1" noProof="0" dirty="0">
                  <a:solidFill>
                    <a:srgbClr val="E37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MATERIAL DE APOIO</a:t>
              </a:r>
              <a:endParaRPr lang="pt-BR" sz="1160" noProof="0" dirty="0"/>
            </a:p>
          </p:txBody>
        </p:sp>
      </p:grpSp>
      <p:grpSp>
        <p:nvGrpSpPr>
          <p:cNvPr id="45" name="Agrupar 44">
            <a:extLst>
              <a:ext uri="{FF2B5EF4-FFF2-40B4-BE49-F238E27FC236}">
                <a16:creationId xmlns:a16="http://schemas.microsoft.com/office/drawing/2014/main" id="{CF23BEAD-9642-1476-0F88-378D1EBCBC7D}"/>
              </a:ext>
            </a:extLst>
          </p:cNvPr>
          <p:cNvGrpSpPr/>
          <p:nvPr/>
        </p:nvGrpSpPr>
        <p:grpSpPr>
          <a:xfrm>
            <a:off x="3932589" y="8178922"/>
            <a:ext cx="1783080" cy="431488"/>
            <a:chOff x="3694464" y="8178922"/>
            <a:chExt cx="1783080" cy="431488"/>
          </a:xfrm>
        </p:grpSpPr>
        <p:sp>
          <p:nvSpPr>
            <p:cNvPr id="33" name="Shape 31"/>
            <p:cNvSpPr/>
            <p:nvPr/>
          </p:nvSpPr>
          <p:spPr>
            <a:xfrm>
              <a:off x="3694464" y="8178922"/>
              <a:ext cx="1783080" cy="431488"/>
            </a:xfrm>
            <a:prstGeom prst="roundRect">
              <a:avLst>
                <a:gd name="adj" fmla="val 8477"/>
              </a:avLst>
            </a:prstGeom>
            <a:solidFill>
              <a:srgbClr val="FFF2E8"/>
            </a:solidFill>
            <a:ln w="12700">
              <a:solidFill>
                <a:srgbClr val="E37222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3694464" y="8178922"/>
              <a:ext cx="50292" cy="431488"/>
            </a:xfrm>
            <a:prstGeom prst="rect">
              <a:avLst/>
            </a:prstGeom>
            <a:solidFill>
              <a:srgbClr val="E37222"/>
            </a:solidFill>
            <a:ln w="12700">
              <a:solidFill>
                <a:srgbClr val="E37222">
                  <a:alpha val="0"/>
                </a:srgbClr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pt-BR" noProof="0" dirty="0"/>
            </a:p>
          </p:txBody>
        </p:sp>
        <p:sp>
          <p:nvSpPr>
            <p:cNvPr id="35" name="Text 33"/>
            <p:cNvSpPr txBox="1"/>
            <p:nvPr/>
          </p:nvSpPr>
          <p:spPr>
            <a:xfrm>
              <a:off x="3785904" y="8229214"/>
              <a:ext cx="1487825" cy="3309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pt-BR" sz="1160" b="1" noProof="0" dirty="0">
                  <a:solidFill>
                    <a:srgbClr val="E37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CONSULTA NORMATIVA</a:t>
              </a:r>
              <a:endParaRPr lang="pt-BR" sz="1160" noProof="0" dirty="0"/>
            </a:p>
          </p:txBody>
        </p:sp>
      </p:grpSp>
      <p:sp>
        <p:nvSpPr>
          <p:cNvPr id="37" name="Text 35"/>
          <p:cNvSpPr txBox="1"/>
          <p:nvPr/>
        </p:nvSpPr>
        <p:spPr>
          <a:xfrm>
            <a:off x="4024029" y="8650364"/>
            <a:ext cx="3437856" cy="5264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171450" indent="-171450" algn="l">
              <a:lnSpc>
                <a:spcPct val="100000"/>
              </a:lnSpc>
              <a:buClr>
                <a:srgbClr val="026766"/>
              </a:buClr>
              <a:buFont typeface="Symbol" panose="05050102010706020507" pitchFamily="18" charset="2"/>
              <a:buChar char="®"/>
            </a:pPr>
            <a:r>
              <a:rPr lang="pt-BR" sz="1150" noProof="0" dirty="0">
                <a:solidFill>
                  <a:srgbClr val="303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PNR-000043 — Gestão de Contratos</a:t>
            </a:r>
            <a:endParaRPr lang="pt-BR" sz="1150" noProof="0" dirty="0"/>
          </a:p>
          <a:p>
            <a:pPr marL="171450" indent="-171450" algn="l">
              <a:lnSpc>
                <a:spcPct val="100000"/>
              </a:lnSpc>
              <a:buClr>
                <a:srgbClr val="026766"/>
              </a:buClr>
              <a:buFont typeface="Symbol" panose="05050102010706020507" pitchFamily="18" charset="2"/>
              <a:buChar char="®"/>
            </a:pPr>
            <a:r>
              <a:rPr lang="pt-BR" sz="1150" noProof="0" dirty="0">
                <a:solidFill>
                  <a:srgbClr val="303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Normativos de SSMA aplicáveis</a:t>
            </a:r>
            <a:endParaRPr lang="pt-BR" sz="1150" noProof="0" dirty="0"/>
          </a:p>
        </p:txBody>
      </p:sp>
      <p:sp>
        <p:nvSpPr>
          <p:cNvPr id="38" name="Text 36"/>
          <p:cNvSpPr txBox="1"/>
          <p:nvPr/>
        </p:nvSpPr>
        <p:spPr>
          <a:xfrm>
            <a:off x="4120466" y="9254527"/>
            <a:ext cx="3293573" cy="376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100" i="1" noProof="0" dirty="0">
                <a:solidFill>
                  <a:srgbClr val="303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Acesse sempre a versão vigente no SISPAV.</a:t>
            </a:r>
            <a:endParaRPr lang="pt-BR" sz="1100" i="1" noProof="0" dirty="0"/>
          </a:p>
        </p:txBody>
      </p:sp>
      <p:sp>
        <p:nvSpPr>
          <p:cNvPr id="39" name="Text 37"/>
          <p:cNvSpPr txBox="1"/>
          <p:nvPr/>
        </p:nvSpPr>
        <p:spPr>
          <a:xfrm>
            <a:off x="386936" y="9149752"/>
            <a:ext cx="3153092" cy="601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pt-BR" sz="1100" i="1" noProof="0" dirty="0">
                <a:solidFill>
                  <a:srgbClr val="303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 o arquivo complementar anexo e a matriz RACI da PNR-000043 sempre que houver dúvida sobre responsabilidade, aprovação, suporte ou interface.</a:t>
            </a:r>
            <a:endParaRPr lang="pt-BR" sz="1100" i="1" noProof="0" dirty="0"/>
          </a:p>
        </p:txBody>
      </p:sp>
      <p:sp>
        <p:nvSpPr>
          <p:cNvPr id="43" name="Shape 41"/>
          <p:cNvSpPr/>
          <p:nvPr/>
        </p:nvSpPr>
        <p:spPr>
          <a:xfrm>
            <a:off x="320040" y="10232136"/>
            <a:ext cx="6922008" cy="1"/>
          </a:xfrm>
          <a:prstGeom prst="line">
            <a:avLst/>
          </a:prstGeom>
          <a:noFill/>
          <a:ln w="10160">
            <a:solidFill>
              <a:srgbClr val="D9E5E3"/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46" name="Text 44"/>
          <p:cNvSpPr txBox="1"/>
          <p:nvPr/>
        </p:nvSpPr>
        <p:spPr>
          <a:xfrm>
            <a:off x="6355080" y="1030528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pt-BR" sz="800" b="1" noProof="0" dirty="0">
                <a:solidFill>
                  <a:srgbClr val="667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pt-BR" sz="800" noProof="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DE0FD8F7-1572-4AC8-7B3F-3D7DE89B58C1}"/>
              </a:ext>
            </a:extLst>
          </p:cNvPr>
          <p:cNvSpPr txBox="1"/>
          <p:nvPr/>
        </p:nvSpPr>
        <p:spPr>
          <a:xfrm>
            <a:off x="1481328" y="10373868"/>
            <a:ext cx="452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9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 de Serviços Operacionais e Segurança Empresarial| Vale S.A.</a:t>
            </a:r>
            <a:endParaRPr lang="pt-BR" sz="9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closing.jpeg"/>
          <p:cNvPicPr>
            <a:picLocks noChangeAspect="1"/>
          </p:cNvPicPr>
          <p:nvPr/>
        </p:nvPicPr>
        <p:blipFill>
          <a:blip r:embed="rId3"/>
          <a:srcRect t="2882" b="2882"/>
          <a:stretch/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007E7A">
              <a:alpha val="58000"/>
            </a:srgbClr>
          </a:solidFill>
          <a:ln w="12700">
            <a:solidFill>
              <a:srgbClr val="007E7A">
                <a:alpha val="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4" name="Shape 1"/>
          <p:cNvSpPr/>
          <p:nvPr/>
        </p:nvSpPr>
        <p:spPr>
          <a:xfrm>
            <a:off x="502920" y="960120"/>
            <a:ext cx="6556248" cy="8092440"/>
          </a:xfrm>
          <a:prstGeom prst="roundRect">
            <a:avLst>
              <a:gd name="adj" fmla="val 1116"/>
            </a:avLst>
          </a:prstGeom>
          <a:solidFill>
            <a:srgbClr val="FFFFFF">
              <a:alpha val="86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5" name="Text 2"/>
          <p:cNvSpPr txBox="1"/>
          <p:nvPr/>
        </p:nvSpPr>
        <p:spPr>
          <a:xfrm>
            <a:off x="841248" y="141732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25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Norte a Sul,</a:t>
            </a:r>
            <a:endParaRPr lang="pt-BR" sz="25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pt-BR" sz="25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propósito em comum:</a:t>
            </a:r>
            <a:endParaRPr lang="pt-BR" sz="25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pt-BR" sz="2500" b="1" i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juntos.</a:t>
            </a:r>
            <a:endParaRPr lang="pt-BR" sz="2500" i="1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502920" y="6144768"/>
            <a:ext cx="655624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14000"/>
              </a:lnSpc>
              <a:buNone/>
            </a:pPr>
            <a:r>
              <a:rPr lang="pt-BR" sz="2800" b="1" noProof="0" dirty="0">
                <a:solidFill>
                  <a:srgbClr val="0267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Fiscalizar é transformar</a:t>
            </a:r>
            <a:endParaRPr lang="pt-BR" sz="2800" b="1" noProof="0" dirty="0">
              <a:solidFill>
                <a:srgbClr val="0267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lnSpc>
                <a:spcPct val="114000"/>
              </a:lnSpc>
              <a:buNone/>
            </a:pPr>
            <a:r>
              <a:rPr lang="pt-BR" sz="2800" b="1" noProof="0" dirty="0">
                <a:solidFill>
                  <a:srgbClr val="0267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em evidência,</a:t>
            </a:r>
            <a:endParaRPr lang="pt-BR" sz="2800" b="1" noProof="0" dirty="0">
              <a:solidFill>
                <a:srgbClr val="0267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lnSpc>
                <a:spcPct val="114000"/>
              </a:lnSpc>
              <a:buNone/>
            </a:pPr>
            <a:r>
              <a:rPr lang="pt-BR" sz="2800" b="1" noProof="0" dirty="0">
                <a:solidFill>
                  <a:srgbClr val="0267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risco em ação e contrato em resultado.</a:t>
            </a:r>
            <a:endParaRPr lang="pt-BR" sz="2800" b="1" noProof="0" dirty="0">
              <a:solidFill>
                <a:srgbClr val="0267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502920" y="8684473"/>
            <a:ext cx="6556248" cy="3713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12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Operacional da Fiscalização de Contratos</a:t>
            </a:r>
            <a:endParaRPr lang="pt-BR" sz="1200" b="1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320040" y="10232136"/>
            <a:ext cx="6922008" cy="1"/>
          </a:xfrm>
          <a:prstGeom prst="line">
            <a:avLst/>
          </a:prstGeom>
          <a:noFill/>
          <a:ln w="10160">
            <a:solidFill>
              <a:srgbClr val="D9E5E3"/>
            </a:solidFill>
            <a:prstDash val="solid"/>
          </a:ln>
        </p:spPr>
        <p:txBody>
          <a:bodyPr>
            <a:noAutofit/>
          </a:bodyPr>
          <a:lstStyle/>
          <a:p>
            <a:endParaRPr lang="pt-BR" noProof="0" dirty="0"/>
          </a:p>
        </p:txBody>
      </p:sp>
      <p:sp>
        <p:nvSpPr>
          <p:cNvPr id="13" name="Text 10"/>
          <p:cNvSpPr txBox="1"/>
          <p:nvPr/>
        </p:nvSpPr>
        <p:spPr>
          <a:xfrm>
            <a:off x="6355080" y="1030528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pt-BR" sz="800" b="1" noProof="0" dirty="0">
                <a:solidFill>
                  <a:srgbClr val="667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pt-BR" sz="800" noProof="0" dirty="0"/>
          </a:p>
        </p:txBody>
      </p:sp>
      <p:sp>
        <p:nvSpPr>
          <p:cNvPr id="15" name="Text 26">
            <a:extLst>
              <a:ext uri="{FF2B5EF4-FFF2-40B4-BE49-F238E27FC236}">
                <a16:creationId xmlns:a16="http://schemas.microsoft.com/office/drawing/2014/main" id="{F0275EE0-58B0-B621-0CFB-FB1D4FADA64A}"/>
              </a:ext>
            </a:extLst>
          </p:cNvPr>
          <p:cNvSpPr txBox="1"/>
          <p:nvPr/>
        </p:nvSpPr>
        <p:spPr>
          <a:xfrm>
            <a:off x="1481328" y="10373868"/>
            <a:ext cx="452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1100" noProof="0" dirty="0">
                <a:solidFill>
                  <a:srgbClr val="DB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 de Serviços Operacionais e Segurança Empresarial| Vale S.A.</a:t>
            </a:r>
            <a:endParaRPr lang="pt-BR" sz="1100" noProof="0" dirty="0">
              <a:solidFill>
                <a:srgbClr val="DBE9E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40ed6a7-0f03-43d9-901d-02d4a7e408aa}" enabled="1" method="Standard" siteId="{7893571b-6c2c-4cef-b4da-7d4b266a062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1067</TotalTime>
  <Words>2833</Words>
  <Application>Microsoft Office PowerPoint</Application>
  <PresentationFormat>Personalizar</PresentationFormat>
  <Paragraphs>383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Arial</vt:lpstr>
      <vt:lpstr>Calibri</vt:lpstr>
      <vt:lpstr>Symbol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Vale S.A.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Guia Operacional da Fiscalização de Contratos - Redesign</dc:title>
  <dc:subject>Guia Operacional da Fiscalização de Contratos</dc:subject>
  <dc:creator>Sara Oliveira</dc:creator>
  <cp:lastModifiedBy>Sara Oliveira</cp:lastModifiedBy>
  <cp:revision>7</cp:revision>
  <dcterms:created xsi:type="dcterms:W3CDTF">2026-09-08T23:26:00Z</dcterms:created>
  <dcterms:modified xsi:type="dcterms:W3CDTF">2026-09-18T11:30:59Z</dcterms:modified>
</cp:coreProperties>
</file>